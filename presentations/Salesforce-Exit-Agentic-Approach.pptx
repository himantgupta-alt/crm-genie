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76" r:id="rId4"/>
  </p:sldMasterIdLst>
  <p:notesMasterIdLst>
    <p:notesMasterId r:id="rId11"/>
  </p:notesMasterIdLst>
  <p:sldIdLst>
    <p:sldId id="375" r:id="rId5"/>
    <p:sldId id="376" r:id="rId6"/>
    <p:sldId id="378" r:id="rId7"/>
    <p:sldId id="379" r:id="rId8"/>
    <p:sldId id="377" r:id="rId9"/>
    <p:sldId id="38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FA4DDEA-605F-4085-B70F-8F85EF296275}">
          <p14:sldIdLst/>
        </p14:section>
        <p14:section name="Lead Slides" id="{624A5424-C3EB-4AB9-9A33-BE7692E031C3}">
          <p14:sldIdLst>
            <p14:sldId id="375"/>
            <p14:sldId id="376"/>
            <p14:sldId id="378"/>
            <p14:sldId id="379"/>
            <p14:sldId id="377"/>
            <p14:sldId id="38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B23DD"/>
    <a:srgbClr val="6363DB"/>
    <a:srgbClr val="009772"/>
    <a:srgbClr val="D7D6FF"/>
    <a:srgbClr val="00DEA9"/>
    <a:srgbClr val="FFC400"/>
    <a:srgbClr val="FFE23F"/>
    <a:srgbClr val="FFFFFF"/>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5126"/>
  </p:normalViewPr>
  <p:slideViewPr>
    <p:cSldViewPr snapToGrid="0">
      <p:cViewPr varScale="1">
        <p:scale>
          <a:sx n="71" d="100"/>
          <a:sy n="71" d="100"/>
        </p:scale>
        <p:origin x="112" y="6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F8BA3-1303-4404-AAC4-79B48D738D66}" type="datetimeFigureOut">
              <a:rPr lang="en-IN" smtClean="0"/>
              <a:t>08-10-2026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C67C5F-8191-435C-AECF-CA9A7004A870}" type="slidenum">
              <a:rPr lang="en-IN" smtClean="0"/>
              <a:t>‹#›</a:t>
            </a:fld>
            <a:endParaRPr lang="en-IN"/>
          </a:p>
        </p:txBody>
      </p:sp>
    </p:spTree>
    <p:extLst>
      <p:ext uri="{BB962C8B-B14F-4D97-AF65-F5344CB8AC3E}">
        <p14:creationId xmlns:p14="http://schemas.microsoft.com/office/powerpoint/2010/main" val="26634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Where the client ends up. Every Salesforce module becomes a domain on one Azure platform, so interdependent modules, security and future modules are handled by design, not per project. Subscription Management is the first domain, live in the demo.</a:t>
            </a:r>
          </a:p>
        </p:txBody>
      </p:sp>
      <p:sp>
        <p:nvSpPr>
          <p:cNvPr id="4" name="Slide Number Placeholder 3"/>
          <p:cNvSpPr>
            <a:spLocks noGrp="1"/>
          </p:cNvSpPr>
          <p:nvPr>
            <p:ph type="sldNum" sz="quarter" idx="5"/>
          </p:nvPr>
        </p:nvSpPr>
        <p:spPr/>
        <p:txBody>
          <a:bodyPr/>
          <a:lstStyle/>
          <a:p>
            <a:fld id="{67C67C5F-8191-435C-AECF-CA9A7004A870}" type="slidenum">
              <a:rPr lang="en-IN" smtClean="0"/>
              <a:t>6</a:t>
            </a:fld>
            <a:endParaRPr lang="en-IN"/>
          </a:p>
        </p:txBody>
      </p:sp>
    </p:spTree>
    <p:extLst>
      <p:ext uri="{BB962C8B-B14F-4D97-AF65-F5344CB8AC3E}">
        <p14:creationId xmlns:p14="http://schemas.microsoft.com/office/powerpoint/2010/main" val="3296218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1.xml"/><Relationship Id="rId4" Type="http://schemas.openxmlformats.org/officeDocument/2006/relationships/hyperlink" Target="https://www.youtube.com/@ascendioninc"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b="0" i="0">
                <a:latin typeface="Verdana" panose="020B0604030504040204" pitchFamily="34" charset="0"/>
                <a:ea typeface="Verdana" panose="020B0604030504040204" pitchFamily="34" charset="0"/>
                <a:cs typeface="Verdana" panose="020B0604030504040204" pitchFamily="34" charset="0"/>
              </a:defRPr>
            </a:lvl1pPr>
          </a:lstStyle>
          <a:p>
            <a:r>
              <a:rPr lang="en-GB"/>
              <a:t>Click icon to add picture</a:t>
            </a:r>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1603637"/>
            <a:ext cx="7011136"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8" y="3827168"/>
            <a:ext cx="3230873" cy="379141"/>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3827168"/>
            <a:ext cx="3230873" cy="379141"/>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1613446"/>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3827169"/>
            <a:ext cx="2990231" cy="369332"/>
          </a:xfrm>
          <a:prstGeom prst="rect">
            <a:avLst/>
          </a:prstGeom>
          <a:noFill/>
        </p:spPr>
        <p:txBody>
          <a:bodyPr wrap="square" lIns="0" tIns="0" rIns="0" bIns="0" anchor="ctr">
            <a:normAutofit/>
          </a:bodyPr>
          <a:lstStyle/>
          <a:p>
            <a:pPr algn="l"/>
            <a:r>
              <a:rPr lang="en-US" sz="1600">
                <a:solidFill>
                  <a:schemeClr val="tx1"/>
                </a:solidFill>
                <a:latin typeface="Verdana" panose="020B0604030504040204" pitchFamily="34" charset="0"/>
                <a:ea typeface="Verdana" panose="020B0604030504040204" pitchFamily="34" charset="0"/>
                <a:cs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3836977"/>
            <a:ext cx="2990231" cy="369332"/>
          </a:xfrm>
          <a:prstGeom prst="rect">
            <a:avLst/>
          </a:prstGeom>
          <a:noFill/>
        </p:spPr>
        <p:txBody>
          <a:bodyPr wrap="square" lIns="0" tIns="0" rIns="0" bIns="0" anchor="ctr">
            <a:normAutofit/>
          </a:bodyPr>
          <a:lstStyle/>
          <a:p>
            <a:pPr algn="l"/>
            <a:r>
              <a:rPr lang="en-US" sz="1600">
                <a:solidFill>
                  <a:schemeClr val="bg1"/>
                </a:solidFill>
                <a:latin typeface="Verdana" panose="020B0604030504040204" pitchFamily="34" charset="0"/>
                <a:ea typeface="Verdana" panose="020B0604030504040204" pitchFamily="34" charset="0"/>
                <a:cs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2172350"/>
            <a:ext cx="7011136" cy="1462461"/>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4"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4398667"/>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430887"/>
          </a:xfrm>
        </p:spPr>
        <p:txBody>
          <a:bodyPr>
            <a:spAutoFit/>
          </a:bodyPr>
          <a:lstStyle/>
          <a:p>
            <a:r>
              <a:rPr lang="en-US"/>
              <a:t>Click To Edit Master Title Style</a:t>
            </a:r>
            <a:endParaRPr lang="en-AU"/>
          </a:p>
        </p:txBody>
      </p:sp>
    </p:spTree>
    <p:extLst>
      <p:ext uri="{BB962C8B-B14F-4D97-AF65-F5344CB8AC3E}">
        <p14:creationId xmlns:p14="http://schemas.microsoft.com/office/powerpoint/2010/main" val="3481477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2987072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bg1">
            <a:lumMod val="95000"/>
          </a:schemeClr>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p:nvGrpSpPr>
        <p:grpSpPr>
          <a:xfrm>
            <a:off x="-25401" y="4318000"/>
            <a:ext cx="12217400" cy="2540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293584" y="4573623"/>
              <a:ext cx="2365091" cy="192409"/>
            </a:xfrm>
            <a:prstGeom prst="rect">
              <a:avLst/>
            </a:prstGeom>
            <a:noFill/>
          </p:spPr>
          <p:txBody>
            <a:bodyPr wrap="square" rtlCol="0">
              <a:spAutoFit/>
            </a:bodyPr>
            <a:lstStyle/>
            <a:p>
              <a:r>
                <a:rPr lang="en-US" sz="1067" b="0" i="0">
                  <a:solidFill>
                    <a:schemeClr val="bg1"/>
                  </a:solidFill>
                  <a:effectLst/>
                  <a:latin typeface="Aptos" panose="020B0004020202020204" pitchFamily="34" charset="0"/>
                </a:rPr>
                <a:t>Copyright </a:t>
              </a:r>
              <a:r>
                <a:rPr lang="en-US" sz="1067" b="0" i="0">
                  <a:solidFill>
                    <a:schemeClr val="bg1"/>
                  </a:solidFill>
                  <a:effectLst/>
                  <a:latin typeface="Aptos" panose="020B0004020202020204" pitchFamily="34" charset="0"/>
                  <a:cs typeface="Aptos" panose="020B0004020202020204" pitchFamily="34" charset="0"/>
                </a:rPr>
                <a:t>© </a:t>
              </a:r>
              <a:r>
                <a:rPr lang="en-US" sz="1067" b="0" i="0">
                  <a:solidFill>
                    <a:schemeClr val="bg1"/>
                  </a:solidFill>
                  <a:effectLst/>
                  <a:latin typeface="Aptos" panose="020B0004020202020204" pitchFamily="34" charset="0"/>
                </a:rPr>
                <a:t>2025 Ascendion. All Rights Reserved.</a:t>
              </a:r>
              <a:endParaRPr lang="en-US" sz="1067" b="0" i="0">
                <a:solidFill>
                  <a:schemeClr val="bg1"/>
                </a:solidFill>
                <a:latin typeface="Aptos" panose="020B0004020202020204" pitchFamily="34" charset="0"/>
              </a:endParaRP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sz="2400"/>
            </a:p>
          </p:txBody>
        </p:sp>
        <p:sp>
          <p:nvSpPr>
            <p:cNvPr id="9" name="TextBox 8">
              <a:extLst>
                <a:ext uri="{FF2B5EF4-FFF2-40B4-BE49-F238E27FC236}">
                  <a16:creationId xmlns:a16="http://schemas.microsoft.com/office/drawing/2014/main" id="{4C022F62-B967-ACD0-F1C1-4BCF678F8D51}"/>
                </a:ext>
              </a:extLst>
            </p:cNvPr>
            <p:cNvSpPr txBox="1"/>
            <p:nvPr/>
          </p:nvSpPr>
          <p:spPr>
            <a:xfrm>
              <a:off x="3337075" y="3521839"/>
              <a:ext cx="4139489" cy="1585530"/>
            </a:xfrm>
            <a:prstGeom prst="rect">
              <a:avLst/>
            </a:prstGeom>
            <a:noFill/>
          </p:spPr>
          <p:txBody>
            <a:bodyPr wrap="square">
              <a:spAutoFit/>
            </a:bodyPr>
            <a:lstStyle/>
            <a:p>
              <a:pPr>
                <a:lnSpc>
                  <a:spcPct val="110000"/>
                </a:lnSpc>
              </a:pPr>
              <a:r>
                <a:rPr lang="en-US" sz="1333">
                  <a:solidFill>
                    <a:schemeClr val="bg1"/>
                  </a:solidFill>
                </a:rPr>
                <a:t>Ascendion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a:t>
              </a:r>
              <a:r>
                <a:rPr lang="en-US" sz="1333" err="1">
                  <a:solidFill>
                    <a:schemeClr val="bg1"/>
                  </a:solidFill>
                </a:rPr>
                <a:t>EngineeringAI</a:t>
              </a:r>
              <a:r>
                <a:rPr lang="en-US" sz="1333">
                  <a:solidFill>
                    <a:schemeClr val="bg1"/>
                  </a:solidFill>
                </a:rPr>
                <a:t>] methodology, we integrate AI into software engineering, enterprise operations, and talent orchestration, to address critical challenges of trust, speed, and capital.</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1" y="4670137"/>
            <a:ext cx="3749989"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bg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9746" y="-1693"/>
            <a:ext cx="12201751" cy="45299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lstStyle>
            <a:lvl1pPr marL="152396" indent="0">
              <a:buNone/>
              <a:defRPr/>
            </a:lvl1pPr>
          </a:lstStyle>
          <a:p>
            <a:r>
              <a:rPr lang="en-IN"/>
              <a:t> </a:t>
            </a:r>
            <a:endParaRPr lang="en-AU"/>
          </a:p>
        </p:txBody>
      </p:sp>
      <p:sp>
        <p:nvSpPr>
          <p:cNvPr id="2" name="TextBox 1">
            <a:hlinkClick r:id="rId2"/>
            <a:extLst>
              <a:ext uri="{FF2B5EF4-FFF2-40B4-BE49-F238E27FC236}">
                <a16:creationId xmlns:a16="http://schemas.microsoft.com/office/drawing/2014/main" id="{190201DC-5F24-6420-68C6-50B3CF7CB395}"/>
              </a:ext>
            </a:extLst>
          </p:cNvPr>
          <p:cNvSpPr txBox="1"/>
          <p:nvPr/>
        </p:nvSpPr>
        <p:spPr>
          <a:xfrm>
            <a:off x="430977" y="5671352"/>
            <a:ext cx="388809" cy="461665"/>
          </a:xfrm>
          <a:prstGeom prst="rect">
            <a:avLst/>
          </a:prstGeom>
          <a:noFill/>
        </p:spPr>
        <p:txBody>
          <a:bodyPr wrap="square" rtlCol="0">
            <a:spAutoFit/>
          </a:bodyPr>
          <a:lstStyle/>
          <a:p>
            <a:endParaRPr lang="en-US" sz="2400"/>
          </a:p>
        </p:txBody>
      </p:sp>
      <p:sp>
        <p:nvSpPr>
          <p:cNvPr id="3" name="TextBox 2">
            <a:hlinkClick r:id="rId3"/>
            <a:extLst>
              <a:ext uri="{FF2B5EF4-FFF2-40B4-BE49-F238E27FC236}">
                <a16:creationId xmlns:a16="http://schemas.microsoft.com/office/drawing/2014/main" id="{F4EF365B-F9EB-1574-A258-BC653F1E2F07}"/>
              </a:ext>
            </a:extLst>
          </p:cNvPr>
          <p:cNvSpPr txBox="1"/>
          <p:nvPr/>
        </p:nvSpPr>
        <p:spPr>
          <a:xfrm>
            <a:off x="1015819" y="5705838"/>
            <a:ext cx="184731" cy="461665"/>
          </a:xfrm>
          <a:prstGeom prst="rect">
            <a:avLst/>
          </a:prstGeom>
          <a:noFill/>
        </p:spPr>
        <p:txBody>
          <a:bodyPr wrap="none" rtlCol="0">
            <a:spAutoFit/>
          </a:bodyPr>
          <a:lstStyle/>
          <a:p>
            <a:endParaRPr lang="en-US" sz="2400"/>
          </a:p>
        </p:txBody>
      </p:sp>
      <p:sp>
        <p:nvSpPr>
          <p:cNvPr id="4" name="TextBox 3">
            <a:hlinkClick r:id="rId4"/>
            <a:extLst>
              <a:ext uri="{FF2B5EF4-FFF2-40B4-BE49-F238E27FC236}">
                <a16:creationId xmlns:a16="http://schemas.microsoft.com/office/drawing/2014/main" id="{1B6CCD81-F1BE-B482-7C6F-B16F054CE17E}"/>
              </a:ext>
            </a:extLst>
          </p:cNvPr>
          <p:cNvSpPr txBox="1"/>
          <p:nvPr/>
        </p:nvSpPr>
        <p:spPr>
          <a:xfrm>
            <a:off x="1548938" y="5705837"/>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3548733611"/>
      </p:ext>
    </p:extLst>
  </p:cSld>
  <p:clrMapOvr>
    <a:masterClrMapping/>
  </p:clrMapOvr>
  <p:extLst>
    <p:ext uri="{DCECCB84-F9BA-43D5-87BE-67443E8EF086}">
      <p15:sldGuideLst xmlns:p15="http://schemas.microsoft.com/office/powerpoint/2012/main">
        <p15:guide id="1" orient="horz" pos="213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p:nvSpPr>
        <p:spPr>
          <a:xfrm>
            <a:off x="0" y="2813116"/>
            <a:ext cx="2071688" cy="3429000"/>
          </a:xfrm>
          <a:prstGeom prst="rect">
            <a:avLst/>
          </a:prstGeom>
          <a:solidFill>
            <a:srgbClr val="0032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p:nvSpPr>
        <p:spPr>
          <a:xfrm>
            <a:off x="2071688" y="1141280"/>
            <a:ext cx="10120312" cy="616129"/>
          </a:xfrm>
          <a:prstGeom prst="rect">
            <a:avLst/>
          </a:prstGeom>
          <a:solidFill>
            <a:srgbClr val="0063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2"/>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7414" y="1801907"/>
            <a:ext cx="2786063"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3" name="TextBox 32">
            <a:extLst>
              <a:ext uri="{FF2B5EF4-FFF2-40B4-BE49-F238E27FC236}">
                <a16:creationId xmlns:a16="http://schemas.microsoft.com/office/drawing/2014/main" id="{63B28BD4-B927-D5D7-3E8E-3B8E9CDB9CE1}"/>
              </a:ext>
            </a:extLst>
          </p:cNvPr>
          <p:cNvSpPr txBox="1"/>
          <p:nvPr/>
        </p:nvSpPr>
        <p:spPr>
          <a:xfrm>
            <a:off x="2157415" y="1253675"/>
            <a:ext cx="2786062" cy="369332"/>
          </a:xfrm>
          <a:prstGeom prst="rect">
            <a:avLst/>
          </a:prstGeom>
          <a:noFill/>
        </p:spPr>
        <p:txBody>
          <a:bodyPr wrap="square" lIns="0" tIns="0" rIns="0" bIns="0" anchor="ctr">
            <a:normAutofit/>
          </a:bodyPr>
          <a:lstStyle/>
          <a:p>
            <a:pPr algn="ctr"/>
            <a:r>
              <a:rPr lang="en-US" sz="14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5" name="TextBox 34">
            <a:extLst>
              <a:ext uri="{FF2B5EF4-FFF2-40B4-BE49-F238E27FC236}">
                <a16:creationId xmlns:a16="http://schemas.microsoft.com/office/drawing/2014/main" id="{2D57DCEF-1560-9AF1-7A04-418461ED32AF}"/>
              </a:ext>
            </a:extLst>
          </p:cNvPr>
          <p:cNvSpPr txBox="1"/>
          <p:nvPr/>
        </p:nvSpPr>
        <p:spPr>
          <a:xfrm>
            <a:off x="9456264" y="1272587"/>
            <a:ext cx="2616673" cy="369332"/>
          </a:xfrm>
          <a:prstGeom prst="rect">
            <a:avLst/>
          </a:prstGeom>
          <a:noFill/>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rPr>
              <a:t>Client Benefits</a:t>
            </a:r>
          </a:p>
        </p:txBody>
      </p:sp>
      <p:cxnSp>
        <p:nvCxnSpPr>
          <p:cNvPr id="30" name="Straight Connector 29">
            <a:extLst>
              <a:ext uri="{FF2B5EF4-FFF2-40B4-BE49-F238E27FC236}">
                <a16:creationId xmlns:a16="http://schemas.microsoft.com/office/drawing/2014/main" id="{CDE24740-BF49-13A2-D93B-760FA193E090}"/>
              </a:ext>
            </a:extLst>
          </p:cNvPr>
          <p:cNvCxnSpPr>
            <a:cxnSpLocks/>
          </p:cNvCxnSpPr>
          <p:nvPr/>
        </p:nvCxnSpPr>
        <p:spPr>
          <a:xfrm>
            <a:off x="5018523" y="1253673"/>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5100639" y="1801907"/>
            <a:ext cx="4243387"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9501189" y="1801907"/>
            <a:ext cx="2571751" cy="4429563"/>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p:nvCxnSpPr>
        <p:spPr>
          <a:xfrm>
            <a:off x="9381217" y="1249957"/>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p:nvSpPr>
        <p:spPr>
          <a:xfrm>
            <a:off x="5100639" y="1253675"/>
            <a:ext cx="4243385" cy="369332"/>
          </a:xfrm>
          <a:prstGeom prst="rect">
            <a:avLst/>
          </a:prstGeom>
          <a:noFill/>
        </p:spPr>
        <p:txBody>
          <a:bodyPr wrap="square" lIns="0" tIns="0" rIns="0" bIns="0" anchor="ctr">
            <a:normAutofit/>
          </a:bodyPr>
          <a:lstStyle/>
          <a:p>
            <a:pPr algn="ctr"/>
            <a:r>
              <a:rPr lang="en-US" sz="1400" b="1" err="1">
                <a:solidFill>
                  <a:schemeClr val="bg1"/>
                </a:solidFill>
                <a:latin typeface="Verdana" panose="020B0604030504040204" pitchFamily="34" charset="0"/>
                <a:ea typeface="Verdana" panose="020B0604030504040204" pitchFamily="34" charset="0"/>
                <a:cs typeface="Verdana" panose="020B0604030504040204" pitchFamily="34" charset="0"/>
              </a:rPr>
              <a:t>Ascendion’s</a:t>
            </a:r>
            <a:r>
              <a:rPr lang="en-US" sz="1400" b="1">
                <a:solidFill>
                  <a:schemeClr val="bg1"/>
                </a:solidFill>
                <a:latin typeface="Verdana" panose="020B0604030504040204" pitchFamily="34" charset="0"/>
                <a:ea typeface="Verdana" panose="020B0604030504040204" pitchFamily="34" charset="0"/>
                <a:cs typeface="Verdana" panose="020B0604030504040204" pitchFamily="34" charset="0"/>
              </a:rPr>
              <a:t> Solution</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9" y="219278"/>
            <a:ext cx="9445985" cy="451342"/>
          </a:xfrm>
        </p:spPr>
        <p:txBody>
          <a:bodyPr>
            <a:spAutoFit/>
          </a:bodyPr>
          <a:lstStyle/>
          <a:p>
            <a:r>
              <a:rPr lang="en-US"/>
              <a:t>Click To Edit Master Title Style</a:t>
            </a:r>
            <a:endParaRPr lang="en-AU"/>
          </a:p>
        </p:txBody>
      </p:sp>
      <p:grpSp>
        <p:nvGrpSpPr>
          <p:cNvPr id="8" name="Group 7">
            <a:extLst>
              <a:ext uri="{FF2B5EF4-FFF2-40B4-BE49-F238E27FC236}">
                <a16:creationId xmlns:a16="http://schemas.microsoft.com/office/drawing/2014/main" id="{3965D76F-2E4C-FDAE-FCF1-EEE18A3176A5}"/>
              </a:ext>
            </a:extLst>
          </p:cNvPr>
          <p:cNvGrpSpPr/>
          <p:nvPr userDrawn="1"/>
        </p:nvGrpSpPr>
        <p:grpSpPr>
          <a:xfrm>
            <a:off x="5018523" y="1775012"/>
            <a:ext cx="4362695" cy="4468627"/>
            <a:chOff x="5018523" y="2438400"/>
            <a:chExt cx="4362694" cy="389300"/>
          </a:xfrm>
        </p:grpSpPr>
        <p:cxnSp>
          <p:nvCxnSpPr>
            <p:cNvPr id="4" name="Straight Connector 3">
              <a:extLst>
                <a:ext uri="{FF2B5EF4-FFF2-40B4-BE49-F238E27FC236}">
                  <a16:creationId xmlns:a16="http://schemas.microsoft.com/office/drawing/2014/main" id="{223C57D4-5C85-F4FA-C49E-ED1DA689AFB2}"/>
                </a:ext>
              </a:extLst>
            </p:cNvPr>
            <p:cNvCxnSpPr>
              <a:cxnSpLocks/>
            </p:cNvCxnSpPr>
            <p:nvPr userDrawn="1"/>
          </p:nvCxnSpPr>
          <p:spPr>
            <a:xfrm>
              <a:off x="5018523" y="2442116"/>
              <a:ext cx="0" cy="38558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BC8B0CA-2B40-31D2-C112-BF3F37715F1D}"/>
                </a:ext>
              </a:extLst>
            </p:cNvPr>
            <p:cNvCxnSpPr>
              <a:cxnSpLocks/>
            </p:cNvCxnSpPr>
            <p:nvPr userDrawn="1"/>
          </p:nvCxnSpPr>
          <p:spPr>
            <a:xfrm>
              <a:off x="9381217" y="2438400"/>
              <a:ext cx="0" cy="385584"/>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92AE697-B6BA-7ED2-4A28-3D699CA66FB9}"/>
              </a:ext>
            </a:extLst>
          </p:cNvPr>
          <p:cNvSpPr txBox="1"/>
          <p:nvPr userDrawn="1"/>
        </p:nvSpPr>
        <p:spPr>
          <a:xfrm>
            <a:off x="76200" y="2814639"/>
            <a:ext cx="1695451" cy="369332"/>
          </a:xfrm>
          <a:prstGeom prst="rect">
            <a:avLst/>
          </a:prstGeom>
          <a:noFill/>
        </p:spPr>
        <p:txBody>
          <a:bodyPr wrap="square" lIns="0" tIns="0" rIns="0" bIns="0" anchor="ctr">
            <a:normAutofit/>
          </a:bodyPr>
          <a:lstStyle/>
          <a:p>
            <a:pPr algn="l"/>
            <a:r>
              <a:rPr lang="en-US" sz="1200" b="1">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Tree>
    <p:extLst>
      <p:ext uri="{BB962C8B-B14F-4D97-AF65-F5344CB8AC3E}">
        <p14:creationId xmlns:p14="http://schemas.microsoft.com/office/powerpoint/2010/main" val="91084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ntent - Ligh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55625" y="537791"/>
            <a:ext cx="10361757" cy="1167879"/>
          </a:xfrm>
          <a:prstGeom prst="rect">
            <a:avLst/>
          </a:prstGeom>
        </p:spPr>
        <p:txBody>
          <a:bodyPr vert="horz" lIns="0" tIns="0" rIns="0" bIns="0" rtlCol="0" anchor="t">
            <a:noAutofit/>
          </a:bodyPr>
          <a:lstStyle/>
          <a:p>
            <a:r>
              <a:rPr lang="en-US"/>
              <a:t>Click To Edit Master Title Style</a:t>
            </a:r>
          </a:p>
        </p:txBody>
      </p:sp>
      <p:sp>
        <p:nvSpPr>
          <p:cNvPr id="4" name="Content Placeholder 3">
            <a:extLst>
              <a:ext uri="{FF2B5EF4-FFF2-40B4-BE49-F238E27FC236}">
                <a16:creationId xmlns:a16="http://schemas.microsoft.com/office/drawing/2014/main" id="{27962594-0612-4734-B801-D3A8ACEC8AD4}"/>
              </a:ext>
            </a:extLst>
          </p:cNvPr>
          <p:cNvSpPr>
            <a:spLocks noGrp="1"/>
          </p:cNvSpPr>
          <p:nvPr>
            <p:ph sz="quarter" idx="15"/>
          </p:nvPr>
        </p:nvSpPr>
        <p:spPr>
          <a:xfrm>
            <a:off x="555625" y="1839913"/>
            <a:ext cx="11120438" cy="43307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489BEF48-4BE6-EEB7-83DA-F5DA2723853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339088" y="102191"/>
            <a:ext cx="673947" cy="871200"/>
          </a:xfrm>
          <a:prstGeom prst="rect">
            <a:avLst/>
          </a:prstGeom>
        </p:spPr>
      </p:pic>
      <p:sp>
        <p:nvSpPr>
          <p:cNvPr id="5" name="Graphic 24">
            <a:extLst>
              <a:ext uri="{FF2B5EF4-FFF2-40B4-BE49-F238E27FC236}">
                <a16:creationId xmlns:a16="http://schemas.microsoft.com/office/drawing/2014/main" id="{6E1E8192-4301-9E2C-0BEC-A3F968017D70}"/>
              </a:ext>
            </a:extLst>
          </p:cNvPr>
          <p:cNvSpPr/>
          <p:nvPr/>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1"/>
          </a:solidFill>
          <a:ln w="20108" cap="flat">
            <a:noFill/>
            <a:prstDash val="solid"/>
            <a:miter/>
          </a:ln>
        </p:spPr>
        <p:txBody>
          <a:bodyPr rtlCol="0" anchor="ctr"/>
          <a:lstStyle/>
          <a:p>
            <a:endParaRPr lang="en-US"/>
          </a:p>
        </p:txBody>
      </p:sp>
      <p:sp>
        <p:nvSpPr>
          <p:cNvPr id="6" name="Graphic 26">
            <a:extLst>
              <a:ext uri="{FF2B5EF4-FFF2-40B4-BE49-F238E27FC236}">
                <a16:creationId xmlns:a16="http://schemas.microsoft.com/office/drawing/2014/main" id="{C7044421-654C-898B-E43A-07F00E643171}"/>
              </a:ext>
            </a:extLst>
          </p:cNvPr>
          <p:cNvSpPr/>
          <p:nvPr/>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1"/>
          </a:solidFill>
          <a:ln w="20108" cap="flat">
            <a:noFill/>
            <a:prstDash val="solid"/>
            <a:miter/>
          </a:ln>
        </p:spPr>
        <p:txBody>
          <a:bodyPr rtlCol="0" anchor="ctr"/>
          <a:lstStyle/>
          <a:p>
            <a:endParaRPr lang="en-US"/>
          </a:p>
        </p:txBody>
      </p:sp>
    </p:spTree>
    <p:extLst>
      <p:ext uri="{BB962C8B-B14F-4D97-AF65-F5344CB8AC3E}">
        <p14:creationId xmlns:p14="http://schemas.microsoft.com/office/powerpoint/2010/main" val="4118965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ntent (Light)" userDrawn="1">
  <p:cSld name="One content (Light)">
    <p:spTree>
      <p:nvGrpSpPr>
        <p:cNvPr id="1" name="Shape 59"/>
        <p:cNvGrpSpPr/>
        <p:nvPr/>
      </p:nvGrpSpPr>
      <p:grpSpPr>
        <a:xfrm>
          <a:off x="0" y="0"/>
          <a:ext cx="0" cy="0"/>
          <a:chOff x="0" y="0"/>
          <a:chExt cx="0" cy="0"/>
        </a:xfrm>
      </p:grpSpPr>
      <p:sp>
        <p:nvSpPr>
          <p:cNvPr id="61" name="Google Shape;61;p8"/>
          <p:cNvSpPr txBox="1">
            <a:spLocks noGrp="1"/>
          </p:cNvSpPr>
          <p:nvPr>
            <p:ph type="ctrTitle"/>
          </p:nvPr>
        </p:nvSpPr>
        <p:spPr>
          <a:xfrm>
            <a:off x="387927" y="223688"/>
            <a:ext cx="11396086" cy="10255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3600"/>
              <a:buFont typeface="Arial"/>
              <a:buNone/>
              <a:defRPr sz="3600">
                <a:solidFill>
                  <a:schemeClr val="dk1"/>
                </a:solidFill>
                <a:latin typeface="+mj-lt"/>
                <a:ea typeface="Myriad Pro" panose="020B0503030403020204" pitchFamily="34" charset="0"/>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8"/>
          <p:cNvSpPr txBox="1"/>
          <p:nvPr/>
        </p:nvSpPr>
        <p:spPr>
          <a:xfrm>
            <a:off x="4879863" y="6633772"/>
            <a:ext cx="2411636" cy="222326"/>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800"/>
              <a:buFont typeface="Arial"/>
              <a:buNone/>
            </a:pPr>
            <a:r>
              <a:rPr lang="en-IN" sz="800" err="1">
                <a:solidFill>
                  <a:schemeClr val="dk1"/>
                </a:solidFill>
                <a:latin typeface="Myriad Pro" panose="020B0503030403020204" pitchFamily="34" charset="0"/>
                <a:ea typeface="Arial"/>
                <a:cs typeface="Arial"/>
                <a:sym typeface="Arial"/>
              </a:rPr>
              <a:t>Ascendion</a:t>
            </a:r>
            <a:r>
              <a:rPr lang="en-IN" sz="800">
                <a:solidFill>
                  <a:schemeClr val="dk1"/>
                </a:solidFill>
                <a:latin typeface="Myriad Pro" panose="020B0503030403020204" pitchFamily="34" charset="0"/>
                <a:ea typeface="Arial"/>
                <a:cs typeface="Arial"/>
                <a:sym typeface="Arial"/>
              </a:rPr>
              <a:t> Confidential</a:t>
            </a:r>
            <a:endParaRPr>
              <a:latin typeface="Myriad Pro" panose="020B0503030403020204" pitchFamily="34" charset="0"/>
            </a:endParaRPr>
          </a:p>
        </p:txBody>
      </p:sp>
      <p:grpSp>
        <p:nvGrpSpPr>
          <p:cNvPr id="63" name="Google Shape;63;p8"/>
          <p:cNvGrpSpPr/>
          <p:nvPr/>
        </p:nvGrpSpPr>
        <p:grpSpPr>
          <a:xfrm>
            <a:off x="0" y="6457234"/>
            <a:ext cx="12190038" cy="310561"/>
            <a:chOff x="0" y="6457234"/>
            <a:chExt cx="12190038" cy="310561"/>
          </a:xfrm>
        </p:grpSpPr>
        <p:sp>
          <p:nvSpPr>
            <p:cNvPr id="64" name="Google Shape;64;p8"/>
            <p:cNvSpPr/>
            <p:nvPr/>
          </p:nvSpPr>
          <p:spPr>
            <a:xfrm>
              <a:off x="0" y="6457234"/>
              <a:ext cx="12190038" cy="170257"/>
            </a:xfrm>
            <a:custGeom>
              <a:avLst/>
              <a:gdLst/>
              <a:ahLst/>
              <a:cxnLst/>
              <a:rect l="l" t="t" r="r" b="b"/>
              <a:pathLst>
                <a:path w="12190038" h="170257" extrusionOk="0">
                  <a:moveTo>
                    <a:pt x="12190038" y="161210"/>
                  </a:moveTo>
                  <a:lnTo>
                    <a:pt x="12188267" y="170195"/>
                  </a:lnTo>
                  <a:lnTo>
                    <a:pt x="11819153" y="169815"/>
                  </a:lnTo>
                  <a:lnTo>
                    <a:pt x="11088330" y="11895"/>
                  </a:lnTo>
                  <a:lnTo>
                    <a:pt x="10337133" y="170258"/>
                  </a:lnTo>
                  <a:lnTo>
                    <a:pt x="0" y="170131"/>
                  </a:lnTo>
                  <a:lnTo>
                    <a:pt x="1772" y="161147"/>
                  </a:lnTo>
                  <a:lnTo>
                    <a:pt x="10322201" y="161337"/>
                  </a:lnTo>
                  <a:lnTo>
                    <a:pt x="11091304" y="0"/>
                  </a:lnTo>
                  <a:lnTo>
                    <a:pt x="11831048" y="160894"/>
                  </a:lnTo>
                  <a:lnTo>
                    <a:pt x="12190038" y="16121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Myriad Pro" panose="020B0503030403020204" pitchFamily="34" charset="0"/>
                <a:ea typeface="Arial"/>
                <a:cs typeface="Arial"/>
                <a:sym typeface="Arial"/>
              </a:endParaRPr>
            </a:p>
          </p:txBody>
        </p:sp>
        <p:sp>
          <p:nvSpPr>
            <p:cNvPr id="65" name="Google Shape;65;p8"/>
            <p:cNvSpPr/>
            <p:nvPr/>
          </p:nvSpPr>
          <p:spPr>
            <a:xfrm>
              <a:off x="10982610" y="6567656"/>
              <a:ext cx="190376" cy="200139"/>
            </a:xfrm>
            <a:prstGeom prst="rect">
              <a:avLst/>
            </a:prstGeom>
            <a:noFill/>
            <a:ln>
              <a:noFill/>
            </a:ln>
          </p:spPr>
          <p:txBody>
            <a:bodyPr/>
            <a:lstStyle/>
            <a:p>
              <a:endParaRPr lang="en-US"/>
            </a:p>
          </p:txBody>
        </p:sp>
      </p:grpSp>
      <p:sp>
        <p:nvSpPr>
          <p:cNvPr id="66" name="Google Shape;66;p8"/>
          <p:cNvSpPr txBox="1"/>
          <p:nvPr/>
        </p:nvSpPr>
        <p:spPr>
          <a:xfrm>
            <a:off x="387350" y="6616629"/>
            <a:ext cx="787532" cy="2261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IN" sz="800">
                <a:solidFill>
                  <a:schemeClr val="dk1"/>
                </a:solidFill>
                <a:latin typeface="Century Gothic"/>
                <a:ea typeface="Century Gothic"/>
                <a:cs typeface="Century Gothic"/>
                <a:sym typeface="Century Gothic"/>
              </a:rPr>
              <a:t>‹#›</a:t>
            </a:fld>
            <a:endParaRPr sz="800">
              <a:solidFill>
                <a:schemeClr val="dk1"/>
              </a:solidFill>
              <a:latin typeface="Century Gothic"/>
              <a:ea typeface="Century Gothic"/>
              <a:cs typeface="Century Gothic"/>
              <a:sym typeface="Century Gothic"/>
            </a:endParaRPr>
          </a:p>
        </p:txBody>
      </p:sp>
      <p:sp>
        <p:nvSpPr>
          <p:cNvPr id="67" name="Google Shape;67;p8"/>
          <p:cNvSpPr/>
          <p:nvPr/>
        </p:nvSpPr>
        <p:spPr>
          <a:xfrm>
            <a:off x="0" y="0"/>
            <a:ext cx="12192000" cy="4571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yriad Pro" panose="020B0503030403020204" pitchFamily="34" charset="0"/>
              <a:ea typeface="Arial"/>
              <a:cs typeface="Arial"/>
              <a:sym typeface="Arial"/>
            </a:endParaRPr>
          </a:p>
        </p:txBody>
      </p:sp>
      <p:pic>
        <p:nvPicPr>
          <p:cNvPr id="2" name="Graphic 1">
            <a:extLst>
              <a:ext uri="{FF2B5EF4-FFF2-40B4-BE49-F238E27FC236}">
                <a16:creationId xmlns:a16="http://schemas.microsoft.com/office/drawing/2014/main" id="{A058F3C4-32D8-2D7F-B784-C0FB5EC141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96386" y="6552416"/>
            <a:ext cx="190376" cy="200139"/>
          </a:xfrm>
          <a:prstGeom prst="rect">
            <a:avLst/>
          </a:prstGeom>
        </p:spPr>
      </p:pic>
      <p:sp>
        <p:nvSpPr>
          <p:cNvPr id="5" name="Text Placeholder 4">
            <a:extLst>
              <a:ext uri="{FF2B5EF4-FFF2-40B4-BE49-F238E27FC236}">
                <a16:creationId xmlns:a16="http://schemas.microsoft.com/office/drawing/2014/main" id="{0E7D7E70-9691-47A9-6E2A-734E881E2DFA}"/>
              </a:ext>
            </a:extLst>
          </p:cNvPr>
          <p:cNvSpPr>
            <a:spLocks noGrp="1"/>
          </p:cNvSpPr>
          <p:nvPr>
            <p:ph type="body" sz="quarter" idx="10"/>
          </p:nvPr>
        </p:nvSpPr>
        <p:spPr>
          <a:xfrm>
            <a:off x="387350" y="1465382"/>
            <a:ext cx="11396086" cy="4414837"/>
          </a:xfrm>
        </p:spPr>
        <p:txBody>
          <a:bodyPr>
            <a:normAutofit/>
          </a:bodyPr>
          <a:lstStyle>
            <a:lvl1pPr>
              <a:defRPr sz="1400"/>
            </a:lvl1pPr>
          </a:lstStyle>
          <a:p>
            <a:pPr lvl="0"/>
            <a:endParaRPr lang="en-IN"/>
          </a:p>
        </p:txBody>
      </p:sp>
    </p:spTree>
    <p:extLst>
      <p:ext uri="{BB962C8B-B14F-4D97-AF65-F5344CB8AC3E}">
        <p14:creationId xmlns:p14="http://schemas.microsoft.com/office/powerpoint/2010/main" val="1022078888"/>
      </p:ext>
    </p:extLst>
  </p:cSld>
  <p:clrMapOvr>
    <a:masterClrMapping/>
  </p:clrMapOvr>
  <p:extLst>
    <p:ext uri="{DCECCB84-F9BA-43D5-87BE-67443E8EF086}">
      <p15:sldGuideLst xmlns:p15="http://schemas.microsoft.com/office/powerpoint/2012/main">
        <p15:guide id="1" orient="horz" pos="2160">
          <p15:clr>
            <a:srgbClr val="FBAE40"/>
          </p15:clr>
        </p15:guide>
        <p15:guide id="2" pos="7423">
          <p15:clr>
            <a:srgbClr val="FBAE40"/>
          </p15:clr>
        </p15:guide>
        <p15:guide id="3" pos="23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78190E0F-C32E-FD4C-1886-AE3328217426}"/>
              </a:ext>
            </a:extLst>
          </p:cNvPr>
          <p:cNvSpPr>
            <a:spLocks noGrp="1"/>
          </p:cNvSpPr>
          <p:nvPr>
            <p:ph type="title"/>
          </p:nvPr>
        </p:nvSpPr>
        <p:spPr>
          <a:xfrm>
            <a:off x="515937" y="394087"/>
            <a:ext cx="11160121" cy="369332"/>
          </a:xfrm>
          <a:prstGeom prst="rect">
            <a:avLst/>
          </a:prstGeom>
        </p:spPr>
        <p:txBody>
          <a:bodyPr vert="horz" lIns="0" tIns="0" rIns="0" bIns="0" rtlCol="0" anchor="t">
            <a:spAutoFit/>
          </a:bodyPr>
          <a:lstStyle>
            <a:lvl1pPr>
              <a:defRPr sz="2400"/>
            </a:lvl1pPr>
          </a:lstStyle>
          <a:p>
            <a:r>
              <a:rPr lang="en-GB"/>
              <a:t>Click to edit Master title style</a:t>
            </a:r>
            <a:endParaRPr lang="en-US"/>
          </a:p>
        </p:txBody>
      </p:sp>
    </p:spTree>
    <p:extLst>
      <p:ext uri="{BB962C8B-B14F-4D97-AF65-F5344CB8AC3E}">
        <p14:creationId xmlns:p14="http://schemas.microsoft.com/office/powerpoint/2010/main" val="353268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6" name="Graphic 5">
            <a:extLst>
              <a:ext uri="{FF2B5EF4-FFF2-40B4-BE49-F238E27FC236}">
                <a16:creationId xmlns:a16="http://schemas.microsoft.com/office/drawing/2014/main" id="{FB019720-569E-9BCD-B86A-50FC0000F2CF}"/>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914400" y="2385558"/>
            <a:ext cx="825500" cy="1665741"/>
          </a:xfrm>
          <a:prstGeom prst="rect">
            <a:avLst/>
          </a:prstGeom>
        </p:spPr>
      </p:pic>
    </p:spTree>
    <p:extLst>
      <p:ext uri="{BB962C8B-B14F-4D97-AF65-F5344CB8AC3E}">
        <p14:creationId xmlns:p14="http://schemas.microsoft.com/office/powerpoint/2010/main" val="2674462579"/>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1" r:id="rId4"/>
    <p:sldLayoutId id="2147483783" r:id="rId5"/>
    <p:sldLayoutId id="2147483826" r:id="rId6"/>
    <p:sldLayoutId id="2147483829" r:id="rId7"/>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crmgenie-app-hg01.azurewebsites.net/compiler" TargetMode="External"/><Relationship Id="rId2" Type="http://schemas.openxmlformats.org/officeDocument/2006/relationships/hyperlink" Target="https://orgfarm-867fa20d34-dev-ed.develop.my.salesforce.com/lightning/o/Account/list?filterName=AllAccounts" TargetMode="External"/><Relationship Id="rId1" Type="http://schemas.openxmlformats.org/officeDocument/2006/relationships/slideLayout" Target="../slideLayouts/slideLayout6.xml"/><Relationship Id="rId4" Type="http://schemas.openxmlformats.org/officeDocument/2006/relationships/hyperlink" Target="https://crmgenie-app-hg01.azurewebsites.net/accoun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E1F15-0DDE-DF5D-1C0E-51B61B091BB1}"/>
              </a:ext>
            </a:extLst>
          </p:cNvPr>
          <p:cNvSpPr>
            <a:spLocks noGrp="1"/>
          </p:cNvSpPr>
          <p:nvPr>
            <p:ph type="ctrTitle"/>
          </p:nvPr>
        </p:nvSpPr>
        <p:spPr>
          <a:xfrm>
            <a:off x="393700" y="203200"/>
            <a:ext cx="11391900" cy="508000"/>
          </a:xfrm>
        </p:spPr>
        <p:txBody>
          <a:bodyPr anchor="ctr">
            <a:normAutofit/>
          </a:bodyPr>
          <a:lstStyle/>
          <a:p>
            <a:r>
              <a:rPr lang="en-GB" sz="2400">
                <a:solidFill>
                  <a:srgbClr val="6666CC"/>
                </a:solidFill>
                <a:latin typeface="Aptos" panose="020B0004020202020204" pitchFamily="34" charset="0"/>
              </a:rPr>
              <a:t>Moving off Salesforce in six phases</a:t>
            </a:r>
          </a:p>
        </p:txBody>
      </p:sp>
      <p:cxnSp>
        <p:nvCxnSpPr>
          <p:cNvPr id="4" name="Straight Connector 3">
            <a:extLst>
              <a:ext uri="{FF2B5EF4-FFF2-40B4-BE49-F238E27FC236}">
                <a16:creationId xmlns:a16="http://schemas.microsoft.com/office/drawing/2014/main" id="{705CAE34-92C9-1540-5D5D-21670BC7B1DB}"/>
              </a:ext>
            </a:extLst>
          </p:cNvPr>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1095615-8508-98F2-9478-A9D5B854DFAA}"/>
              </a:ext>
            </a:extLst>
          </p:cNvPr>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dirty="0">
                <a:solidFill>
                  <a:srgbClr val="5E6170"/>
                </a:solidFill>
                <a:latin typeface="Century Gothic" panose="020B0502020202020204" pitchFamily="34" charset="0"/>
              </a:rPr>
              <a:t>Generic six phases approach for any Salesforce org, any industry.</a:t>
            </a:r>
          </a:p>
        </p:txBody>
      </p:sp>
      <p:sp>
        <p:nvSpPr>
          <p:cNvPr id="6" name="Rectangle: Rounded Corners 5">
            <a:extLst>
              <a:ext uri="{FF2B5EF4-FFF2-40B4-BE49-F238E27FC236}">
                <a16:creationId xmlns:a16="http://schemas.microsoft.com/office/drawing/2014/main" id="{126FB642-DFA3-A8BC-97FF-43F0BB3CBD6F}"/>
              </a:ext>
            </a:extLst>
          </p:cNvPr>
          <p:cNvSpPr/>
          <p:nvPr/>
        </p:nvSpPr>
        <p:spPr>
          <a:xfrm>
            <a:off x="39370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EDE075E8-665F-9B52-F86C-23B3B29D5B70}"/>
              </a:ext>
            </a:extLst>
          </p:cNvPr>
          <p:cNvSpPr/>
          <p:nvPr/>
        </p:nvSpPr>
        <p:spPr>
          <a:xfrm>
            <a:off x="49530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1</a:t>
            </a:r>
          </a:p>
        </p:txBody>
      </p:sp>
      <p:sp>
        <p:nvSpPr>
          <p:cNvPr id="8" name="TextBox 7">
            <a:extLst>
              <a:ext uri="{FF2B5EF4-FFF2-40B4-BE49-F238E27FC236}">
                <a16:creationId xmlns:a16="http://schemas.microsoft.com/office/drawing/2014/main" id="{8084A6CB-2931-605D-3F47-C5CD6B7C8B3E}"/>
              </a:ext>
            </a:extLst>
          </p:cNvPr>
          <p:cNvSpPr txBox="1"/>
          <p:nvPr/>
        </p:nvSpPr>
        <p:spPr>
          <a:xfrm>
            <a:off x="85090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Discover</a:t>
            </a:r>
          </a:p>
        </p:txBody>
      </p:sp>
      <p:sp>
        <p:nvSpPr>
          <p:cNvPr id="9" name="Rectangle 8">
            <a:extLst>
              <a:ext uri="{FF2B5EF4-FFF2-40B4-BE49-F238E27FC236}">
                <a16:creationId xmlns:a16="http://schemas.microsoft.com/office/drawing/2014/main" id="{F4847CF0-BF3B-57E0-856E-C8E26CE23F3D}"/>
              </a:ext>
            </a:extLst>
          </p:cNvPr>
          <p:cNvSpPr/>
          <p:nvPr/>
        </p:nvSpPr>
        <p:spPr>
          <a:xfrm>
            <a:off x="52070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5FD52186-786B-E909-7155-BF1D70097513}"/>
              </a:ext>
            </a:extLst>
          </p:cNvPr>
          <p:cNvSpPr txBox="1"/>
          <p:nvPr/>
        </p:nvSpPr>
        <p:spPr>
          <a:xfrm>
            <a:off x="44450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What is in the org?</a:t>
            </a:r>
          </a:p>
        </p:txBody>
      </p:sp>
      <p:sp>
        <p:nvSpPr>
          <p:cNvPr id="11" name="TextBox 10">
            <a:extLst>
              <a:ext uri="{FF2B5EF4-FFF2-40B4-BE49-F238E27FC236}">
                <a16:creationId xmlns:a16="http://schemas.microsoft.com/office/drawing/2014/main" id="{31F09BAF-C4FC-9697-392F-BA9C2C5FB018}"/>
              </a:ext>
            </a:extLst>
          </p:cNvPr>
          <p:cNvSpPr txBox="1"/>
          <p:nvPr/>
        </p:nvSpPr>
        <p:spPr>
          <a:xfrm>
            <a:off x="44450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Objects, fields, rules, flows, Apex, security and data.</a:t>
            </a:r>
          </a:p>
        </p:txBody>
      </p:sp>
      <p:sp>
        <p:nvSpPr>
          <p:cNvPr id="12" name="Arrow: Right 11">
            <a:extLst>
              <a:ext uri="{FF2B5EF4-FFF2-40B4-BE49-F238E27FC236}">
                <a16:creationId xmlns:a16="http://schemas.microsoft.com/office/drawing/2014/main" id="{A8EDDFC6-6193-C01C-873D-DA51DAB6B4B4}"/>
              </a:ext>
            </a:extLst>
          </p:cNvPr>
          <p:cNvSpPr/>
          <p:nvPr/>
        </p:nvSpPr>
        <p:spPr>
          <a:xfrm>
            <a:off x="217170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9CAADB6E-F6D8-BD93-D6C3-B7ADC6DB99E7}"/>
              </a:ext>
            </a:extLst>
          </p:cNvPr>
          <p:cNvSpPr/>
          <p:nvPr/>
        </p:nvSpPr>
        <p:spPr>
          <a:xfrm>
            <a:off x="232156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CA4C81E2-67DA-BF85-1773-247E86EEC6C3}"/>
              </a:ext>
            </a:extLst>
          </p:cNvPr>
          <p:cNvSpPr/>
          <p:nvPr/>
        </p:nvSpPr>
        <p:spPr>
          <a:xfrm>
            <a:off x="242316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2</a:t>
            </a:r>
          </a:p>
        </p:txBody>
      </p:sp>
      <p:sp>
        <p:nvSpPr>
          <p:cNvPr id="15" name="TextBox 14">
            <a:extLst>
              <a:ext uri="{FF2B5EF4-FFF2-40B4-BE49-F238E27FC236}">
                <a16:creationId xmlns:a16="http://schemas.microsoft.com/office/drawing/2014/main" id="{194A65C4-3316-117C-9CEC-1474C978D60D}"/>
              </a:ext>
            </a:extLst>
          </p:cNvPr>
          <p:cNvSpPr txBox="1"/>
          <p:nvPr/>
        </p:nvSpPr>
        <p:spPr>
          <a:xfrm>
            <a:off x="277876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Design</a:t>
            </a:r>
          </a:p>
        </p:txBody>
      </p:sp>
      <p:sp>
        <p:nvSpPr>
          <p:cNvPr id="16" name="Rectangle 15">
            <a:extLst>
              <a:ext uri="{FF2B5EF4-FFF2-40B4-BE49-F238E27FC236}">
                <a16:creationId xmlns:a16="http://schemas.microsoft.com/office/drawing/2014/main" id="{777EADCE-2308-1ECE-02A4-CC3F9283FCF7}"/>
              </a:ext>
            </a:extLst>
          </p:cNvPr>
          <p:cNvSpPr/>
          <p:nvPr/>
        </p:nvSpPr>
        <p:spPr>
          <a:xfrm>
            <a:off x="244856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950DECCD-86F2-CA4F-FAE5-4A80B655410F}"/>
              </a:ext>
            </a:extLst>
          </p:cNvPr>
          <p:cNvSpPr txBox="1"/>
          <p:nvPr/>
        </p:nvSpPr>
        <p:spPr>
          <a:xfrm>
            <a:off x="237236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What does it mean?</a:t>
            </a:r>
          </a:p>
        </p:txBody>
      </p:sp>
      <p:sp>
        <p:nvSpPr>
          <p:cNvPr id="18" name="TextBox 17">
            <a:extLst>
              <a:ext uri="{FF2B5EF4-FFF2-40B4-BE49-F238E27FC236}">
                <a16:creationId xmlns:a16="http://schemas.microsoft.com/office/drawing/2014/main" id="{6D1701FC-F801-A121-09C8-5C270FC5C5A7}"/>
              </a:ext>
            </a:extLst>
          </p:cNvPr>
          <p:cNvSpPr txBox="1"/>
          <p:nvPr/>
        </p:nvSpPr>
        <p:spPr>
          <a:xfrm>
            <a:off x="237236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One platform-independent model of the org.</a:t>
            </a:r>
          </a:p>
        </p:txBody>
      </p:sp>
      <p:sp>
        <p:nvSpPr>
          <p:cNvPr id="19" name="Arrow: Right 18">
            <a:extLst>
              <a:ext uri="{FF2B5EF4-FFF2-40B4-BE49-F238E27FC236}">
                <a16:creationId xmlns:a16="http://schemas.microsoft.com/office/drawing/2014/main" id="{033BCF8D-CD2C-10D0-9887-E95AD8B85748}"/>
              </a:ext>
            </a:extLst>
          </p:cNvPr>
          <p:cNvSpPr/>
          <p:nvPr/>
        </p:nvSpPr>
        <p:spPr>
          <a:xfrm>
            <a:off x="409956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19">
            <a:extLst>
              <a:ext uri="{FF2B5EF4-FFF2-40B4-BE49-F238E27FC236}">
                <a16:creationId xmlns:a16="http://schemas.microsoft.com/office/drawing/2014/main" id="{41B90860-0A7F-D3C4-3BD2-FDC81B5C9BD2}"/>
              </a:ext>
            </a:extLst>
          </p:cNvPr>
          <p:cNvSpPr/>
          <p:nvPr/>
        </p:nvSpPr>
        <p:spPr>
          <a:xfrm>
            <a:off x="424942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CFC549FB-BF09-0036-D895-55881372BC30}"/>
              </a:ext>
            </a:extLst>
          </p:cNvPr>
          <p:cNvSpPr/>
          <p:nvPr/>
        </p:nvSpPr>
        <p:spPr>
          <a:xfrm>
            <a:off x="435102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3</a:t>
            </a:r>
          </a:p>
        </p:txBody>
      </p:sp>
      <p:sp>
        <p:nvSpPr>
          <p:cNvPr id="22" name="TextBox 21">
            <a:extLst>
              <a:ext uri="{FF2B5EF4-FFF2-40B4-BE49-F238E27FC236}">
                <a16:creationId xmlns:a16="http://schemas.microsoft.com/office/drawing/2014/main" id="{00E8EF71-A55D-6438-5070-24E1660BA4CB}"/>
              </a:ext>
            </a:extLst>
          </p:cNvPr>
          <p:cNvSpPr txBox="1"/>
          <p:nvPr/>
        </p:nvSpPr>
        <p:spPr>
          <a:xfrm>
            <a:off x="470662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Build</a:t>
            </a:r>
          </a:p>
        </p:txBody>
      </p:sp>
      <p:sp>
        <p:nvSpPr>
          <p:cNvPr id="23" name="Rectangle 22">
            <a:extLst>
              <a:ext uri="{FF2B5EF4-FFF2-40B4-BE49-F238E27FC236}">
                <a16:creationId xmlns:a16="http://schemas.microsoft.com/office/drawing/2014/main" id="{CA51AC5E-F62E-8053-72DB-7FEE33CA5123}"/>
              </a:ext>
            </a:extLst>
          </p:cNvPr>
          <p:cNvSpPr/>
          <p:nvPr/>
        </p:nvSpPr>
        <p:spPr>
          <a:xfrm>
            <a:off x="437642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C43083C5-BDC9-2A48-170C-3D98CE3E5B79}"/>
              </a:ext>
            </a:extLst>
          </p:cNvPr>
          <p:cNvSpPr txBox="1"/>
          <p:nvPr/>
        </p:nvSpPr>
        <p:spPr>
          <a:xfrm>
            <a:off x="430022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What replaces it?</a:t>
            </a:r>
          </a:p>
        </p:txBody>
      </p:sp>
      <p:sp>
        <p:nvSpPr>
          <p:cNvPr id="25" name="TextBox 24">
            <a:extLst>
              <a:ext uri="{FF2B5EF4-FFF2-40B4-BE49-F238E27FC236}">
                <a16:creationId xmlns:a16="http://schemas.microsoft.com/office/drawing/2014/main" id="{D7EC272E-C4FD-5D97-08EC-C0529EC13B86}"/>
              </a:ext>
            </a:extLst>
          </p:cNvPr>
          <p:cNvSpPr txBox="1"/>
          <p:nvPr/>
        </p:nvSpPr>
        <p:spPr>
          <a:xfrm>
            <a:off x="430022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Database, business rules, security and services, generated from the model.</a:t>
            </a:r>
          </a:p>
        </p:txBody>
      </p:sp>
      <p:sp>
        <p:nvSpPr>
          <p:cNvPr id="26" name="Arrow: Right 25">
            <a:extLst>
              <a:ext uri="{FF2B5EF4-FFF2-40B4-BE49-F238E27FC236}">
                <a16:creationId xmlns:a16="http://schemas.microsoft.com/office/drawing/2014/main" id="{D1AC57F3-C211-F243-2DA6-5EB29D4F504C}"/>
              </a:ext>
            </a:extLst>
          </p:cNvPr>
          <p:cNvSpPr/>
          <p:nvPr/>
        </p:nvSpPr>
        <p:spPr>
          <a:xfrm>
            <a:off x="602742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Rounded Corners 26">
            <a:extLst>
              <a:ext uri="{FF2B5EF4-FFF2-40B4-BE49-F238E27FC236}">
                <a16:creationId xmlns:a16="http://schemas.microsoft.com/office/drawing/2014/main" id="{3E24F8E7-8C41-BAEF-AA13-E544F7384CA7}"/>
              </a:ext>
            </a:extLst>
          </p:cNvPr>
          <p:cNvSpPr/>
          <p:nvPr/>
        </p:nvSpPr>
        <p:spPr>
          <a:xfrm>
            <a:off x="617728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91FD3A66-EC0D-5D99-62AA-231F24799107}"/>
              </a:ext>
            </a:extLst>
          </p:cNvPr>
          <p:cNvSpPr/>
          <p:nvPr/>
        </p:nvSpPr>
        <p:spPr>
          <a:xfrm>
            <a:off x="627888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4</a:t>
            </a:r>
          </a:p>
        </p:txBody>
      </p:sp>
      <p:sp>
        <p:nvSpPr>
          <p:cNvPr id="29" name="TextBox 28">
            <a:extLst>
              <a:ext uri="{FF2B5EF4-FFF2-40B4-BE49-F238E27FC236}">
                <a16:creationId xmlns:a16="http://schemas.microsoft.com/office/drawing/2014/main" id="{4D704E0D-F7C0-E28D-85B9-796CC130278B}"/>
              </a:ext>
            </a:extLst>
          </p:cNvPr>
          <p:cNvSpPr txBox="1"/>
          <p:nvPr/>
        </p:nvSpPr>
        <p:spPr>
          <a:xfrm>
            <a:off x="663448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Migrate</a:t>
            </a:r>
          </a:p>
        </p:txBody>
      </p:sp>
      <p:sp>
        <p:nvSpPr>
          <p:cNvPr id="30" name="Rectangle 29">
            <a:extLst>
              <a:ext uri="{FF2B5EF4-FFF2-40B4-BE49-F238E27FC236}">
                <a16:creationId xmlns:a16="http://schemas.microsoft.com/office/drawing/2014/main" id="{8957E132-0767-D69E-DCBA-0CC432B3859F}"/>
              </a:ext>
            </a:extLst>
          </p:cNvPr>
          <p:cNvSpPr/>
          <p:nvPr/>
        </p:nvSpPr>
        <p:spPr>
          <a:xfrm>
            <a:off x="630428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EEB9E591-3691-04E9-6B5C-2F2AFDB33C1E}"/>
              </a:ext>
            </a:extLst>
          </p:cNvPr>
          <p:cNvSpPr txBox="1"/>
          <p:nvPr/>
        </p:nvSpPr>
        <p:spPr>
          <a:xfrm>
            <a:off x="622808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How does the data move?</a:t>
            </a:r>
          </a:p>
        </p:txBody>
      </p:sp>
      <p:sp>
        <p:nvSpPr>
          <p:cNvPr id="32" name="TextBox 31">
            <a:extLst>
              <a:ext uri="{FF2B5EF4-FFF2-40B4-BE49-F238E27FC236}">
                <a16:creationId xmlns:a16="http://schemas.microsoft.com/office/drawing/2014/main" id="{2E6B497E-68B0-9188-EB5B-71AEAB15F276}"/>
              </a:ext>
            </a:extLst>
          </p:cNvPr>
          <p:cNvSpPr txBox="1"/>
          <p:nvPr/>
        </p:nvSpPr>
        <p:spPr>
          <a:xfrm>
            <a:off x="622808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In dependency order, with Salesforce record IDs kept.</a:t>
            </a:r>
          </a:p>
        </p:txBody>
      </p:sp>
      <p:sp>
        <p:nvSpPr>
          <p:cNvPr id="33" name="Arrow: Right 32">
            <a:extLst>
              <a:ext uri="{FF2B5EF4-FFF2-40B4-BE49-F238E27FC236}">
                <a16:creationId xmlns:a16="http://schemas.microsoft.com/office/drawing/2014/main" id="{8C193A70-6E1A-76FB-8FE2-0FBE8DE0F4A2}"/>
              </a:ext>
            </a:extLst>
          </p:cNvPr>
          <p:cNvSpPr/>
          <p:nvPr/>
        </p:nvSpPr>
        <p:spPr>
          <a:xfrm>
            <a:off x="795528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B687A1D6-ABE6-EBEE-60FF-944C4A0CAA86}"/>
              </a:ext>
            </a:extLst>
          </p:cNvPr>
          <p:cNvSpPr/>
          <p:nvPr/>
        </p:nvSpPr>
        <p:spPr>
          <a:xfrm>
            <a:off x="810514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Rounded Corners 34">
            <a:extLst>
              <a:ext uri="{FF2B5EF4-FFF2-40B4-BE49-F238E27FC236}">
                <a16:creationId xmlns:a16="http://schemas.microsoft.com/office/drawing/2014/main" id="{D201C359-536B-EBDB-F8D9-6D325C76A5AD}"/>
              </a:ext>
            </a:extLst>
          </p:cNvPr>
          <p:cNvSpPr/>
          <p:nvPr/>
        </p:nvSpPr>
        <p:spPr>
          <a:xfrm>
            <a:off x="820674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5</a:t>
            </a:r>
          </a:p>
        </p:txBody>
      </p:sp>
      <p:sp>
        <p:nvSpPr>
          <p:cNvPr id="36" name="TextBox 35">
            <a:extLst>
              <a:ext uri="{FF2B5EF4-FFF2-40B4-BE49-F238E27FC236}">
                <a16:creationId xmlns:a16="http://schemas.microsoft.com/office/drawing/2014/main" id="{52ABC66C-7511-E72B-087A-36F34FDD39AC}"/>
              </a:ext>
            </a:extLst>
          </p:cNvPr>
          <p:cNvSpPr txBox="1"/>
          <p:nvPr/>
        </p:nvSpPr>
        <p:spPr>
          <a:xfrm>
            <a:off x="856234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Validate</a:t>
            </a:r>
          </a:p>
        </p:txBody>
      </p:sp>
      <p:sp>
        <p:nvSpPr>
          <p:cNvPr id="37" name="Rectangle 36">
            <a:extLst>
              <a:ext uri="{FF2B5EF4-FFF2-40B4-BE49-F238E27FC236}">
                <a16:creationId xmlns:a16="http://schemas.microsoft.com/office/drawing/2014/main" id="{FD8C042A-39AC-B0C4-938C-664CD879E96C}"/>
              </a:ext>
            </a:extLst>
          </p:cNvPr>
          <p:cNvSpPr/>
          <p:nvPr/>
        </p:nvSpPr>
        <p:spPr>
          <a:xfrm>
            <a:off x="823214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663F7149-106A-126D-33F3-71EB9B009F84}"/>
              </a:ext>
            </a:extLst>
          </p:cNvPr>
          <p:cNvSpPr txBox="1"/>
          <p:nvPr/>
        </p:nvSpPr>
        <p:spPr>
          <a:xfrm>
            <a:off x="815594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Does it behave the same?</a:t>
            </a:r>
          </a:p>
        </p:txBody>
      </p:sp>
      <p:sp>
        <p:nvSpPr>
          <p:cNvPr id="39" name="TextBox 38">
            <a:extLst>
              <a:ext uri="{FF2B5EF4-FFF2-40B4-BE49-F238E27FC236}">
                <a16:creationId xmlns:a16="http://schemas.microsoft.com/office/drawing/2014/main" id="{C3E44D85-1B16-19FB-580F-CBDE790DDDDD}"/>
              </a:ext>
            </a:extLst>
          </p:cNvPr>
          <p:cNvSpPr txBox="1"/>
          <p:nvPr/>
        </p:nvSpPr>
        <p:spPr>
          <a:xfrm>
            <a:off x="815594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Calculated values and rule outcomes checked against the org.</a:t>
            </a:r>
          </a:p>
        </p:txBody>
      </p:sp>
      <p:sp>
        <p:nvSpPr>
          <p:cNvPr id="40" name="Arrow: Right 39">
            <a:extLst>
              <a:ext uri="{FF2B5EF4-FFF2-40B4-BE49-F238E27FC236}">
                <a16:creationId xmlns:a16="http://schemas.microsoft.com/office/drawing/2014/main" id="{6D86566B-1794-F36A-F13F-9BB000C1FE16}"/>
              </a:ext>
            </a:extLst>
          </p:cNvPr>
          <p:cNvSpPr/>
          <p:nvPr/>
        </p:nvSpPr>
        <p:spPr>
          <a:xfrm>
            <a:off x="9883140" y="2235200"/>
            <a:ext cx="12446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Rounded Corners 40">
            <a:extLst>
              <a:ext uri="{FF2B5EF4-FFF2-40B4-BE49-F238E27FC236}">
                <a16:creationId xmlns:a16="http://schemas.microsoft.com/office/drawing/2014/main" id="{0432C72C-3537-D605-BBFE-93761E508AB5}"/>
              </a:ext>
            </a:extLst>
          </p:cNvPr>
          <p:cNvSpPr/>
          <p:nvPr/>
        </p:nvSpPr>
        <p:spPr>
          <a:xfrm>
            <a:off x="10033000" y="1371600"/>
            <a:ext cx="1752600" cy="1905000"/>
          </a:xfrm>
          <a:prstGeom prst="roundRect">
            <a:avLst>
              <a:gd name="adj" fmla="val 5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Rounded Corners 41">
            <a:extLst>
              <a:ext uri="{FF2B5EF4-FFF2-40B4-BE49-F238E27FC236}">
                <a16:creationId xmlns:a16="http://schemas.microsoft.com/office/drawing/2014/main" id="{CEED14B7-4C62-CEC6-C885-47CD6BC7FD18}"/>
              </a:ext>
            </a:extLst>
          </p:cNvPr>
          <p:cNvSpPr/>
          <p:nvPr/>
        </p:nvSpPr>
        <p:spPr>
          <a:xfrm>
            <a:off x="10134600" y="1498600"/>
            <a:ext cx="330200" cy="3302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100" b="1">
                <a:solidFill>
                  <a:srgbClr val="FFFFFF"/>
                </a:solidFill>
                <a:latin typeface="Aptos" panose="020B0004020202020204" pitchFamily="34" charset="0"/>
              </a:rPr>
              <a:t>6</a:t>
            </a:r>
          </a:p>
        </p:txBody>
      </p:sp>
      <p:sp>
        <p:nvSpPr>
          <p:cNvPr id="43" name="TextBox 42">
            <a:extLst>
              <a:ext uri="{FF2B5EF4-FFF2-40B4-BE49-F238E27FC236}">
                <a16:creationId xmlns:a16="http://schemas.microsoft.com/office/drawing/2014/main" id="{C0A5DDC9-8C9F-C691-E117-7C0A5A8F5A9A}"/>
              </a:ext>
            </a:extLst>
          </p:cNvPr>
          <p:cNvSpPr txBox="1"/>
          <p:nvPr/>
        </p:nvSpPr>
        <p:spPr>
          <a:xfrm>
            <a:off x="10490200" y="1485900"/>
            <a:ext cx="1244600" cy="369332"/>
          </a:xfrm>
          <a:prstGeom prst="rect">
            <a:avLst/>
          </a:prstGeom>
          <a:noFill/>
        </p:spPr>
        <p:txBody>
          <a:bodyPr vert="horz" wrap="square" lIns="76200" tIns="38100" rIns="76200" bIns="38100" rtlCol="0" anchor="ctr">
            <a:noAutofit/>
          </a:bodyPr>
          <a:lstStyle/>
          <a:p>
            <a:pPr>
              <a:spcAft>
                <a:spcPts val="300"/>
              </a:spcAft>
            </a:pPr>
            <a:r>
              <a:rPr lang="en-GB" sz="1400" b="1">
                <a:solidFill>
                  <a:srgbClr val="4B47A8"/>
                </a:solidFill>
                <a:latin typeface="Aptos" panose="020B0004020202020204" pitchFamily="34" charset="0"/>
              </a:rPr>
              <a:t>Go-live</a:t>
            </a:r>
          </a:p>
        </p:txBody>
      </p:sp>
      <p:sp>
        <p:nvSpPr>
          <p:cNvPr id="44" name="Rectangle 43">
            <a:extLst>
              <a:ext uri="{FF2B5EF4-FFF2-40B4-BE49-F238E27FC236}">
                <a16:creationId xmlns:a16="http://schemas.microsoft.com/office/drawing/2014/main" id="{D20082D4-A10D-7D32-A172-1CFA71BDCD1C}"/>
              </a:ext>
            </a:extLst>
          </p:cNvPr>
          <p:cNvSpPr/>
          <p:nvPr/>
        </p:nvSpPr>
        <p:spPr>
          <a:xfrm>
            <a:off x="10160000" y="1955800"/>
            <a:ext cx="1498600" cy="12700"/>
          </a:xfrm>
          <a:prstGeom prst="rect">
            <a:avLst/>
          </a:prstGeom>
          <a:solidFill>
            <a:srgbClr val="A79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959513AE-BC24-D9F0-D88C-46FF3F83A77C}"/>
              </a:ext>
            </a:extLst>
          </p:cNvPr>
          <p:cNvSpPr txBox="1"/>
          <p:nvPr/>
        </p:nvSpPr>
        <p:spPr>
          <a:xfrm>
            <a:off x="10083800" y="2032000"/>
            <a:ext cx="1651000" cy="369332"/>
          </a:xfrm>
          <a:prstGeom prst="rect">
            <a:avLst/>
          </a:prstGeom>
          <a:noFill/>
        </p:spPr>
        <p:txBody>
          <a:bodyPr vert="horz" wrap="square" lIns="76200" tIns="38100" rIns="76200" bIns="38100" rtlCol="0" anchor="t">
            <a:noAutofit/>
          </a:bodyPr>
          <a:lstStyle/>
          <a:p>
            <a:pPr>
              <a:spcAft>
                <a:spcPts val="300"/>
              </a:spcAft>
            </a:pPr>
            <a:r>
              <a:rPr lang="en-GB" sz="1150" b="1">
                <a:solidFill>
                  <a:srgbClr val="6666CC"/>
                </a:solidFill>
                <a:latin typeface="Aptos" panose="020B0004020202020204" pitchFamily="34" charset="0"/>
              </a:rPr>
              <a:t>How does it go live?</a:t>
            </a:r>
          </a:p>
        </p:txBody>
      </p:sp>
      <p:sp>
        <p:nvSpPr>
          <p:cNvPr id="46" name="TextBox 45">
            <a:extLst>
              <a:ext uri="{FF2B5EF4-FFF2-40B4-BE49-F238E27FC236}">
                <a16:creationId xmlns:a16="http://schemas.microsoft.com/office/drawing/2014/main" id="{41AA13A6-7478-8B65-46D0-126ECE763A75}"/>
              </a:ext>
            </a:extLst>
          </p:cNvPr>
          <p:cNvSpPr txBox="1"/>
          <p:nvPr/>
        </p:nvSpPr>
        <p:spPr>
          <a:xfrm>
            <a:off x="10083800" y="2489200"/>
            <a:ext cx="1651000" cy="369332"/>
          </a:xfrm>
          <a:prstGeom prst="rect">
            <a:avLst/>
          </a:prstGeom>
          <a:noFill/>
        </p:spPr>
        <p:txBody>
          <a:bodyPr vert="horz" wrap="square" lIns="76200" tIns="38100" rIns="76200" bIns="38100" rtlCol="0" anchor="t">
            <a:noAutofit/>
          </a:bodyPr>
          <a:lstStyle/>
          <a:p>
            <a:pPr>
              <a:spcAft>
                <a:spcPts val="300"/>
              </a:spcAft>
            </a:pPr>
            <a:r>
              <a:rPr lang="en-GB" sz="1050">
                <a:solidFill>
                  <a:srgbClr val="1F1F2E"/>
                </a:solidFill>
                <a:latin typeface="Century Gothic" panose="020B0502020202020204" pitchFamily="34" charset="0"/>
              </a:rPr>
              <a:t>Released to the cloud through CI/CD, one domain at a time.</a:t>
            </a:r>
          </a:p>
        </p:txBody>
      </p:sp>
      <p:sp>
        <p:nvSpPr>
          <p:cNvPr id="47" name="Rectangle: Rounded Corners 46">
            <a:extLst>
              <a:ext uri="{FF2B5EF4-FFF2-40B4-BE49-F238E27FC236}">
                <a16:creationId xmlns:a16="http://schemas.microsoft.com/office/drawing/2014/main" id="{F07C1DDC-3A36-09EC-B766-5052846D5301}"/>
              </a:ext>
            </a:extLst>
          </p:cNvPr>
          <p:cNvSpPr/>
          <p:nvPr/>
        </p:nvSpPr>
        <p:spPr>
          <a:xfrm>
            <a:off x="393700" y="3581400"/>
            <a:ext cx="3683000" cy="812800"/>
          </a:xfrm>
          <a:prstGeom prst="roundRect">
            <a:avLst>
              <a:gd name="adj" fmla="val 8000"/>
            </a:avLst>
          </a:prstGeom>
          <a:solidFill>
            <a:srgbClr val="F4F4F6"/>
          </a:solidFill>
          <a:ln w="12700">
            <a:solidFill>
              <a:srgbClr val="C9C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a:extLst>
              <a:ext uri="{FF2B5EF4-FFF2-40B4-BE49-F238E27FC236}">
                <a16:creationId xmlns:a16="http://schemas.microsoft.com/office/drawing/2014/main" id="{DF81338B-865C-BD7D-0695-B4F8313F5166}"/>
              </a:ext>
            </a:extLst>
          </p:cNvPr>
          <p:cNvSpPr txBox="1"/>
          <p:nvPr/>
        </p:nvSpPr>
        <p:spPr>
          <a:xfrm>
            <a:off x="495300" y="3670300"/>
            <a:ext cx="3479800" cy="369332"/>
          </a:xfrm>
          <a:prstGeom prst="rect">
            <a:avLst/>
          </a:prstGeom>
          <a:noFill/>
        </p:spPr>
        <p:txBody>
          <a:bodyPr vert="horz" wrap="square" lIns="76200" tIns="38100" rIns="76200" bIns="38100" rtlCol="0" anchor="t">
            <a:noAutofit/>
          </a:bodyPr>
          <a:lstStyle/>
          <a:p>
            <a:pPr>
              <a:spcAft>
                <a:spcPts val="300"/>
              </a:spcAft>
            </a:pPr>
            <a:r>
              <a:rPr lang="en-GB" sz="1200" b="1">
                <a:solidFill>
                  <a:srgbClr val="1F1F2E"/>
                </a:solidFill>
                <a:latin typeface="Century Gothic" panose="020B0502020202020204" pitchFamily="34" charset="0"/>
              </a:rPr>
              <a:t>From</a:t>
            </a:r>
          </a:p>
          <a:p>
            <a:pPr>
              <a:spcAft>
                <a:spcPts val="300"/>
              </a:spcAft>
            </a:pPr>
            <a:r>
              <a:rPr lang="en-GB" sz="1100">
                <a:solidFill>
                  <a:srgbClr val="1F1F2E"/>
                </a:solidFill>
                <a:latin typeface="Century Gothic" panose="020B0502020202020204" pitchFamily="34" charset="0"/>
              </a:rPr>
              <a:t>Salesforce org: metadata and data</a:t>
            </a:r>
          </a:p>
        </p:txBody>
      </p:sp>
      <p:sp>
        <p:nvSpPr>
          <p:cNvPr id="49" name="Rectangle: Rounded Corners 48">
            <a:extLst>
              <a:ext uri="{FF2B5EF4-FFF2-40B4-BE49-F238E27FC236}">
                <a16:creationId xmlns:a16="http://schemas.microsoft.com/office/drawing/2014/main" id="{D628C711-62A2-8E34-4D1A-0FF3AC68644F}"/>
              </a:ext>
            </a:extLst>
          </p:cNvPr>
          <p:cNvSpPr/>
          <p:nvPr/>
        </p:nvSpPr>
        <p:spPr>
          <a:xfrm>
            <a:off x="4248150" y="3581400"/>
            <a:ext cx="3683000" cy="812800"/>
          </a:xfrm>
          <a:prstGeom prst="roundRect">
            <a:avLst>
              <a:gd name="adj" fmla="val 8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TextBox 49">
            <a:extLst>
              <a:ext uri="{FF2B5EF4-FFF2-40B4-BE49-F238E27FC236}">
                <a16:creationId xmlns:a16="http://schemas.microsoft.com/office/drawing/2014/main" id="{663A8632-86BB-DED7-C7BA-4371E16C81E1}"/>
              </a:ext>
            </a:extLst>
          </p:cNvPr>
          <p:cNvSpPr txBox="1"/>
          <p:nvPr/>
        </p:nvSpPr>
        <p:spPr>
          <a:xfrm>
            <a:off x="4349750" y="3670300"/>
            <a:ext cx="3479800" cy="369332"/>
          </a:xfrm>
          <a:prstGeom prst="rect">
            <a:avLst/>
          </a:prstGeom>
          <a:noFill/>
        </p:spPr>
        <p:txBody>
          <a:bodyPr vert="horz" wrap="square" lIns="76200" tIns="38100" rIns="76200" bIns="38100" rtlCol="0" anchor="t">
            <a:noAutofit/>
          </a:bodyPr>
          <a:lstStyle/>
          <a:p>
            <a:pPr>
              <a:spcAft>
                <a:spcPts val="300"/>
              </a:spcAft>
            </a:pPr>
            <a:r>
              <a:rPr lang="en-GB" sz="1200" b="1">
                <a:solidFill>
                  <a:srgbClr val="006450"/>
                </a:solidFill>
                <a:latin typeface="Century Gothic" panose="020B0502020202020204" pitchFamily="34" charset="0"/>
              </a:rPr>
              <a:t>To</a:t>
            </a:r>
          </a:p>
          <a:p>
            <a:pPr>
              <a:spcAft>
                <a:spcPts val="300"/>
              </a:spcAft>
            </a:pPr>
            <a:r>
              <a:rPr lang="en-GB" sz="1100">
                <a:solidFill>
                  <a:srgbClr val="1F1F2E"/>
                </a:solidFill>
                <a:latin typeface="Century Gothic" panose="020B0502020202020204" pitchFamily="34" charset="0"/>
              </a:rPr>
              <a:t>Standard database and application code in the cloud</a:t>
            </a:r>
          </a:p>
        </p:txBody>
      </p:sp>
      <p:sp>
        <p:nvSpPr>
          <p:cNvPr id="51" name="Rectangle: Rounded Corners 50">
            <a:extLst>
              <a:ext uri="{FF2B5EF4-FFF2-40B4-BE49-F238E27FC236}">
                <a16:creationId xmlns:a16="http://schemas.microsoft.com/office/drawing/2014/main" id="{673BED19-0E81-0C00-30C6-5DB69E7A51D9}"/>
              </a:ext>
            </a:extLst>
          </p:cNvPr>
          <p:cNvSpPr/>
          <p:nvPr/>
        </p:nvSpPr>
        <p:spPr>
          <a:xfrm>
            <a:off x="8102600" y="3581400"/>
            <a:ext cx="3683000" cy="812800"/>
          </a:xfrm>
          <a:prstGeom prst="roundRect">
            <a:avLst>
              <a:gd name="adj" fmla="val 8000"/>
            </a:avLst>
          </a:prstGeom>
          <a:solidFill>
            <a:srgbClr val="FEF1E6"/>
          </a:solidFill>
          <a:ln w="12700">
            <a:solidFill>
              <a:srgbClr val="F7B2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30234BB-E32F-A7E7-73D6-D7B67E5951BE}"/>
              </a:ext>
            </a:extLst>
          </p:cNvPr>
          <p:cNvSpPr txBox="1"/>
          <p:nvPr/>
        </p:nvSpPr>
        <p:spPr>
          <a:xfrm>
            <a:off x="8204200" y="3670300"/>
            <a:ext cx="3479800" cy="369332"/>
          </a:xfrm>
          <a:prstGeom prst="rect">
            <a:avLst/>
          </a:prstGeom>
          <a:noFill/>
        </p:spPr>
        <p:txBody>
          <a:bodyPr vert="horz" wrap="square" lIns="76200" tIns="38100" rIns="76200" bIns="38100" rtlCol="0" anchor="t">
            <a:noAutofit/>
          </a:bodyPr>
          <a:lstStyle/>
          <a:p>
            <a:pPr>
              <a:spcAft>
                <a:spcPts val="300"/>
              </a:spcAft>
            </a:pPr>
            <a:r>
              <a:rPr lang="en-GB" sz="1200" b="1">
                <a:solidFill>
                  <a:srgbClr val="B05A0F"/>
                </a:solidFill>
                <a:latin typeface="Century Gothic" panose="020B0502020202020204" pitchFamily="34" charset="0"/>
              </a:rPr>
              <a:t>Throughout</a:t>
            </a:r>
          </a:p>
          <a:p>
            <a:pPr>
              <a:spcAft>
                <a:spcPts val="300"/>
              </a:spcAft>
            </a:pPr>
            <a:r>
              <a:rPr lang="en-GB" sz="1100">
                <a:solidFill>
                  <a:srgbClr val="1F1F2E"/>
                </a:solidFill>
                <a:latin typeface="Century Gothic" panose="020B0502020202020204" pitchFamily="34" charset="0"/>
              </a:rPr>
              <a:t>Salesforce stays live until each domain is cut over</a:t>
            </a:r>
          </a:p>
        </p:txBody>
      </p:sp>
      <p:sp>
        <p:nvSpPr>
          <p:cNvPr id="53" name="TextBox 52"/>
          <p:cNvSpPr txBox="1"/>
          <p:nvPr/>
        </p:nvSpPr>
        <p:spPr>
          <a:xfrm>
            <a:off x="393700" y="4470400"/>
            <a:ext cx="11391900" cy="276999"/>
          </a:xfrm>
          <a:prstGeom prst="rect">
            <a:avLst/>
          </a:prstGeom>
          <a:noFill/>
        </p:spPr>
        <p:txBody>
          <a:bodyPr vert="horz" wrap="square" lIns="76200" tIns="38100" rIns="76200" bIns="38100" rtlCol="0" anchor="t">
            <a:noAutofit/>
          </a:bodyPr>
          <a:lstStyle/>
          <a:p>
            <a:r>
              <a:rPr lang="en-GB" sz="1000" dirty="0">
                <a:solidFill>
                  <a:srgbClr val="5E6170"/>
                </a:solidFill>
                <a:latin typeface="Century Gothic" panose="020B0502020202020204" pitchFamily="34" charset="0"/>
              </a:rPr>
              <a:t>(Metadata = the org's design, not its records: objects, fields, relationships, rules, formulas, flows, Apex and permissions, as extracted by Org Compiler.)</a:t>
            </a:r>
          </a:p>
        </p:txBody>
      </p:sp>
    </p:spTree>
    <p:extLst>
      <p:ext uri="{BB962C8B-B14F-4D97-AF65-F5344CB8AC3E}">
        <p14:creationId xmlns:p14="http://schemas.microsoft.com/office/powerpoint/2010/main" val="4226738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F1AAF-8E80-020E-CBA1-42E034F0AF26}"/>
              </a:ext>
            </a:extLst>
          </p:cNvPr>
          <p:cNvSpPr>
            <a:spLocks noGrp="1"/>
          </p:cNvSpPr>
          <p:nvPr>
            <p:ph type="ctrTitle"/>
          </p:nvPr>
        </p:nvSpPr>
        <p:spPr>
          <a:xfrm>
            <a:off x="393700" y="203200"/>
            <a:ext cx="11391900" cy="508000"/>
          </a:xfrm>
        </p:spPr>
        <p:txBody>
          <a:bodyPr anchor="ctr">
            <a:normAutofit/>
          </a:bodyPr>
          <a:lstStyle/>
          <a:p>
            <a:r>
              <a:rPr lang="en-GB" sz="2400">
                <a:solidFill>
                  <a:srgbClr val="6666CC"/>
                </a:solidFill>
                <a:latin typeface="Aptos" panose="020B0004020202020204" pitchFamily="34" charset="0"/>
              </a:rPr>
              <a:t>Agentic workflow</a:t>
            </a:r>
          </a:p>
        </p:txBody>
      </p:sp>
      <p:cxnSp>
        <p:nvCxnSpPr>
          <p:cNvPr id="4" name="Straight Connector 3">
            <a:extLst>
              <a:ext uri="{FF2B5EF4-FFF2-40B4-BE49-F238E27FC236}">
                <a16:creationId xmlns:a16="http://schemas.microsoft.com/office/drawing/2014/main" id="{89ABFB5A-E533-0F91-DE56-D031688449B4}"/>
              </a:ext>
            </a:extLst>
          </p:cNvPr>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7A0211F-B7B9-DEDA-1D67-7509CFBCB41D}"/>
              </a:ext>
            </a:extLst>
          </p:cNvPr>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a:solidFill>
                  <a:srgbClr val="5E6170"/>
                </a:solidFill>
                <a:latin typeface="Century Gothic" panose="020B0502020202020204" pitchFamily="34" charset="0"/>
              </a:rPr>
              <a:t>One or more agents per phase. Each phase is reviewed before the next begins.</a:t>
            </a:r>
          </a:p>
        </p:txBody>
      </p:sp>
      <p:sp>
        <p:nvSpPr>
          <p:cNvPr id="6" name="Rectangle: Rounded Corners 5">
            <a:extLst>
              <a:ext uri="{FF2B5EF4-FFF2-40B4-BE49-F238E27FC236}">
                <a16:creationId xmlns:a16="http://schemas.microsoft.com/office/drawing/2014/main" id="{79E559DB-589A-6BC2-C52C-228694BC0A3A}"/>
              </a:ext>
            </a:extLst>
          </p:cNvPr>
          <p:cNvSpPr/>
          <p:nvPr/>
        </p:nvSpPr>
        <p:spPr>
          <a:xfrm>
            <a:off x="39370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1  Discover</a:t>
            </a:r>
          </a:p>
        </p:txBody>
      </p:sp>
      <p:sp>
        <p:nvSpPr>
          <p:cNvPr id="7" name="Diamond 6">
            <a:extLst>
              <a:ext uri="{FF2B5EF4-FFF2-40B4-BE49-F238E27FC236}">
                <a16:creationId xmlns:a16="http://schemas.microsoft.com/office/drawing/2014/main" id="{024C5FFB-B3A0-0DBD-DEEA-4589FA0190E0}"/>
              </a:ext>
            </a:extLst>
          </p:cNvPr>
          <p:cNvSpPr/>
          <p:nvPr/>
        </p:nvSpPr>
        <p:spPr>
          <a:xfrm>
            <a:off x="215773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14AE5F96-9C42-5F29-F95D-88EC9594BBE8}"/>
              </a:ext>
            </a:extLst>
          </p:cNvPr>
          <p:cNvSpPr/>
          <p:nvPr/>
        </p:nvSpPr>
        <p:spPr>
          <a:xfrm>
            <a:off x="39370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72473DBB-6DB0-0C50-557C-A766DAB94BED}"/>
              </a:ext>
            </a:extLst>
          </p:cNvPr>
          <p:cNvSpPr txBox="1"/>
          <p:nvPr/>
        </p:nvSpPr>
        <p:spPr>
          <a:xfrm>
            <a:off x="41910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Extraction agent</a:t>
            </a:r>
          </a:p>
          <a:p>
            <a:pPr algn="ctr">
              <a:spcAft>
                <a:spcPts val="300"/>
              </a:spcAft>
            </a:pPr>
            <a:r>
              <a:rPr lang="en-GB" sz="950">
                <a:solidFill>
                  <a:srgbClr val="1F1F2E"/>
                </a:solidFill>
                <a:latin typeface="Century Gothic" panose="020B0502020202020204" pitchFamily="34" charset="0"/>
              </a:rPr>
              <a:t>Metadata and data</a:t>
            </a:r>
          </a:p>
        </p:txBody>
      </p:sp>
      <p:sp>
        <p:nvSpPr>
          <p:cNvPr id="10" name="Rectangle: Rounded Corners 9">
            <a:extLst>
              <a:ext uri="{FF2B5EF4-FFF2-40B4-BE49-F238E27FC236}">
                <a16:creationId xmlns:a16="http://schemas.microsoft.com/office/drawing/2014/main" id="{B7BE9FB1-6478-CE18-AEFD-F7FE762C6C73}"/>
              </a:ext>
            </a:extLst>
          </p:cNvPr>
          <p:cNvSpPr/>
          <p:nvPr/>
        </p:nvSpPr>
        <p:spPr>
          <a:xfrm>
            <a:off x="232156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2  Design</a:t>
            </a:r>
          </a:p>
        </p:txBody>
      </p:sp>
      <p:sp>
        <p:nvSpPr>
          <p:cNvPr id="11" name="Diamond 10">
            <a:extLst>
              <a:ext uri="{FF2B5EF4-FFF2-40B4-BE49-F238E27FC236}">
                <a16:creationId xmlns:a16="http://schemas.microsoft.com/office/drawing/2014/main" id="{F39B7888-8B2A-CCE1-0047-886660AF5643}"/>
              </a:ext>
            </a:extLst>
          </p:cNvPr>
          <p:cNvSpPr/>
          <p:nvPr/>
        </p:nvSpPr>
        <p:spPr>
          <a:xfrm>
            <a:off x="408559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3C765E68-51C1-6DAC-1A37-2D8A2A7CF87D}"/>
              </a:ext>
            </a:extLst>
          </p:cNvPr>
          <p:cNvSpPr/>
          <p:nvPr/>
        </p:nvSpPr>
        <p:spPr>
          <a:xfrm>
            <a:off x="232156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9C04201-D1C4-6E53-8FD0-0A6875327EC4}"/>
              </a:ext>
            </a:extLst>
          </p:cNvPr>
          <p:cNvSpPr txBox="1"/>
          <p:nvPr/>
        </p:nvSpPr>
        <p:spPr>
          <a:xfrm>
            <a:off x="234696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Modelling agent</a:t>
            </a:r>
          </a:p>
          <a:p>
            <a:pPr algn="ctr">
              <a:spcAft>
                <a:spcPts val="300"/>
              </a:spcAft>
            </a:pPr>
            <a:r>
              <a:rPr lang="en-GB" sz="950">
                <a:solidFill>
                  <a:srgbClr val="1F1F2E"/>
                </a:solidFill>
                <a:latin typeface="Century Gothic" panose="020B0502020202020204" pitchFamily="34" charset="0"/>
              </a:rPr>
              <a:t>Platform-independent model</a:t>
            </a:r>
          </a:p>
        </p:txBody>
      </p:sp>
      <p:sp>
        <p:nvSpPr>
          <p:cNvPr id="14" name="Rectangle: Rounded Corners 13">
            <a:extLst>
              <a:ext uri="{FF2B5EF4-FFF2-40B4-BE49-F238E27FC236}">
                <a16:creationId xmlns:a16="http://schemas.microsoft.com/office/drawing/2014/main" id="{2AE35CCD-0133-89C5-0F7B-476F8D9F6FCC}"/>
              </a:ext>
            </a:extLst>
          </p:cNvPr>
          <p:cNvSpPr/>
          <p:nvPr/>
        </p:nvSpPr>
        <p:spPr>
          <a:xfrm>
            <a:off x="424942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3  Build</a:t>
            </a:r>
          </a:p>
        </p:txBody>
      </p:sp>
      <p:sp>
        <p:nvSpPr>
          <p:cNvPr id="15" name="Diamond 14">
            <a:extLst>
              <a:ext uri="{FF2B5EF4-FFF2-40B4-BE49-F238E27FC236}">
                <a16:creationId xmlns:a16="http://schemas.microsoft.com/office/drawing/2014/main" id="{2292F22F-FE7D-8926-464E-1C45D4F484B5}"/>
              </a:ext>
            </a:extLst>
          </p:cNvPr>
          <p:cNvSpPr/>
          <p:nvPr/>
        </p:nvSpPr>
        <p:spPr>
          <a:xfrm>
            <a:off x="601345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726CC569-C8F3-405D-4332-3F34482FE695}"/>
              </a:ext>
            </a:extLst>
          </p:cNvPr>
          <p:cNvSpPr/>
          <p:nvPr/>
        </p:nvSpPr>
        <p:spPr>
          <a:xfrm>
            <a:off x="424942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BC86A0D5-0477-BCBC-FC6D-FDC5A712CF3C}"/>
              </a:ext>
            </a:extLst>
          </p:cNvPr>
          <p:cNvSpPr txBox="1"/>
          <p:nvPr/>
        </p:nvSpPr>
        <p:spPr>
          <a:xfrm>
            <a:off x="427482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Schema agent</a:t>
            </a:r>
          </a:p>
          <a:p>
            <a:pPr algn="ctr">
              <a:spcAft>
                <a:spcPts val="300"/>
              </a:spcAft>
            </a:pPr>
            <a:r>
              <a:rPr lang="en-GB" sz="950">
                <a:solidFill>
                  <a:srgbClr val="1F1F2E"/>
                </a:solidFill>
                <a:latin typeface="Century Gothic" panose="020B0502020202020204" pitchFamily="34" charset="0"/>
              </a:rPr>
              <a:t>Tables, keys, calculations</a:t>
            </a:r>
          </a:p>
        </p:txBody>
      </p:sp>
      <p:sp>
        <p:nvSpPr>
          <p:cNvPr id="18" name="Rectangle: Rounded Corners 17">
            <a:extLst>
              <a:ext uri="{FF2B5EF4-FFF2-40B4-BE49-F238E27FC236}">
                <a16:creationId xmlns:a16="http://schemas.microsoft.com/office/drawing/2014/main" id="{C27E3452-7F86-F9BD-E722-95CF4C4A432F}"/>
              </a:ext>
            </a:extLst>
          </p:cNvPr>
          <p:cNvSpPr/>
          <p:nvPr/>
        </p:nvSpPr>
        <p:spPr>
          <a:xfrm>
            <a:off x="4249420" y="25654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59951012-E844-D8A8-D07F-51959F9E852E}"/>
              </a:ext>
            </a:extLst>
          </p:cNvPr>
          <p:cNvSpPr txBox="1"/>
          <p:nvPr/>
        </p:nvSpPr>
        <p:spPr>
          <a:xfrm>
            <a:off x="4274820" y="26162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Logic agent</a:t>
            </a:r>
          </a:p>
          <a:p>
            <a:pPr algn="ctr">
              <a:spcAft>
                <a:spcPts val="300"/>
              </a:spcAft>
            </a:pPr>
            <a:r>
              <a:rPr lang="en-GB" sz="950">
                <a:solidFill>
                  <a:srgbClr val="1F1F2E"/>
                </a:solidFill>
                <a:latin typeface="Century Gothic" panose="020B0502020202020204" pitchFamily="34" charset="0"/>
              </a:rPr>
              <a:t>Rules and services</a:t>
            </a:r>
          </a:p>
        </p:txBody>
      </p:sp>
      <p:sp>
        <p:nvSpPr>
          <p:cNvPr id="20" name="Rectangle: Rounded Corners 19">
            <a:extLst>
              <a:ext uri="{FF2B5EF4-FFF2-40B4-BE49-F238E27FC236}">
                <a16:creationId xmlns:a16="http://schemas.microsoft.com/office/drawing/2014/main" id="{670BF001-57C1-DFD1-716B-42BC4F40D5F5}"/>
              </a:ext>
            </a:extLst>
          </p:cNvPr>
          <p:cNvSpPr/>
          <p:nvPr/>
        </p:nvSpPr>
        <p:spPr>
          <a:xfrm>
            <a:off x="4249420" y="33020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1B87742B-77DD-3676-1F15-4826E14701BC}"/>
              </a:ext>
            </a:extLst>
          </p:cNvPr>
          <p:cNvSpPr txBox="1"/>
          <p:nvPr/>
        </p:nvSpPr>
        <p:spPr>
          <a:xfrm>
            <a:off x="4274820" y="33528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Security agent</a:t>
            </a:r>
          </a:p>
          <a:p>
            <a:pPr algn="ctr">
              <a:spcAft>
                <a:spcPts val="300"/>
              </a:spcAft>
            </a:pPr>
            <a:r>
              <a:rPr lang="en-GB" sz="950">
                <a:solidFill>
                  <a:srgbClr val="1F1F2E"/>
                </a:solidFill>
                <a:latin typeface="Century Gothic" panose="020B0502020202020204" pitchFamily="34" charset="0"/>
              </a:rPr>
              <a:t>Roles and access</a:t>
            </a:r>
          </a:p>
        </p:txBody>
      </p:sp>
      <p:sp>
        <p:nvSpPr>
          <p:cNvPr id="22" name="Rectangle: Rounded Corners 21">
            <a:extLst>
              <a:ext uri="{FF2B5EF4-FFF2-40B4-BE49-F238E27FC236}">
                <a16:creationId xmlns:a16="http://schemas.microsoft.com/office/drawing/2014/main" id="{977892EA-AAF5-7169-9561-930208B1A924}"/>
              </a:ext>
            </a:extLst>
          </p:cNvPr>
          <p:cNvSpPr/>
          <p:nvPr/>
        </p:nvSpPr>
        <p:spPr>
          <a:xfrm>
            <a:off x="617728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4  Migrate</a:t>
            </a:r>
          </a:p>
        </p:txBody>
      </p:sp>
      <p:sp>
        <p:nvSpPr>
          <p:cNvPr id="23" name="Diamond 22">
            <a:extLst>
              <a:ext uri="{FF2B5EF4-FFF2-40B4-BE49-F238E27FC236}">
                <a16:creationId xmlns:a16="http://schemas.microsoft.com/office/drawing/2014/main" id="{89117509-590E-C997-3F7A-EEA361C86ED2}"/>
              </a:ext>
            </a:extLst>
          </p:cNvPr>
          <p:cNvSpPr/>
          <p:nvPr/>
        </p:nvSpPr>
        <p:spPr>
          <a:xfrm>
            <a:off x="794131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2117E437-2267-5C27-C4AC-502D21740A9B}"/>
              </a:ext>
            </a:extLst>
          </p:cNvPr>
          <p:cNvSpPr/>
          <p:nvPr/>
        </p:nvSpPr>
        <p:spPr>
          <a:xfrm>
            <a:off x="617728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2BEBF54-7D6B-6DA5-AF66-8CC3415EE40E}"/>
              </a:ext>
            </a:extLst>
          </p:cNvPr>
          <p:cNvSpPr txBox="1"/>
          <p:nvPr/>
        </p:nvSpPr>
        <p:spPr>
          <a:xfrm>
            <a:off x="620268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Data load agent</a:t>
            </a:r>
          </a:p>
          <a:p>
            <a:pPr algn="ctr">
              <a:spcAft>
                <a:spcPts val="300"/>
              </a:spcAft>
            </a:pPr>
            <a:r>
              <a:rPr lang="en-GB" sz="950">
                <a:solidFill>
                  <a:srgbClr val="1F1F2E"/>
                </a:solidFill>
                <a:latin typeface="Century Gothic" panose="020B0502020202020204" pitchFamily="34" charset="0"/>
              </a:rPr>
              <a:t>Migrated, reconciled data</a:t>
            </a:r>
          </a:p>
        </p:txBody>
      </p:sp>
      <p:sp>
        <p:nvSpPr>
          <p:cNvPr id="26" name="Rectangle: Rounded Corners 25">
            <a:extLst>
              <a:ext uri="{FF2B5EF4-FFF2-40B4-BE49-F238E27FC236}">
                <a16:creationId xmlns:a16="http://schemas.microsoft.com/office/drawing/2014/main" id="{157E4148-D8B6-19D2-A40A-F9F62A9DD7E4}"/>
              </a:ext>
            </a:extLst>
          </p:cNvPr>
          <p:cNvSpPr/>
          <p:nvPr/>
        </p:nvSpPr>
        <p:spPr>
          <a:xfrm>
            <a:off x="810514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5  Validate</a:t>
            </a:r>
          </a:p>
        </p:txBody>
      </p:sp>
      <p:sp>
        <p:nvSpPr>
          <p:cNvPr id="27" name="Diamond 26">
            <a:extLst>
              <a:ext uri="{FF2B5EF4-FFF2-40B4-BE49-F238E27FC236}">
                <a16:creationId xmlns:a16="http://schemas.microsoft.com/office/drawing/2014/main" id="{9600B966-B883-A6DA-F7F4-AFDD4DD1ECCB}"/>
              </a:ext>
            </a:extLst>
          </p:cNvPr>
          <p:cNvSpPr/>
          <p:nvPr/>
        </p:nvSpPr>
        <p:spPr>
          <a:xfrm>
            <a:off x="9869170" y="1447800"/>
            <a:ext cx="152400" cy="1524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13F4867A-8254-DBE2-045A-13C50395DE99}"/>
              </a:ext>
            </a:extLst>
          </p:cNvPr>
          <p:cNvSpPr/>
          <p:nvPr/>
        </p:nvSpPr>
        <p:spPr>
          <a:xfrm>
            <a:off x="810514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20DB8097-C00F-0E6B-5C03-E67373FD0571}"/>
              </a:ext>
            </a:extLst>
          </p:cNvPr>
          <p:cNvSpPr txBox="1"/>
          <p:nvPr/>
        </p:nvSpPr>
        <p:spPr>
          <a:xfrm>
            <a:off x="813054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Verification agent</a:t>
            </a:r>
          </a:p>
          <a:p>
            <a:pPr algn="ctr">
              <a:spcAft>
                <a:spcPts val="300"/>
              </a:spcAft>
            </a:pPr>
            <a:r>
              <a:rPr lang="en-GB" sz="950">
                <a:solidFill>
                  <a:srgbClr val="1F1F2E"/>
                </a:solidFill>
                <a:latin typeface="Century Gothic" panose="020B0502020202020204" pitchFamily="34" charset="0"/>
              </a:rPr>
              <a:t>Checked against the org</a:t>
            </a:r>
          </a:p>
        </p:txBody>
      </p:sp>
      <p:sp>
        <p:nvSpPr>
          <p:cNvPr id="30" name="Rectangle: Rounded Corners 29">
            <a:extLst>
              <a:ext uri="{FF2B5EF4-FFF2-40B4-BE49-F238E27FC236}">
                <a16:creationId xmlns:a16="http://schemas.microsoft.com/office/drawing/2014/main" id="{90A6FAC5-3BEF-D652-84FC-7CED40AF8919}"/>
              </a:ext>
            </a:extLst>
          </p:cNvPr>
          <p:cNvSpPr/>
          <p:nvPr/>
        </p:nvSpPr>
        <p:spPr>
          <a:xfrm>
            <a:off x="8105140" y="25654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ADE619FC-439A-79AB-D147-A4CA2203A13F}"/>
              </a:ext>
            </a:extLst>
          </p:cNvPr>
          <p:cNvSpPr txBox="1"/>
          <p:nvPr/>
        </p:nvSpPr>
        <p:spPr>
          <a:xfrm>
            <a:off x="8130540" y="26162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Repair agent</a:t>
            </a:r>
          </a:p>
          <a:p>
            <a:pPr algn="ctr">
              <a:spcAft>
                <a:spcPts val="300"/>
              </a:spcAft>
            </a:pPr>
            <a:r>
              <a:rPr lang="en-GB" sz="950">
                <a:solidFill>
                  <a:srgbClr val="1F1F2E"/>
                </a:solidFill>
                <a:latin typeface="Century Gothic" panose="020B0502020202020204" pitchFamily="34" charset="0"/>
              </a:rPr>
              <a:t>Fixes on failure</a:t>
            </a:r>
          </a:p>
        </p:txBody>
      </p:sp>
      <p:sp>
        <p:nvSpPr>
          <p:cNvPr id="32" name="Rectangle: Rounded Corners 31">
            <a:extLst>
              <a:ext uri="{FF2B5EF4-FFF2-40B4-BE49-F238E27FC236}">
                <a16:creationId xmlns:a16="http://schemas.microsoft.com/office/drawing/2014/main" id="{2B474F89-FDEE-AA93-4E62-DA1710A166EC}"/>
              </a:ext>
            </a:extLst>
          </p:cNvPr>
          <p:cNvSpPr/>
          <p:nvPr/>
        </p:nvSpPr>
        <p:spPr>
          <a:xfrm>
            <a:off x="10033000" y="1320800"/>
            <a:ext cx="1752600" cy="406400"/>
          </a:xfrm>
          <a:prstGeom prst="roundRect">
            <a:avLst>
              <a:gd name="adj" fmla="val 15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250" b="1">
                <a:solidFill>
                  <a:srgbClr val="FFFFFF"/>
                </a:solidFill>
                <a:latin typeface="Aptos" panose="020B0004020202020204" pitchFamily="34" charset="0"/>
              </a:rPr>
              <a:t>6  Go-live</a:t>
            </a:r>
          </a:p>
        </p:txBody>
      </p:sp>
      <p:sp>
        <p:nvSpPr>
          <p:cNvPr id="33" name="Rectangle: Rounded Corners 32">
            <a:extLst>
              <a:ext uri="{FF2B5EF4-FFF2-40B4-BE49-F238E27FC236}">
                <a16:creationId xmlns:a16="http://schemas.microsoft.com/office/drawing/2014/main" id="{78536B30-4FC7-88CE-846B-15BCF23BB332}"/>
              </a:ext>
            </a:extLst>
          </p:cNvPr>
          <p:cNvSpPr/>
          <p:nvPr/>
        </p:nvSpPr>
        <p:spPr>
          <a:xfrm>
            <a:off x="10033000" y="1828800"/>
            <a:ext cx="1752600" cy="660400"/>
          </a:xfrm>
          <a:prstGeom prst="roundRect">
            <a:avLst>
              <a:gd name="adj" fmla="val 10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CA0F9787-2081-4FD9-4BC3-B572B83FACEC}"/>
              </a:ext>
            </a:extLst>
          </p:cNvPr>
          <p:cNvSpPr txBox="1"/>
          <p:nvPr/>
        </p:nvSpPr>
        <p:spPr>
          <a:xfrm>
            <a:off x="10058400" y="1879600"/>
            <a:ext cx="1701800" cy="369332"/>
          </a:xfrm>
          <a:prstGeom prst="rect">
            <a:avLst/>
          </a:prstGeom>
          <a:noFill/>
        </p:spPr>
        <p:txBody>
          <a:bodyPr vert="horz" wrap="square" lIns="76200" tIns="38100" rIns="76200" bIns="38100" rtlCol="0" anchor="t">
            <a:noAutofit/>
          </a:bodyPr>
          <a:lstStyle/>
          <a:p>
            <a:pPr algn="ctr">
              <a:spcAft>
                <a:spcPts val="300"/>
              </a:spcAft>
            </a:pPr>
            <a:r>
              <a:rPr lang="en-GB" sz="1050" b="1">
                <a:solidFill>
                  <a:srgbClr val="4B47A8"/>
                </a:solidFill>
                <a:latin typeface="Century Gothic" panose="020B0502020202020204" pitchFamily="34" charset="0"/>
              </a:rPr>
              <a:t>CI/CD pipeline</a:t>
            </a:r>
          </a:p>
          <a:p>
            <a:pPr algn="ctr">
              <a:spcAft>
                <a:spcPts val="300"/>
              </a:spcAft>
            </a:pPr>
            <a:r>
              <a:rPr lang="en-GB" sz="950">
                <a:solidFill>
                  <a:srgbClr val="1F1F2E"/>
                </a:solidFill>
                <a:latin typeface="Century Gothic" panose="020B0502020202020204" pitchFamily="34" charset="0"/>
              </a:rPr>
              <a:t>Tests and release</a:t>
            </a:r>
          </a:p>
        </p:txBody>
      </p:sp>
      <p:sp>
        <p:nvSpPr>
          <p:cNvPr id="35" name="Diamond 34">
            <a:extLst>
              <a:ext uri="{FF2B5EF4-FFF2-40B4-BE49-F238E27FC236}">
                <a16:creationId xmlns:a16="http://schemas.microsoft.com/office/drawing/2014/main" id="{03F0D0D7-5612-B411-B2D0-0B20AE7D489A}"/>
              </a:ext>
            </a:extLst>
          </p:cNvPr>
          <p:cNvSpPr/>
          <p:nvPr/>
        </p:nvSpPr>
        <p:spPr>
          <a:xfrm>
            <a:off x="393700" y="4191000"/>
            <a:ext cx="127000" cy="127000"/>
          </a:xfrm>
          <a:prstGeom prst="diamond">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TextBox 35">
            <a:extLst>
              <a:ext uri="{FF2B5EF4-FFF2-40B4-BE49-F238E27FC236}">
                <a16:creationId xmlns:a16="http://schemas.microsoft.com/office/drawing/2014/main" id="{CC1B67A6-E1E6-39C7-CBF3-3B70BFE79CA8}"/>
              </a:ext>
            </a:extLst>
          </p:cNvPr>
          <p:cNvSpPr txBox="1"/>
          <p:nvPr/>
        </p:nvSpPr>
        <p:spPr>
          <a:xfrm>
            <a:off x="558800" y="4114800"/>
            <a:ext cx="7620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5E6170"/>
                </a:solidFill>
                <a:latin typeface="Century Gothic" panose="020B0502020202020204" pitchFamily="34" charset="0"/>
              </a:rPr>
              <a:t>Review gate: approve, edit or return</a:t>
            </a:r>
          </a:p>
        </p:txBody>
      </p:sp>
      <p:sp>
        <p:nvSpPr>
          <p:cNvPr id="37" name="Rectangle: Rounded Corners 36">
            <a:extLst>
              <a:ext uri="{FF2B5EF4-FFF2-40B4-BE49-F238E27FC236}">
                <a16:creationId xmlns:a16="http://schemas.microsoft.com/office/drawing/2014/main" id="{B24F9A79-13E4-48FC-62C8-B5034AC64368}"/>
              </a:ext>
            </a:extLst>
          </p:cNvPr>
          <p:cNvSpPr/>
          <p:nvPr/>
        </p:nvSpPr>
        <p:spPr>
          <a:xfrm>
            <a:off x="393700" y="4521200"/>
            <a:ext cx="3683000" cy="1066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3C4F9420-A423-728B-5DE3-43BAD74A9F73}"/>
              </a:ext>
            </a:extLst>
          </p:cNvPr>
          <p:cNvSpPr txBox="1"/>
          <p:nvPr/>
        </p:nvSpPr>
        <p:spPr>
          <a:xfrm>
            <a:off x="495300" y="4610100"/>
            <a:ext cx="3479800" cy="369332"/>
          </a:xfrm>
          <a:prstGeom prst="rect">
            <a:avLst/>
          </a:prstGeom>
          <a:noFill/>
        </p:spPr>
        <p:txBody>
          <a:bodyPr vert="horz" wrap="square" lIns="76200" tIns="38100" rIns="76200" bIns="38100" rtlCol="0" anchor="t">
            <a:noAutofit/>
          </a:bodyPr>
          <a:lstStyle/>
          <a:p>
            <a:pPr>
              <a:spcAft>
                <a:spcPts val="300"/>
              </a:spcAft>
            </a:pPr>
            <a:r>
              <a:rPr lang="en-GB" sz="1250" b="1">
                <a:solidFill>
                  <a:srgbClr val="4B47A8"/>
                </a:solidFill>
                <a:latin typeface="Century Gothic" panose="020B0502020202020204" pitchFamily="34" charset="0"/>
              </a:rPr>
              <a:t>Modular</a:t>
            </a:r>
          </a:p>
          <a:p>
            <a:pPr>
              <a:spcAft>
                <a:spcPts val="300"/>
              </a:spcAft>
            </a:pPr>
            <a:r>
              <a:rPr lang="en-GB" sz="1050">
                <a:solidFill>
                  <a:srgbClr val="1F1F2E"/>
                </a:solidFill>
                <a:latin typeface="Century Gothic" panose="020B0502020202020204" pitchFamily="34" charset="0"/>
              </a:rPr>
              <a:t>•  Run, re-run or replace any agent</a:t>
            </a:r>
          </a:p>
          <a:p>
            <a:pPr>
              <a:spcAft>
                <a:spcPts val="300"/>
              </a:spcAft>
            </a:pPr>
            <a:r>
              <a:rPr lang="en-GB" sz="1050">
                <a:solidFill>
                  <a:srgbClr val="1F1F2E"/>
                </a:solidFill>
                <a:latin typeface="Century Gothic" panose="020B0502020202020204" pitchFamily="34" charset="0"/>
              </a:rPr>
              <a:t>•  Shared model decouples Salesforce from the target</a:t>
            </a:r>
          </a:p>
        </p:txBody>
      </p:sp>
      <p:sp>
        <p:nvSpPr>
          <p:cNvPr id="39" name="Rectangle: Rounded Corners 38">
            <a:extLst>
              <a:ext uri="{FF2B5EF4-FFF2-40B4-BE49-F238E27FC236}">
                <a16:creationId xmlns:a16="http://schemas.microsoft.com/office/drawing/2014/main" id="{321DE107-39BE-FA20-F198-DACF0977945B}"/>
              </a:ext>
            </a:extLst>
          </p:cNvPr>
          <p:cNvSpPr/>
          <p:nvPr/>
        </p:nvSpPr>
        <p:spPr>
          <a:xfrm>
            <a:off x="4248150" y="4521200"/>
            <a:ext cx="3683000" cy="1066800"/>
          </a:xfrm>
          <a:prstGeom prst="roundRect">
            <a:avLst>
              <a:gd name="adj" fmla="val 6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7F8D74D4-0BC7-8A1B-E130-3DB6FD5D1E98}"/>
              </a:ext>
            </a:extLst>
          </p:cNvPr>
          <p:cNvSpPr txBox="1"/>
          <p:nvPr/>
        </p:nvSpPr>
        <p:spPr>
          <a:xfrm>
            <a:off x="4349750" y="4610100"/>
            <a:ext cx="3479800" cy="369332"/>
          </a:xfrm>
          <a:prstGeom prst="rect">
            <a:avLst/>
          </a:prstGeom>
          <a:noFill/>
        </p:spPr>
        <p:txBody>
          <a:bodyPr vert="horz" wrap="square" lIns="76200" tIns="38100" rIns="76200" bIns="38100" rtlCol="0" anchor="t">
            <a:noAutofit/>
          </a:bodyPr>
          <a:lstStyle/>
          <a:p>
            <a:pPr>
              <a:spcAft>
                <a:spcPts val="300"/>
              </a:spcAft>
            </a:pPr>
            <a:r>
              <a:rPr lang="en-GB" sz="1250" b="1">
                <a:solidFill>
                  <a:srgbClr val="006450"/>
                </a:solidFill>
                <a:latin typeface="Century Gothic" panose="020B0502020202020204" pitchFamily="34" charset="0"/>
              </a:rPr>
              <a:t>Scalable</a:t>
            </a:r>
          </a:p>
          <a:p>
            <a:pPr>
              <a:spcAft>
                <a:spcPts val="300"/>
              </a:spcAft>
            </a:pPr>
            <a:r>
              <a:rPr lang="en-GB" sz="1050">
                <a:solidFill>
                  <a:srgbClr val="1F1F2E"/>
                </a:solidFill>
                <a:latin typeface="Century Gothic" panose="020B0502020202020204" pitchFamily="34" charset="0"/>
              </a:rPr>
              <a:t>•  Large orgs split into business domains</a:t>
            </a:r>
          </a:p>
          <a:p>
            <a:pPr>
              <a:spcAft>
                <a:spcPts val="300"/>
              </a:spcAft>
            </a:pPr>
            <a:r>
              <a:rPr lang="en-GB" sz="1050">
                <a:solidFill>
                  <a:srgbClr val="1F1F2E"/>
                </a:solidFill>
                <a:latin typeface="Century Gothic" panose="020B0502020202020204" pitchFamily="34" charset="0"/>
              </a:rPr>
              <a:t>•  Domains migrate in parallel</a:t>
            </a:r>
          </a:p>
        </p:txBody>
      </p:sp>
      <p:sp>
        <p:nvSpPr>
          <p:cNvPr id="41" name="Rectangle: Rounded Corners 40">
            <a:extLst>
              <a:ext uri="{FF2B5EF4-FFF2-40B4-BE49-F238E27FC236}">
                <a16:creationId xmlns:a16="http://schemas.microsoft.com/office/drawing/2014/main" id="{B8D2F2F0-C6B6-6749-7355-027472394ACA}"/>
              </a:ext>
            </a:extLst>
          </p:cNvPr>
          <p:cNvSpPr/>
          <p:nvPr/>
        </p:nvSpPr>
        <p:spPr>
          <a:xfrm>
            <a:off x="8102600" y="4521200"/>
            <a:ext cx="3683000" cy="1066800"/>
          </a:xfrm>
          <a:prstGeom prst="roundRect">
            <a:avLst>
              <a:gd name="adj" fmla="val 6000"/>
            </a:avLst>
          </a:prstGeom>
          <a:solidFill>
            <a:srgbClr val="FEF1E6"/>
          </a:solidFill>
          <a:ln w="12700">
            <a:solidFill>
              <a:srgbClr val="F7B2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TextBox 41">
            <a:extLst>
              <a:ext uri="{FF2B5EF4-FFF2-40B4-BE49-F238E27FC236}">
                <a16:creationId xmlns:a16="http://schemas.microsoft.com/office/drawing/2014/main" id="{FB8587AF-7FEC-1EE0-F0B6-956A3A5D1CCB}"/>
              </a:ext>
            </a:extLst>
          </p:cNvPr>
          <p:cNvSpPr txBox="1"/>
          <p:nvPr/>
        </p:nvSpPr>
        <p:spPr>
          <a:xfrm>
            <a:off x="8204200" y="4610100"/>
            <a:ext cx="3479800" cy="369332"/>
          </a:xfrm>
          <a:prstGeom prst="rect">
            <a:avLst/>
          </a:prstGeom>
          <a:noFill/>
        </p:spPr>
        <p:txBody>
          <a:bodyPr vert="horz" wrap="square" lIns="76200" tIns="38100" rIns="76200" bIns="38100" rtlCol="0" anchor="t">
            <a:noAutofit/>
          </a:bodyPr>
          <a:lstStyle/>
          <a:p>
            <a:pPr>
              <a:spcAft>
                <a:spcPts val="300"/>
              </a:spcAft>
            </a:pPr>
            <a:r>
              <a:rPr lang="en-GB" sz="1250" b="1">
                <a:solidFill>
                  <a:srgbClr val="B05A0F"/>
                </a:solidFill>
                <a:latin typeface="Century Gothic" panose="020B0502020202020204" pitchFamily="34" charset="0"/>
              </a:rPr>
              <a:t>Controlled</a:t>
            </a:r>
          </a:p>
          <a:p>
            <a:pPr>
              <a:spcAft>
                <a:spcPts val="300"/>
              </a:spcAft>
            </a:pPr>
            <a:r>
              <a:rPr lang="en-GB" sz="1050">
                <a:solidFill>
                  <a:srgbClr val="1F1F2E"/>
                </a:solidFill>
                <a:latin typeface="Century Gothic" panose="020B0502020202020204" pitchFamily="34" charset="0"/>
              </a:rPr>
              <a:t>•  Sign-off at every phase, fully audited</a:t>
            </a:r>
          </a:p>
          <a:p>
            <a:pPr>
              <a:spcAft>
                <a:spcPts val="300"/>
              </a:spcAft>
            </a:pPr>
            <a:r>
              <a:rPr lang="en-GB" sz="1050">
                <a:solidFill>
                  <a:srgbClr val="1F1F2E"/>
                </a:solidFill>
                <a:latin typeface="Century Gothic" panose="020B0502020202020204" pitchFamily="34" charset="0"/>
              </a:rPr>
              <a:t>•  Automated checks before every release</a:t>
            </a:r>
          </a:p>
        </p:txBody>
      </p:sp>
      <p:sp>
        <p:nvSpPr>
          <p:cNvPr id="43" name="TextBox 42">
            <a:extLst>
              <a:ext uri="{FF2B5EF4-FFF2-40B4-BE49-F238E27FC236}">
                <a16:creationId xmlns:a16="http://schemas.microsoft.com/office/drawing/2014/main" id="{A38742CA-D4F2-1BB7-A350-9CF577CEC517}"/>
              </a:ext>
            </a:extLst>
          </p:cNvPr>
          <p:cNvSpPr txBox="1"/>
          <p:nvPr/>
        </p:nvSpPr>
        <p:spPr>
          <a:xfrm>
            <a:off x="393700" y="5740400"/>
            <a:ext cx="11391900" cy="241092"/>
          </a:xfrm>
          <a:prstGeom prst="rect">
            <a:avLst/>
          </a:prstGeom>
          <a:noFill/>
        </p:spPr>
        <p:txBody>
          <a:bodyPr vert="horz" wrap="square" lIns="76200" tIns="25400" rtlCol="0">
            <a:spAutoFit/>
          </a:bodyPr>
          <a:lstStyle/>
          <a:p>
            <a:r>
              <a:rPr lang="en-GB" sz="1100" b="1">
                <a:solidFill>
                  <a:srgbClr val="5E6170"/>
                </a:solidFill>
                <a:latin typeface="Century Gothic" panose="020B0502020202020204" pitchFamily="34" charset="0"/>
              </a:rPr>
              <a:t>Live demo:   </a:t>
            </a:r>
            <a:r>
              <a:rPr lang="en-GB" sz="1100" b="1" u="sng">
                <a:solidFill>
                  <a:srgbClr val="6666CC"/>
                </a:solidFill>
                <a:latin typeface="Century Gothic" panose="020B0502020202020204" pitchFamily="34" charset="0"/>
                <a:hlinkClick r:id="rId2">
                  <a:extLst>
                    <a:ext uri="{A12FA001-AC4F-418D-AE19-62706E023703}">
                      <ahyp:hlinkClr xmlns:ahyp="http://schemas.microsoft.com/office/drawing/2018/hyperlinkcolor" val="tx"/>
                    </a:ext>
                  </a:extLst>
                </a:hlinkClick>
              </a:rPr>
              <a:t>Salesforce: Accounts</a:t>
            </a:r>
            <a:r>
              <a:rPr lang="en-GB" sz="1100">
                <a:solidFill>
                  <a:srgbClr val="5E6170"/>
                </a:solidFill>
                <a:latin typeface="Century Gothic" panose="020B0502020202020204" pitchFamily="34" charset="0"/>
              </a:rPr>
              <a:t>     |     </a:t>
            </a:r>
            <a:r>
              <a:rPr lang="en-GB" sz="1100" b="1" u="sng">
                <a:solidFill>
                  <a:srgbClr val="6666CC"/>
                </a:solidFill>
                <a:latin typeface="Century Gothic" panose="020B0502020202020204" pitchFamily="34" charset="0"/>
                <a:hlinkClick r:id="rId3">
                  <a:extLst>
                    <a:ext uri="{A12FA001-AC4F-418D-AE19-62706E023703}">
                      <ahyp:hlinkClr xmlns:ahyp="http://schemas.microsoft.com/office/drawing/2018/hyperlinkcolor" val="tx"/>
                    </a:ext>
                  </a:extLst>
                </a:hlinkClick>
              </a:rPr>
              <a:t>Org Compiler</a:t>
            </a:r>
            <a:r>
              <a:rPr lang="en-GB" sz="1100">
                <a:solidFill>
                  <a:srgbClr val="5E6170"/>
                </a:solidFill>
                <a:latin typeface="Century Gothic" panose="020B0502020202020204" pitchFamily="34" charset="0"/>
              </a:rPr>
              <a:t>     |     </a:t>
            </a:r>
            <a:r>
              <a:rPr lang="en-GB" sz="1100" b="1" u="sng">
                <a:solidFill>
                  <a:srgbClr val="6666CC"/>
                </a:solidFill>
                <a:latin typeface="Century Gothic" panose="020B0502020202020204" pitchFamily="34" charset="0"/>
                <a:hlinkClick r:id="rId4">
                  <a:extLst>
                    <a:ext uri="{A12FA001-AC4F-418D-AE19-62706E023703}">
                      <ahyp:hlinkClr xmlns:ahyp="http://schemas.microsoft.com/office/drawing/2018/hyperlinkcolor" val="tx"/>
                    </a:ext>
                  </a:extLst>
                </a:hlinkClick>
              </a:rPr>
              <a:t>CRM Genie: Accounts</a:t>
            </a:r>
            <a:endParaRPr lang="en-GB" sz="1100" b="1" u="sng">
              <a:solidFill>
                <a:srgbClr val="6666CC"/>
              </a:solidFill>
              <a:latin typeface="Century Gothic" panose="020B0502020202020204" pitchFamily="34" charset="0"/>
            </a:endParaRPr>
          </a:p>
        </p:txBody>
      </p:sp>
      <p:sp>
        <p:nvSpPr>
          <p:cNvPr id="100" name="Walkthrough ring 1"/>
          <p:cNvSpPr/>
          <p:nvPr/>
        </p:nvSpPr>
        <p:spPr>
          <a:xfrm>
            <a:off x="3556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01" name="Walkthrough panel 1"/>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02" name="Walkthrough title 1"/>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1 · Discover · Extraction agent</a:t>
            </a:r>
          </a:p>
        </p:txBody>
      </p:sp>
      <p:sp>
        <p:nvSpPr>
          <p:cNvPr id="103" name="Walkthrough does 1"/>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Reads the whole org through the Salesforce CLI and APIs: objects, fields, rules, flows, code, security, 88 kinds of configuration and every record.</a:t>
            </a:r>
          </a:p>
        </p:txBody>
      </p:sp>
      <p:sp>
        <p:nvSpPr>
          <p:cNvPr id="104" name="Walkthrough makes 1"/>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Schema, rules and data files</a:t>
            </a:r>
          </a:p>
          <a:p>
            <a:pPr>
              <a:spcAft>
                <a:spcPts val="150"/>
              </a:spcAft>
            </a:pPr>
            <a:r>
              <a:rPr lang="en-GB" sz="1000" dirty="0">
                <a:solidFill>
                  <a:srgbClr val="1F1F2E"/>
                </a:solidFill>
                <a:latin typeface="Century Gothic" panose="020B0502020202020204" pitchFamily="34" charset="0"/>
              </a:rPr>
              <a:t>•  Full metadata copy (force-app)</a:t>
            </a:r>
          </a:p>
          <a:p>
            <a:pPr>
              <a:spcAft>
                <a:spcPts val="150"/>
              </a:spcAft>
            </a:pPr>
            <a:r>
              <a:rPr lang="en-GB" sz="1000" dirty="0">
                <a:solidFill>
                  <a:srgbClr val="1F1F2E"/>
                </a:solidFill>
                <a:latin typeface="Century Gothic" panose="020B0502020202020204" pitchFamily="34" charset="0"/>
              </a:rPr>
              <a:t>•  gap-register.md, with evidence from the org</a:t>
            </a:r>
          </a:p>
        </p:txBody>
      </p:sp>
      <p:sp>
        <p:nvSpPr>
          <p:cNvPr id="105" name="Walkthrough route 1"/>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SALESFORCE KEEPS</a:t>
            </a:r>
          </a:p>
          <a:p>
            <a:pPr>
              <a:spcAft>
                <a:spcPts val="200"/>
              </a:spcAft>
            </a:pPr>
            <a:r>
              <a:rPr lang="en-GB" sz="1000" dirty="0">
                <a:solidFill>
                  <a:srgbClr val="1F1F2E"/>
                </a:solidFill>
                <a:latin typeface="Century Gothic" panose="020B0502020202020204" pitchFamily="34" charset="0"/>
              </a:rPr>
              <a:t>We list everything Salesforce does not hand over, with counts from this org: packages, integrations, logins, jobs, history reach.</a:t>
            </a:r>
          </a:p>
        </p:txBody>
      </p:sp>
      <p:sp>
        <p:nvSpPr>
          <p:cNvPr id="106" name="Walkthrough ring 2"/>
          <p:cNvSpPr/>
          <p:nvPr/>
        </p:nvSpPr>
        <p:spPr>
          <a:xfrm>
            <a:off x="22860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07" name="Walkthrough panel 2"/>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08" name="Walkthrough title 2"/>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2 · Design · Modelling agent</a:t>
            </a:r>
          </a:p>
        </p:txBody>
      </p:sp>
      <p:sp>
        <p:nvSpPr>
          <p:cNvPr id="109" name="Walkthrough does 2"/>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Turns the extract into one platform-independent model of the org, with business-friendly names for every object and field.</a:t>
            </a:r>
          </a:p>
        </p:txBody>
      </p:sp>
      <p:sp>
        <p:nvSpPr>
          <p:cNvPr id="110" name="Walkthrough makes 2"/>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blueprint.json (the model)</a:t>
            </a:r>
          </a:p>
          <a:p>
            <a:pPr>
              <a:spcAft>
                <a:spcPts val="150"/>
              </a:spcAft>
            </a:pPr>
            <a:r>
              <a:rPr lang="en-GB" sz="1000" dirty="0">
                <a:solidFill>
                  <a:srgbClr val="1F1F2E"/>
                </a:solidFill>
                <a:latin typeface="Century Gothic" panose="020B0502020202020204" pitchFamily="34" charset="0"/>
              </a:rPr>
              <a:t>•  normalise-report.md</a:t>
            </a:r>
          </a:p>
          <a:p>
            <a:pPr>
              <a:spcAft>
                <a:spcPts val="150"/>
              </a:spcAft>
            </a:pPr>
            <a:r>
              <a:rPr lang="en-GB" sz="1000" dirty="0">
                <a:solidFill>
                  <a:srgbClr val="1F1F2E"/>
                </a:solidFill>
                <a:latin typeface="Century Gothic" panose="020B0502020202020204" pitchFamily="34" charset="0"/>
              </a:rPr>
              <a:t>•  packages.md</a:t>
            </a:r>
          </a:p>
        </p:txBody>
      </p:sp>
      <p:sp>
        <p:nvSpPr>
          <p:cNvPr id="111" name="Walkthrough route 2"/>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VENDOR PACKAGES</a:t>
            </a:r>
          </a:p>
          <a:p>
            <a:pPr>
              <a:spcAft>
                <a:spcPts val="200"/>
              </a:spcAft>
            </a:pPr>
            <a:r>
              <a:rPr lang="en-GB" sz="1000" dirty="0">
                <a:solidFill>
                  <a:srgbClr val="1F1F2E"/>
                </a:solidFill>
                <a:latin typeface="Century Gothic" panose="020B0502020202020204" pitchFamily="34" charset="0"/>
              </a:rPr>
              <a:t>The vendor hides package code. We extract settings and data, capture behaviour as tests, then rebuild, replace or retain each package. Demo: we rebuilt DLRS from its settings, 44 of 44 values match.</a:t>
            </a:r>
          </a:p>
        </p:txBody>
      </p:sp>
      <p:sp>
        <p:nvSpPr>
          <p:cNvPr id="112" name="Walkthrough ring 3"/>
          <p:cNvSpPr/>
          <p:nvPr/>
        </p:nvSpPr>
        <p:spPr>
          <a:xfrm>
            <a:off x="42164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13" name="Walkthrough panel 3"/>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14" name="Walkthrough title 3"/>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3 · Build · Schema agent</a:t>
            </a:r>
          </a:p>
        </p:txBody>
      </p:sp>
      <p:sp>
        <p:nvSpPr>
          <p:cNvPr id="115" name="Walkthrough does 3"/>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Generates the database: tables, keys, required fields, drop-down values, formulas and roll-up totals.</a:t>
            </a:r>
          </a:p>
        </p:txBody>
      </p:sp>
      <p:sp>
        <p:nvSpPr>
          <p:cNvPr id="116" name="Walkthrough makes 3"/>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Tables (010_tables.sql)</a:t>
            </a:r>
          </a:p>
          <a:p>
            <a:pPr>
              <a:spcAft>
                <a:spcPts val="150"/>
              </a:spcAft>
            </a:pPr>
            <a:r>
              <a:rPr lang="en-GB" sz="1000" dirty="0">
                <a:solidFill>
                  <a:srgbClr val="1F1F2E"/>
                </a:solidFill>
                <a:latin typeface="Century Gothic" panose="020B0502020202020204" pitchFamily="34" charset="0"/>
              </a:rPr>
              <a:t>•  Calculated views (020_views.sql)</a:t>
            </a:r>
          </a:p>
          <a:p>
            <a:pPr>
              <a:spcAft>
                <a:spcPts val="150"/>
              </a:spcAft>
            </a:pPr>
            <a:r>
              <a:rPr lang="en-GB" sz="1000" dirty="0">
                <a:solidFill>
                  <a:srgbClr val="1F1F2E"/>
                </a:solidFill>
                <a:latin typeface="Century Gothic" panose="020B0502020202020204" pitchFamily="34" charset="0"/>
              </a:rPr>
              <a:t>•  Roll-up totals (030_rollups.sql)</a:t>
            </a:r>
          </a:p>
        </p:txBody>
      </p:sp>
      <p:sp>
        <p:nvSpPr>
          <p:cNvPr id="117" name="Walkthrough route 3"/>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BUILT-IN BEHAVIOUR</a:t>
            </a:r>
          </a:p>
          <a:p>
            <a:pPr>
              <a:spcAft>
                <a:spcPts val="200"/>
              </a:spcAft>
            </a:pPr>
            <a:r>
              <a:rPr lang="en-GB" sz="1000" dirty="0">
                <a:solidFill>
                  <a:srgbClr val="1F1F2E"/>
                </a:solidFill>
                <a:latin typeface="Century Gothic" panose="020B0502020202020204" pitchFamily="34" charset="0"/>
              </a:rPr>
              <a:t>We build Salesforce behaviour such as cascade delete and live roll-up totals into the database once, and reuse it for every org.</a:t>
            </a:r>
          </a:p>
        </p:txBody>
      </p:sp>
      <p:sp>
        <p:nvSpPr>
          <p:cNvPr id="118" name="Walkthrough ring 4"/>
          <p:cNvSpPr/>
          <p:nvPr/>
        </p:nvSpPr>
        <p:spPr>
          <a:xfrm>
            <a:off x="4216400" y="25273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19" name="Walkthrough panel 4"/>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20" name="Walkthrough title 4"/>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3 · Build · Logic agent</a:t>
            </a:r>
          </a:p>
        </p:txBody>
      </p:sp>
      <p:sp>
        <p:nvSpPr>
          <p:cNvPr id="121" name="Walkthrough does 4"/>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Turns validation rules into database checks, and translates custom code (Apex) with AI for an engineer to approve.</a:t>
            </a:r>
          </a:p>
        </p:txBody>
      </p:sp>
      <p:sp>
        <p:nvSpPr>
          <p:cNvPr id="122" name="Walkthrough makes 4"/>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Rule checks (040_guards.sql)</a:t>
            </a:r>
          </a:p>
          <a:p>
            <a:pPr>
              <a:spcAft>
                <a:spcPts val="150"/>
              </a:spcAft>
            </a:pPr>
            <a:r>
              <a:rPr lang="en-GB" sz="1000" dirty="0">
                <a:solidFill>
                  <a:srgbClr val="1F1F2E"/>
                </a:solidFill>
                <a:latin typeface="Century Gothic" panose="020B0502020202020204" pitchFamily="34" charset="0"/>
              </a:rPr>
              <a:t>•  Translated code (050_translations.sql)</a:t>
            </a:r>
          </a:p>
        </p:txBody>
      </p:sp>
      <p:sp>
        <p:nvSpPr>
          <p:cNvPr id="123" name="Walkthrough route 4"/>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A PERSON CHECKS</a:t>
            </a:r>
          </a:p>
          <a:p>
            <a:pPr>
              <a:spcAft>
                <a:spcPts val="200"/>
              </a:spcAft>
            </a:pPr>
            <a:r>
              <a:rPr lang="en-GB" sz="1000" dirty="0">
                <a:solidFill>
                  <a:srgbClr val="1F1F2E"/>
                </a:solidFill>
                <a:latin typeface="Century Gothic" panose="020B0502020202020204" pitchFamily="34" charset="0"/>
              </a:rPr>
              <a:t>We compare every translation with the original Apex before approval. Nothing generated is merged without a reviewer.</a:t>
            </a:r>
          </a:p>
        </p:txBody>
      </p:sp>
      <p:sp>
        <p:nvSpPr>
          <p:cNvPr id="124" name="Walkthrough ring 5"/>
          <p:cNvSpPr/>
          <p:nvPr/>
        </p:nvSpPr>
        <p:spPr>
          <a:xfrm>
            <a:off x="4216400" y="32639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25" name="Walkthrough panel 5"/>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26" name="Walkthrough title 5"/>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3 · Build · Security agent</a:t>
            </a:r>
          </a:p>
        </p:txBody>
      </p:sp>
      <p:sp>
        <p:nvSpPr>
          <p:cNvPr id="127" name="Walkthrough does 5"/>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Turns profiles, permission sets and sharing into database roles, field-level access and row-level security.</a:t>
            </a:r>
          </a:p>
        </p:txBody>
      </p:sp>
      <p:sp>
        <p:nvSpPr>
          <p:cNvPr id="128" name="Walkthrough makes 5"/>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Roles and access (060_security.sql)</a:t>
            </a:r>
          </a:p>
          <a:p>
            <a:pPr>
              <a:spcAft>
                <a:spcPts val="150"/>
              </a:spcAft>
            </a:pPr>
            <a:r>
              <a:rPr lang="en-GB" sz="1000" dirty="0">
                <a:solidFill>
                  <a:srgbClr val="1F1F2E"/>
                </a:solidFill>
                <a:latin typeface="Century Gothic" panose="020B0502020202020204" pitchFamily="34" charset="0"/>
              </a:rPr>
              <a:t>•  credentials.md</a:t>
            </a:r>
          </a:p>
        </p:txBody>
      </p:sp>
      <p:sp>
        <p:nvSpPr>
          <p:cNvPr id="129" name="Walkthrough route 5"/>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PASSWORDS, SECRETS, SYSTEMS THAT CALL IN</a:t>
            </a:r>
          </a:p>
          <a:p>
            <a:pPr>
              <a:spcAft>
                <a:spcPts val="200"/>
              </a:spcAft>
            </a:pPr>
            <a:r>
              <a:rPr lang="en-GB" sz="1000" dirty="0">
                <a:solidFill>
                  <a:srgbClr val="1F1F2E"/>
                </a:solidFill>
                <a:latin typeface="Century Gothic" panose="020B0502020202020204" pitchFamily="34" charset="0"/>
              </a:rPr>
              <a:t>Passwords are never exported, so we move users to SSO. Each integration owner issues a new credential. We find systems that call in from login history and keep them running.</a:t>
            </a:r>
          </a:p>
        </p:txBody>
      </p:sp>
      <p:sp>
        <p:nvSpPr>
          <p:cNvPr id="130" name="Walkthrough ring 6"/>
          <p:cNvSpPr/>
          <p:nvPr/>
        </p:nvSpPr>
        <p:spPr>
          <a:xfrm>
            <a:off x="61341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31" name="Walkthrough panel 6"/>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32" name="Walkthrough title 6"/>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4 · Migrate · Data load agent</a:t>
            </a:r>
          </a:p>
        </p:txBody>
      </p:sp>
      <p:sp>
        <p:nvSpPr>
          <p:cNvPr id="133" name="Walkthrough does 6"/>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Loads every record in dependency order, keeps the Salesforce record IDs, then recomputes totals.</a:t>
            </a:r>
          </a:p>
        </p:txBody>
      </p:sp>
      <p:sp>
        <p:nvSpPr>
          <p:cNvPr id="134" name="Walkthrough makes 6"/>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Loaded database and load report</a:t>
            </a:r>
          </a:p>
          <a:p>
            <a:pPr>
              <a:spcAft>
                <a:spcPts val="150"/>
              </a:spcAft>
            </a:pPr>
            <a:r>
              <a:rPr lang="en-GB" sz="1000" dirty="0">
                <a:solidFill>
                  <a:srgbClr val="1F1F2E"/>
                </a:solidFill>
                <a:latin typeface="Century Gothic" panose="020B0502020202020204" pitchFamily="34" charset="0"/>
              </a:rPr>
              <a:t>•  history-archive.md</a:t>
            </a:r>
          </a:p>
          <a:p>
            <a:pPr>
              <a:spcAft>
                <a:spcPts val="150"/>
              </a:spcAft>
            </a:pPr>
            <a:r>
              <a:rPr lang="en-GB" sz="1000" dirty="0">
                <a:solidFill>
                  <a:srgbClr val="1F1F2E"/>
                </a:solidFill>
                <a:latin typeface="Century Gothic" panose="020B0502020202020204" pitchFamily="34" charset="0"/>
              </a:rPr>
              <a:t>•  work-in-progress.md</a:t>
            </a:r>
          </a:p>
        </p:txBody>
      </p:sp>
      <p:sp>
        <p:nvSpPr>
          <p:cNvPr id="135" name="Walkthrough route 6"/>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HISTORY AND WORK IN PROGRESS</a:t>
            </a:r>
          </a:p>
          <a:p>
            <a:pPr>
              <a:spcAft>
                <a:spcPts val="200"/>
              </a:spcAft>
            </a:pPr>
            <a:r>
              <a:rPr lang="en-GB" sz="1000" dirty="0">
                <a:solidFill>
                  <a:srgbClr val="1F1F2E"/>
                </a:solidFill>
                <a:latin typeface="Century Gothic" panose="020B0502020202020204" pitchFamily="34" charset="0"/>
              </a:rPr>
              <a:t>We archive the history Salesforce deletes over time from the start. We finish open approvals, paused flows and scheduled jobs before the freeze, or carry them over.</a:t>
            </a:r>
          </a:p>
        </p:txBody>
      </p:sp>
      <p:sp>
        <p:nvSpPr>
          <p:cNvPr id="136" name="Walkthrough ring 7"/>
          <p:cNvSpPr/>
          <p:nvPr/>
        </p:nvSpPr>
        <p:spPr>
          <a:xfrm>
            <a:off x="80645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37" name="Walkthrough panel 7"/>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38" name="Walkthrough title 7"/>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5 · Validate · Verification agent</a:t>
            </a:r>
          </a:p>
        </p:txBody>
      </p:sp>
      <p:sp>
        <p:nvSpPr>
          <p:cNvPr id="139" name="Walkthrough does 7"/>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Recomputes every calculated value and compares it with what Salesforce stored, then replays the business rule cases.</a:t>
            </a:r>
          </a:p>
        </p:txBody>
      </p:sp>
      <p:sp>
        <p:nvSpPr>
          <p:cNvPr id="140" name="Walkthrough makes 7"/>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Parity report: 866 of 866 values match</a:t>
            </a:r>
          </a:p>
          <a:p>
            <a:pPr>
              <a:spcAft>
                <a:spcPts val="150"/>
              </a:spcAft>
            </a:pPr>
            <a:r>
              <a:rPr lang="en-GB" sz="1000" dirty="0">
                <a:solidFill>
                  <a:srgbClr val="1F1F2E"/>
                </a:solidFill>
                <a:latin typeface="Century Gothic" panose="020B0502020202020204" pitchFamily="34" charset="0"/>
              </a:rPr>
              <a:t>•  platform-behaviour.md</a:t>
            </a:r>
          </a:p>
        </p:txBody>
      </p:sp>
      <p:sp>
        <p:nvSpPr>
          <p:cNvPr id="141" name="Walkthrough route 7"/>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BUILT-IN PLATFORM BEHAVIOUR</a:t>
            </a:r>
          </a:p>
          <a:p>
            <a:pPr>
              <a:spcAft>
                <a:spcPts val="200"/>
              </a:spcAft>
            </a:pPr>
            <a:r>
              <a:rPr lang="en-GB" sz="1000" dirty="0">
                <a:solidFill>
                  <a:srgbClr val="1F1F2E"/>
                </a:solidFill>
                <a:latin typeface="Century Gothic" panose="020B0502020202020204" pitchFamily="34" charset="0"/>
              </a:rPr>
              <a:t>We give each Salesforce behaviour a test that runs in both systems and compares the result. 7 of 12 are tested today; the rest are planned.</a:t>
            </a:r>
          </a:p>
        </p:txBody>
      </p:sp>
      <p:sp>
        <p:nvSpPr>
          <p:cNvPr id="142" name="Walkthrough ring 8"/>
          <p:cNvSpPr/>
          <p:nvPr/>
        </p:nvSpPr>
        <p:spPr>
          <a:xfrm>
            <a:off x="8064500" y="25273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43" name="Walkthrough panel 8"/>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44" name="Walkthrough title 8"/>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5 · Validate · Repair agent</a:t>
            </a:r>
          </a:p>
        </p:txBody>
      </p:sp>
      <p:sp>
        <p:nvSpPr>
          <p:cNvPr id="145" name="Walkthrough does 8"/>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When a check fails, finds the root cause and proposes a fix to the generator, not to the output.</a:t>
            </a:r>
          </a:p>
        </p:txBody>
      </p:sp>
      <p:sp>
        <p:nvSpPr>
          <p:cNvPr id="146" name="Walkthrough makes 8"/>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Diagnosis</a:t>
            </a:r>
          </a:p>
          <a:p>
            <a:pPr>
              <a:spcAft>
                <a:spcPts val="150"/>
              </a:spcAft>
            </a:pPr>
            <a:r>
              <a:rPr lang="en-GB" sz="1000" dirty="0">
                <a:solidFill>
                  <a:srgbClr val="1F1F2E"/>
                </a:solidFill>
                <a:latin typeface="Century Gothic" panose="020B0502020202020204" pitchFamily="34" charset="0"/>
              </a:rPr>
              <a:t>•  Proposed fix (patch)</a:t>
            </a:r>
          </a:p>
        </p:txBody>
      </p:sp>
      <p:sp>
        <p:nvSpPr>
          <p:cNvPr id="147" name="Walkthrough route 8"/>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A PERSON CHECKS</a:t>
            </a:r>
          </a:p>
          <a:p>
            <a:pPr>
              <a:spcAft>
                <a:spcPts val="200"/>
              </a:spcAft>
            </a:pPr>
            <a:r>
              <a:rPr lang="en-GB" sz="1000" dirty="0">
                <a:solidFill>
                  <a:srgbClr val="1F1F2E"/>
                </a:solidFill>
                <a:latin typeface="Century Gothic" panose="020B0502020202020204" pitchFamily="34" charset="0"/>
              </a:rPr>
              <a:t>We apply a fix only after a reviewer approves it, then run every check again.</a:t>
            </a:r>
          </a:p>
        </p:txBody>
      </p:sp>
      <p:sp>
        <p:nvSpPr>
          <p:cNvPr id="148" name="Walkthrough ring 9"/>
          <p:cNvSpPr/>
          <p:nvPr/>
        </p:nvSpPr>
        <p:spPr>
          <a:xfrm>
            <a:off x="9994900" y="1790700"/>
            <a:ext cx="1828800" cy="736600"/>
          </a:xfrm>
          <a:prstGeom prst="roundRect">
            <a:avLst>
              <a:gd name="adj" fmla="val 10000"/>
            </a:avLst>
          </a:prstGeom>
          <a:noFill/>
          <a:ln w="34925">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49" name="Walkthrough panel 9"/>
          <p:cNvSpPr/>
          <p:nvPr/>
        </p:nvSpPr>
        <p:spPr>
          <a:xfrm>
            <a:off x="393700" y="4064000"/>
            <a:ext cx="11391900" cy="1600200"/>
          </a:xfrm>
          <a:prstGeom prst="roundRect">
            <a:avLst>
              <a:gd name="adj" fmla="val 5000"/>
            </a:avLst>
          </a:prstGeom>
          <a:solidFill>
            <a:srgbClr val="FFFFFF"/>
          </a:solidFill>
          <a:ln w="19050">
            <a:solidFill>
              <a:srgbClr val="6666CC"/>
            </a:solidFill>
          </a:ln>
        </p:spPr>
        <p:style>
          <a:lnRef idx="2">
            <a:schemeClr val="accent1">
              <a:shade val="15000"/>
            </a:schemeClr>
          </a:lnRef>
          <a:fillRef idx="1">
            <a:schemeClr val="accent1"/>
          </a:fillRef>
          <a:effectRef idx="0">
            <a:schemeClr val="accent1"/>
          </a:effectRef>
          <a:fontRef idx="minor">
            <a:schemeClr val="lt1"/>
          </a:fontRef>
        </p:style>
        <p:txBody>
          <a:bodyPr wrap="square" lIns="114300" tIns="76200" rIns="114300" bIns="76200" rtlCol="0" anchor="t">
            <a:noAutofit/>
          </a:bodyPr>
          <a:lstStyle/>
          <a:p>
            <a:endParaRPr lang="en-GB"/>
          </a:p>
        </p:txBody>
      </p:sp>
      <p:sp>
        <p:nvSpPr>
          <p:cNvPr id="150" name="Walkthrough title 9"/>
          <p:cNvSpPr txBox="1"/>
          <p:nvPr/>
        </p:nvSpPr>
        <p:spPr>
          <a:xfrm>
            <a:off x="622300" y="4191000"/>
            <a:ext cx="10934700" cy="254000"/>
          </a:xfrm>
          <a:prstGeom prst="rect">
            <a:avLst/>
          </a:prstGeom>
          <a:noFill/>
        </p:spPr>
        <p:txBody>
          <a:bodyPr wrap="square" lIns="0" tIns="0" rIns="0" bIns="0" rtlCol="0" anchor="t">
            <a:noAutofit/>
          </a:bodyPr>
          <a:lstStyle/>
          <a:p>
            <a:pPr>
              <a:spcAft>
                <a:spcPts val="0"/>
              </a:spcAft>
            </a:pPr>
            <a:r>
              <a:rPr lang="en-GB" sz="1300" b="1" dirty="0">
                <a:solidFill>
                  <a:srgbClr val="6666CC"/>
                </a:solidFill>
                <a:latin typeface="Aptos" panose="020B0004020202020204" pitchFamily="34" charset="0"/>
              </a:rPr>
              <a:t>6 · Go-live · CI/CD pipeline</a:t>
            </a:r>
          </a:p>
        </p:txBody>
      </p:sp>
      <p:sp>
        <p:nvSpPr>
          <p:cNvPr id="151" name="Walkthrough does 9"/>
          <p:cNvSpPr txBox="1"/>
          <p:nvPr/>
        </p:nvSpPr>
        <p:spPr>
          <a:xfrm>
            <a:off x="622300"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DOES</a:t>
            </a:r>
          </a:p>
          <a:p>
            <a:pPr>
              <a:spcAft>
                <a:spcPts val="200"/>
              </a:spcAft>
            </a:pPr>
            <a:r>
              <a:rPr lang="en-GB" sz="1000" dirty="0">
                <a:solidFill>
                  <a:srgbClr val="1F1F2E"/>
                </a:solidFill>
                <a:latin typeface="Century Gothic" panose="020B0502020202020204" pitchFamily="34" charset="0"/>
              </a:rPr>
              <a:t>Re-runs every check on each change and releases to the target cloud (Azure in the demo), one business domain at a time.</a:t>
            </a:r>
          </a:p>
        </p:txBody>
      </p:sp>
      <p:sp>
        <p:nvSpPr>
          <p:cNvPr id="152" name="Walkthrough makes 9"/>
          <p:cNvSpPr txBox="1"/>
          <p:nvPr/>
        </p:nvSpPr>
        <p:spPr>
          <a:xfrm>
            <a:off x="4334933"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WHAT IT PRODUCES</a:t>
            </a:r>
          </a:p>
          <a:p>
            <a:pPr>
              <a:spcAft>
                <a:spcPts val="150"/>
              </a:spcAft>
            </a:pPr>
            <a:r>
              <a:rPr lang="en-GB" sz="1000" dirty="0">
                <a:solidFill>
                  <a:srgbClr val="1F1F2E"/>
                </a:solidFill>
                <a:latin typeface="Century Gothic" panose="020B0502020202020204" pitchFamily="34" charset="0"/>
              </a:rPr>
              <a:t>•  Tested release</a:t>
            </a:r>
          </a:p>
          <a:p>
            <a:pPr>
              <a:spcAft>
                <a:spcPts val="150"/>
              </a:spcAft>
            </a:pPr>
            <a:r>
              <a:rPr lang="en-GB" sz="1000" dirty="0">
                <a:solidFill>
                  <a:srgbClr val="1F1F2E"/>
                </a:solidFill>
                <a:latin typeface="Century Gothic" panose="020B0502020202020204" pitchFamily="34" charset="0"/>
              </a:rPr>
              <a:t>•  Health check after deploy</a:t>
            </a:r>
          </a:p>
        </p:txBody>
      </p:sp>
      <p:sp>
        <p:nvSpPr>
          <p:cNvPr id="153" name="Walkthrough route 9"/>
          <p:cNvSpPr txBox="1"/>
          <p:nvPr/>
        </p:nvSpPr>
        <p:spPr>
          <a:xfrm>
            <a:off x="8047567" y="4521200"/>
            <a:ext cx="3509433" cy="1092200"/>
          </a:xfrm>
          <a:prstGeom prst="rect">
            <a:avLst/>
          </a:prstGeom>
          <a:noFill/>
        </p:spPr>
        <p:txBody>
          <a:bodyPr wrap="square" lIns="0" tIns="0" rIns="0" bIns="0" rtlCol="0" anchor="t">
            <a:noAutofit/>
          </a:bodyPr>
          <a:lstStyle/>
          <a:p>
            <a:pPr>
              <a:spcAft>
                <a:spcPts val="300"/>
              </a:spcAft>
            </a:pPr>
            <a:r>
              <a:rPr lang="en-GB" sz="800" b="1" dirty="0">
                <a:solidFill>
                  <a:srgbClr val="5E6170"/>
                </a:solidFill>
                <a:latin typeface="Aptos" panose="020B0004020202020204" pitchFamily="34" charset="0"/>
              </a:rPr>
              <a:t>CUTOVER CHECKLIST</a:t>
            </a:r>
          </a:p>
          <a:p>
            <a:pPr>
              <a:spcAft>
                <a:spcPts val="200"/>
              </a:spcAft>
            </a:pPr>
            <a:r>
              <a:rPr lang="en-GB" sz="1000" dirty="0">
                <a:solidFill>
                  <a:srgbClr val="1F1F2E"/>
                </a:solidFill>
                <a:latin typeface="Century Gothic" panose="020B0502020202020204" pitchFamily="34" charset="0"/>
              </a:rPr>
              <a:t>We sign it off at go-live: new credentials live, scheduled jobs switched in one step, history loaded, Salesforce kept until each domain moves.</a:t>
            </a:r>
          </a:p>
        </p:txBody>
      </p:sp>
    </p:spTree>
    <p:extLst>
      <p:ext uri="{BB962C8B-B14F-4D97-AF65-F5344CB8AC3E}">
        <p14:creationId xmlns:p14="http://schemas.microsoft.com/office/powerpoint/2010/main" val="83086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350"/>
                                        <p:tgtEl>
                                          <p:spTgt spid="10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350"/>
                                        <p:tgtEl>
                                          <p:spTgt spid="10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350"/>
                                        <p:tgtEl>
                                          <p:spTgt spid="10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350"/>
                                        <p:tgtEl>
                                          <p:spTgt spid="10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fade">
                                      <p:cBhvr>
                                        <p:cTn id="19" dur="350"/>
                                        <p:tgtEl>
                                          <p:spTgt spid="10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5"/>
                                        </p:tgtEl>
                                        <p:attrNameLst>
                                          <p:attrName>style.visibility</p:attrName>
                                        </p:attrNameLst>
                                      </p:cBhvr>
                                      <p:to>
                                        <p:strVal val="visible"/>
                                      </p:to>
                                    </p:set>
                                    <p:animEffect transition="in" filter="fade">
                                      <p:cBhvr>
                                        <p:cTn id="22" dur="350"/>
                                        <p:tgtEl>
                                          <p:spTgt spid="10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250"/>
                                        <p:tgtEl>
                                          <p:spTgt spid="100"/>
                                        </p:tgtEl>
                                      </p:cBhvr>
                                    </p:animEffect>
                                    <p:set>
                                      <p:cBhvr>
                                        <p:cTn id="27" dur="1" fill="hold">
                                          <p:stCondLst>
                                            <p:cond delay="249"/>
                                          </p:stCondLst>
                                        </p:cTn>
                                        <p:tgtEl>
                                          <p:spTgt spid="100"/>
                                        </p:tgtEl>
                                        <p:attrNameLst>
                                          <p:attrName>style.visibility</p:attrName>
                                        </p:attrNameLst>
                                      </p:cBhvr>
                                      <p:to>
                                        <p:strVal val="hidden"/>
                                      </p:to>
                                    </p:set>
                                  </p:childTnLst>
                                </p:cTn>
                              </p:par>
                              <p:par>
                                <p:cTn id="28" presetID="10" presetClass="exit" presetSubtype="0" fill="hold" grpId="1" nodeType="withEffect">
                                  <p:stCondLst>
                                    <p:cond delay="0"/>
                                  </p:stCondLst>
                                  <p:childTnLst>
                                    <p:animEffect transition="out" filter="fade">
                                      <p:cBhvr>
                                        <p:cTn id="29" dur="250"/>
                                        <p:tgtEl>
                                          <p:spTgt spid="101"/>
                                        </p:tgtEl>
                                      </p:cBhvr>
                                    </p:animEffect>
                                    <p:set>
                                      <p:cBhvr>
                                        <p:cTn id="30" dur="1" fill="hold">
                                          <p:stCondLst>
                                            <p:cond delay="249"/>
                                          </p:stCondLst>
                                        </p:cTn>
                                        <p:tgtEl>
                                          <p:spTgt spid="101"/>
                                        </p:tgtEl>
                                        <p:attrNameLst>
                                          <p:attrName>style.visibility</p:attrName>
                                        </p:attrNameLst>
                                      </p:cBhvr>
                                      <p:to>
                                        <p:strVal val="hidden"/>
                                      </p:to>
                                    </p:set>
                                  </p:childTnLst>
                                </p:cTn>
                              </p:par>
                              <p:par>
                                <p:cTn id="31" presetID="10" presetClass="exit" presetSubtype="0" fill="hold" grpId="1" nodeType="withEffect">
                                  <p:stCondLst>
                                    <p:cond delay="0"/>
                                  </p:stCondLst>
                                  <p:childTnLst>
                                    <p:animEffect transition="out" filter="fade">
                                      <p:cBhvr>
                                        <p:cTn id="32" dur="250"/>
                                        <p:tgtEl>
                                          <p:spTgt spid="102"/>
                                        </p:tgtEl>
                                      </p:cBhvr>
                                    </p:animEffect>
                                    <p:set>
                                      <p:cBhvr>
                                        <p:cTn id="33" dur="1" fill="hold">
                                          <p:stCondLst>
                                            <p:cond delay="249"/>
                                          </p:stCondLst>
                                        </p:cTn>
                                        <p:tgtEl>
                                          <p:spTgt spid="102"/>
                                        </p:tgtEl>
                                        <p:attrNameLst>
                                          <p:attrName>style.visibility</p:attrName>
                                        </p:attrNameLst>
                                      </p:cBhvr>
                                      <p:to>
                                        <p:strVal val="hidden"/>
                                      </p:to>
                                    </p:set>
                                  </p:childTnLst>
                                </p:cTn>
                              </p:par>
                              <p:par>
                                <p:cTn id="34" presetID="10" presetClass="exit" presetSubtype="0" fill="hold" grpId="1" nodeType="withEffect">
                                  <p:stCondLst>
                                    <p:cond delay="0"/>
                                  </p:stCondLst>
                                  <p:childTnLst>
                                    <p:animEffect transition="out" filter="fade">
                                      <p:cBhvr>
                                        <p:cTn id="35" dur="250"/>
                                        <p:tgtEl>
                                          <p:spTgt spid="103"/>
                                        </p:tgtEl>
                                      </p:cBhvr>
                                    </p:animEffect>
                                    <p:set>
                                      <p:cBhvr>
                                        <p:cTn id="36" dur="1" fill="hold">
                                          <p:stCondLst>
                                            <p:cond delay="249"/>
                                          </p:stCondLst>
                                        </p:cTn>
                                        <p:tgtEl>
                                          <p:spTgt spid="103"/>
                                        </p:tgtEl>
                                        <p:attrNameLst>
                                          <p:attrName>style.visibility</p:attrName>
                                        </p:attrNameLst>
                                      </p:cBhvr>
                                      <p:to>
                                        <p:strVal val="hidden"/>
                                      </p:to>
                                    </p:set>
                                  </p:childTnLst>
                                </p:cTn>
                              </p:par>
                              <p:par>
                                <p:cTn id="37" presetID="10" presetClass="exit" presetSubtype="0" fill="hold" grpId="1" nodeType="withEffect">
                                  <p:stCondLst>
                                    <p:cond delay="0"/>
                                  </p:stCondLst>
                                  <p:childTnLst>
                                    <p:animEffect transition="out" filter="fade">
                                      <p:cBhvr>
                                        <p:cTn id="38" dur="250"/>
                                        <p:tgtEl>
                                          <p:spTgt spid="104"/>
                                        </p:tgtEl>
                                      </p:cBhvr>
                                    </p:animEffect>
                                    <p:set>
                                      <p:cBhvr>
                                        <p:cTn id="39" dur="1" fill="hold">
                                          <p:stCondLst>
                                            <p:cond delay="249"/>
                                          </p:stCondLst>
                                        </p:cTn>
                                        <p:tgtEl>
                                          <p:spTgt spid="104"/>
                                        </p:tgtEl>
                                        <p:attrNameLst>
                                          <p:attrName>style.visibility</p:attrName>
                                        </p:attrNameLst>
                                      </p:cBhvr>
                                      <p:to>
                                        <p:strVal val="hidden"/>
                                      </p:to>
                                    </p:set>
                                  </p:childTnLst>
                                </p:cTn>
                              </p:par>
                              <p:par>
                                <p:cTn id="40" presetID="10" presetClass="exit" presetSubtype="0" fill="hold" grpId="1" nodeType="withEffect">
                                  <p:stCondLst>
                                    <p:cond delay="0"/>
                                  </p:stCondLst>
                                  <p:childTnLst>
                                    <p:animEffect transition="out" filter="fade">
                                      <p:cBhvr>
                                        <p:cTn id="41" dur="250"/>
                                        <p:tgtEl>
                                          <p:spTgt spid="105"/>
                                        </p:tgtEl>
                                      </p:cBhvr>
                                    </p:animEffect>
                                    <p:set>
                                      <p:cBhvr>
                                        <p:cTn id="42" dur="1" fill="hold">
                                          <p:stCondLst>
                                            <p:cond delay="249"/>
                                          </p:stCondLst>
                                        </p:cTn>
                                        <p:tgtEl>
                                          <p:spTgt spid="105"/>
                                        </p:tgtEl>
                                        <p:attrNameLst>
                                          <p:attrName>style.visibility</p:attrName>
                                        </p:attrNameLst>
                                      </p:cBhvr>
                                      <p:to>
                                        <p:strVal val="hidden"/>
                                      </p:to>
                                    </p:set>
                                  </p:childTnLst>
                                </p:cTn>
                              </p:par>
                              <p:par>
                                <p:cTn id="43" presetID="10" presetClass="entr" presetSubtype="0" fill="hold" grpId="0" nodeType="withEffect">
                                  <p:stCondLst>
                                    <p:cond delay="0"/>
                                  </p:stCondLst>
                                  <p:childTnLst>
                                    <p:set>
                                      <p:cBhvr>
                                        <p:cTn id="44" dur="1" fill="hold">
                                          <p:stCondLst>
                                            <p:cond delay="0"/>
                                          </p:stCondLst>
                                        </p:cTn>
                                        <p:tgtEl>
                                          <p:spTgt spid="106"/>
                                        </p:tgtEl>
                                        <p:attrNameLst>
                                          <p:attrName>style.visibility</p:attrName>
                                        </p:attrNameLst>
                                      </p:cBhvr>
                                      <p:to>
                                        <p:strVal val="visible"/>
                                      </p:to>
                                    </p:set>
                                    <p:animEffect transition="in" filter="fade">
                                      <p:cBhvr>
                                        <p:cTn id="45" dur="350"/>
                                        <p:tgtEl>
                                          <p:spTgt spid="10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07"/>
                                        </p:tgtEl>
                                        <p:attrNameLst>
                                          <p:attrName>style.visibility</p:attrName>
                                        </p:attrNameLst>
                                      </p:cBhvr>
                                      <p:to>
                                        <p:strVal val="visible"/>
                                      </p:to>
                                    </p:set>
                                    <p:animEffect transition="in" filter="fade">
                                      <p:cBhvr>
                                        <p:cTn id="48" dur="350"/>
                                        <p:tgtEl>
                                          <p:spTgt spid="10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08"/>
                                        </p:tgtEl>
                                        <p:attrNameLst>
                                          <p:attrName>style.visibility</p:attrName>
                                        </p:attrNameLst>
                                      </p:cBhvr>
                                      <p:to>
                                        <p:strVal val="visible"/>
                                      </p:to>
                                    </p:set>
                                    <p:animEffect transition="in" filter="fade">
                                      <p:cBhvr>
                                        <p:cTn id="51" dur="350"/>
                                        <p:tgtEl>
                                          <p:spTgt spid="10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09"/>
                                        </p:tgtEl>
                                        <p:attrNameLst>
                                          <p:attrName>style.visibility</p:attrName>
                                        </p:attrNameLst>
                                      </p:cBhvr>
                                      <p:to>
                                        <p:strVal val="visible"/>
                                      </p:to>
                                    </p:set>
                                    <p:animEffect transition="in" filter="fade">
                                      <p:cBhvr>
                                        <p:cTn id="54" dur="350"/>
                                        <p:tgtEl>
                                          <p:spTgt spid="10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10"/>
                                        </p:tgtEl>
                                        <p:attrNameLst>
                                          <p:attrName>style.visibility</p:attrName>
                                        </p:attrNameLst>
                                      </p:cBhvr>
                                      <p:to>
                                        <p:strVal val="visible"/>
                                      </p:to>
                                    </p:set>
                                    <p:animEffect transition="in" filter="fade">
                                      <p:cBhvr>
                                        <p:cTn id="57" dur="350"/>
                                        <p:tgtEl>
                                          <p:spTgt spid="11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11"/>
                                        </p:tgtEl>
                                        <p:attrNameLst>
                                          <p:attrName>style.visibility</p:attrName>
                                        </p:attrNameLst>
                                      </p:cBhvr>
                                      <p:to>
                                        <p:strVal val="visible"/>
                                      </p:to>
                                    </p:set>
                                    <p:animEffect transition="in" filter="fade">
                                      <p:cBhvr>
                                        <p:cTn id="60" dur="350"/>
                                        <p:tgtEl>
                                          <p:spTgt spid="11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xit" presetSubtype="0" fill="hold" grpId="1" nodeType="clickEffect">
                                  <p:stCondLst>
                                    <p:cond delay="0"/>
                                  </p:stCondLst>
                                  <p:childTnLst>
                                    <p:animEffect transition="out" filter="fade">
                                      <p:cBhvr>
                                        <p:cTn id="64" dur="250"/>
                                        <p:tgtEl>
                                          <p:spTgt spid="106"/>
                                        </p:tgtEl>
                                      </p:cBhvr>
                                    </p:animEffect>
                                    <p:set>
                                      <p:cBhvr>
                                        <p:cTn id="65" dur="1" fill="hold">
                                          <p:stCondLst>
                                            <p:cond delay="249"/>
                                          </p:stCondLst>
                                        </p:cTn>
                                        <p:tgtEl>
                                          <p:spTgt spid="106"/>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50"/>
                                        <p:tgtEl>
                                          <p:spTgt spid="107"/>
                                        </p:tgtEl>
                                      </p:cBhvr>
                                    </p:animEffect>
                                    <p:set>
                                      <p:cBhvr>
                                        <p:cTn id="68" dur="1" fill="hold">
                                          <p:stCondLst>
                                            <p:cond delay="249"/>
                                          </p:stCondLst>
                                        </p:cTn>
                                        <p:tgtEl>
                                          <p:spTgt spid="107"/>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50"/>
                                        <p:tgtEl>
                                          <p:spTgt spid="108"/>
                                        </p:tgtEl>
                                      </p:cBhvr>
                                    </p:animEffect>
                                    <p:set>
                                      <p:cBhvr>
                                        <p:cTn id="71" dur="1" fill="hold">
                                          <p:stCondLst>
                                            <p:cond delay="249"/>
                                          </p:stCondLst>
                                        </p:cTn>
                                        <p:tgtEl>
                                          <p:spTgt spid="108"/>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50"/>
                                        <p:tgtEl>
                                          <p:spTgt spid="109"/>
                                        </p:tgtEl>
                                      </p:cBhvr>
                                    </p:animEffect>
                                    <p:set>
                                      <p:cBhvr>
                                        <p:cTn id="74" dur="1" fill="hold">
                                          <p:stCondLst>
                                            <p:cond delay="249"/>
                                          </p:stCondLst>
                                        </p:cTn>
                                        <p:tgtEl>
                                          <p:spTgt spid="109"/>
                                        </p:tgtEl>
                                        <p:attrNameLst>
                                          <p:attrName>style.visibility</p:attrName>
                                        </p:attrNameLst>
                                      </p:cBhvr>
                                      <p:to>
                                        <p:strVal val="hidden"/>
                                      </p:to>
                                    </p:set>
                                  </p:childTnLst>
                                </p:cTn>
                              </p:par>
                              <p:par>
                                <p:cTn id="75" presetID="10" presetClass="exit" presetSubtype="0" fill="hold" grpId="1" nodeType="withEffect">
                                  <p:stCondLst>
                                    <p:cond delay="0"/>
                                  </p:stCondLst>
                                  <p:childTnLst>
                                    <p:animEffect transition="out" filter="fade">
                                      <p:cBhvr>
                                        <p:cTn id="76" dur="250"/>
                                        <p:tgtEl>
                                          <p:spTgt spid="110"/>
                                        </p:tgtEl>
                                      </p:cBhvr>
                                    </p:animEffect>
                                    <p:set>
                                      <p:cBhvr>
                                        <p:cTn id="77" dur="1" fill="hold">
                                          <p:stCondLst>
                                            <p:cond delay="249"/>
                                          </p:stCondLst>
                                        </p:cTn>
                                        <p:tgtEl>
                                          <p:spTgt spid="110"/>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250"/>
                                        <p:tgtEl>
                                          <p:spTgt spid="111"/>
                                        </p:tgtEl>
                                      </p:cBhvr>
                                    </p:animEffect>
                                    <p:set>
                                      <p:cBhvr>
                                        <p:cTn id="80" dur="1" fill="hold">
                                          <p:stCondLst>
                                            <p:cond delay="249"/>
                                          </p:stCondLst>
                                        </p:cTn>
                                        <p:tgtEl>
                                          <p:spTgt spid="111"/>
                                        </p:tgtEl>
                                        <p:attrNameLst>
                                          <p:attrName>style.visibility</p:attrName>
                                        </p:attrNameLst>
                                      </p:cBhvr>
                                      <p:to>
                                        <p:strVal val="hidden"/>
                                      </p:to>
                                    </p:set>
                                  </p:childTnLst>
                                </p:cTn>
                              </p:par>
                              <p:par>
                                <p:cTn id="81" presetID="10" presetClass="entr" presetSubtype="0" fill="hold" grpId="0" nodeType="withEffect">
                                  <p:stCondLst>
                                    <p:cond delay="0"/>
                                  </p:stCondLst>
                                  <p:childTnLst>
                                    <p:set>
                                      <p:cBhvr>
                                        <p:cTn id="82" dur="1" fill="hold">
                                          <p:stCondLst>
                                            <p:cond delay="0"/>
                                          </p:stCondLst>
                                        </p:cTn>
                                        <p:tgtEl>
                                          <p:spTgt spid="112"/>
                                        </p:tgtEl>
                                        <p:attrNameLst>
                                          <p:attrName>style.visibility</p:attrName>
                                        </p:attrNameLst>
                                      </p:cBhvr>
                                      <p:to>
                                        <p:strVal val="visible"/>
                                      </p:to>
                                    </p:set>
                                    <p:animEffect transition="in" filter="fade">
                                      <p:cBhvr>
                                        <p:cTn id="83" dur="350"/>
                                        <p:tgtEl>
                                          <p:spTgt spid="11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13"/>
                                        </p:tgtEl>
                                        <p:attrNameLst>
                                          <p:attrName>style.visibility</p:attrName>
                                        </p:attrNameLst>
                                      </p:cBhvr>
                                      <p:to>
                                        <p:strVal val="visible"/>
                                      </p:to>
                                    </p:set>
                                    <p:animEffect transition="in" filter="fade">
                                      <p:cBhvr>
                                        <p:cTn id="86" dur="350"/>
                                        <p:tgtEl>
                                          <p:spTgt spid="11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14"/>
                                        </p:tgtEl>
                                        <p:attrNameLst>
                                          <p:attrName>style.visibility</p:attrName>
                                        </p:attrNameLst>
                                      </p:cBhvr>
                                      <p:to>
                                        <p:strVal val="visible"/>
                                      </p:to>
                                    </p:set>
                                    <p:animEffect transition="in" filter="fade">
                                      <p:cBhvr>
                                        <p:cTn id="89" dur="350"/>
                                        <p:tgtEl>
                                          <p:spTgt spid="11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15"/>
                                        </p:tgtEl>
                                        <p:attrNameLst>
                                          <p:attrName>style.visibility</p:attrName>
                                        </p:attrNameLst>
                                      </p:cBhvr>
                                      <p:to>
                                        <p:strVal val="visible"/>
                                      </p:to>
                                    </p:set>
                                    <p:animEffect transition="in" filter="fade">
                                      <p:cBhvr>
                                        <p:cTn id="92" dur="350"/>
                                        <p:tgtEl>
                                          <p:spTgt spid="11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16"/>
                                        </p:tgtEl>
                                        <p:attrNameLst>
                                          <p:attrName>style.visibility</p:attrName>
                                        </p:attrNameLst>
                                      </p:cBhvr>
                                      <p:to>
                                        <p:strVal val="visible"/>
                                      </p:to>
                                    </p:set>
                                    <p:animEffect transition="in" filter="fade">
                                      <p:cBhvr>
                                        <p:cTn id="95" dur="350"/>
                                        <p:tgtEl>
                                          <p:spTgt spid="11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117"/>
                                        </p:tgtEl>
                                        <p:attrNameLst>
                                          <p:attrName>style.visibility</p:attrName>
                                        </p:attrNameLst>
                                      </p:cBhvr>
                                      <p:to>
                                        <p:strVal val="visible"/>
                                      </p:to>
                                    </p:set>
                                    <p:animEffect transition="in" filter="fade">
                                      <p:cBhvr>
                                        <p:cTn id="98" dur="350"/>
                                        <p:tgtEl>
                                          <p:spTgt spid="11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xit" presetSubtype="0" fill="hold" grpId="1" nodeType="clickEffect">
                                  <p:stCondLst>
                                    <p:cond delay="0"/>
                                  </p:stCondLst>
                                  <p:childTnLst>
                                    <p:animEffect transition="out" filter="fade">
                                      <p:cBhvr>
                                        <p:cTn id="102" dur="250"/>
                                        <p:tgtEl>
                                          <p:spTgt spid="112"/>
                                        </p:tgtEl>
                                      </p:cBhvr>
                                    </p:animEffect>
                                    <p:set>
                                      <p:cBhvr>
                                        <p:cTn id="103" dur="1" fill="hold">
                                          <p:stCondLst>
                                            <p:cond delay="249"/>
                                          </p:stCondLst>
                                        </p:cTn>
                                        <p:tgtEl>
                                          <p:spTgt spid="112"/>
                                        </p:tgtEl>
                                        <p:attrNameLst>
                                          <p:attrName>style.visibility</p:attrName>
                                        </p:attrNameLst>
                                      </p:cBhvr>
                                      <p:to>
                                        <p:strVal val="hidden"/>
                                      </p:to>
                                    </p:set>
                                  </p:childTnLst>
                                </p:cTn>
                              </p:par>
                              <p:par>
                                <p:cTn id="104" presetID="10" presetClass="exit" presetSubtype="0" fill="hold" grpId="1" nodeType="withEffect">
                                  <p:stCondLst>
                                    <p:cond delay="0"/>
                                  </p:stCondLst>
                                  <p:childTnLst>
                                    <p:animEffect transition="out" filter="fade">
                                      <p:cBhvr>
                                        <p:cTn id="105" dur="250"/>
                                        <p:tgtEl>
                                          <p:spTgt spid="113"/>
                                        </p:tgtEl>
                                      </p:cBhvr>
                                    </p:animEffect>
                                    <p:set>
                                      <p:cBhvr>
                                        <p:cTn id="106" dur="1" fill="hold">
                                          <p:stCondLst>
                                            <p:cond delay="249"/>
                                          </p:stCondLst>
                                        </p:cTn>
                                        <p:tgtEl>
                                          <p:spTgt spid="113"/>
                                        </p:tgtEl>
                                        <p:attrNameLst>
                                          <p:attrName>style.visibility</p:attrName>
                                        </p:attrNameLst>
                                      </p:cBhvr>
                                      <p:to>
                                        <p:strVal val="hidden"/>
                                      </p:to>
                                    </p:set>
                                  </p:childTnLst>
                                </p:cTn>
                              </p:par>
                              <p:par>
                                <p:cTn id="107" presetID="10" presetClass="exit" presetSubtype="0" fill="hold" grpId="1" nodeType="withEffect">
                                  <p:stCondLst>
                                    <p:cond delay="0"/>
                                  </p:stCondLst>
                                  <p:childTnLst>
                                    <p:animEffect transition="out" filter="fade">
                                      <p:cBhvr>
                                        <p:cTn id="108" dur="250"/>
                                        <p:tgtEl>
                                          <p:spTgt spid="114"/>
                                        </p:tgtEl>
                                      </p:cBhvr>
                                    </p:animEffect>
                                    <p:set>
                                      <p:cBhvr>
                                        <p:cTn id="109" dur="1" fill="hold">
                                          <p:stCondLst>
                                            <p:cond delay="249"/>
                                          </p:stCondLst>
                                        </p:cTn>
                                        <p:tgtEl>
                                          <p:spTgt spid="114"/>
                                        </p:tgtEl>
                                        <p:attrNameLst>
                                          <p:attrName>style.visibility</p:attrName>
                                        </p:attrNameLst>
                                      </p:cBhvr>
                                      <p:to>
                                        <p:strVal val="hidden"/>
                                      </p:to>
                                    </p:set>
                                  </p:childTnLst>
                                </p:cTn>
                              </p:par>
                              <p:par>
                                <p:cTn id="110" presetID="10" presetClass="exit" presetSubtype="0" fill="hold" grpId="1" nodeType="withEffect">
                                  <p:stCondLst>
                                    <p:cond delay="0"/>
                                  </p:stCondLst>
                                  <p:childTnLst>
                                    <p:animEffect transition="out" filter="fade">
                                      <p:cBhvr>
                                        <p:cTn id="111" dur="250"/>
                                        <p:tgtEl>
                                          <p:spTgt spid="115"/>
                                        </p:tgtEl>
                                      </p:cBhvr>
                                    </p:animEffect>
                                    <p:set>
                                      <p:cBhvr>
                                        <p:cTn id="112" dur="1" fill="hold">
                                          <p:stCondLst>
                                            <p:cond delay="249"/>
                                          </p:stCondLst>
                                        </p:cTn>
                                        <p:tgtEl>
                                          <p:spTgt spid="115"/>
                                        </p:tgtEl>
                                        <p:attrNameLst>
                                          <p:attrName>style.visibility</p:attrName>
                                        </p:attrNameLst>
                                      </p:cBhvr>
                                      <p:to>
                                        <p:strVal val="hidden"/>
                                      </p:to>
                                    </p:set>
                                  </p:childTnLst>
                                </p:cTn>
                              </p:par>
                              <p:par>
                                <p:cTn id="113" presetID="10" presetClass="exit" presetSubtype="0" fill="hold" grpId="1" nodeType="withEffect">
                                  <p:stCondLst>
                                    <p:cond delay="0"/>
                                  </p:stCondLst>
                                  <p:childTnLst>
                                    <p:animEffect transition="out" filter="fade">
                                      <p:cBhvr>
                                        <p:cTn id="114" dur="250"/>
                                        <p:tgtEl>
                                          <p:spTgt spid="116"/>
                                        </p:tgtEl>
                                      </p:cBhvr>
                                    </p:animEffect>
                                    <p:set>
                                      <p:cBhvr>
                                        <p:cTn id="115" dur="1" fill="hold">
                                          <p:stCondLst>
                                            <p:cond delay="249"/>
                                          </p:stCondLst>
                                        </p:cTn>
                                        <p:tgtEl>
                                          <p:spTgt spid="116"/>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250"/>
                                        <p:tgtEl>
                                          <p:spTgt spid="117"/>
                                        </p:tgtEl>
                                      </p:cBhvr>
                                    </p:animEffect>
                                    <p:set>
                                      <p:cBhvr>
                                        <p:cTn id="118" dur="1" fill="hold">
                                          <p:stCondLst>
                                            <p:cond delay="249"/>
                                          </p:stCondLst>
                                        </p:cTn>
                                        <p:tgtEl>
                                          <p:spTgt spid="117"/>
                                        </p:tgtEl>
                                        <p:attrNameLst>
                                          <p:attrName>style.visibility</p:attrName>
                                        </p:attrNameLst>
                                      </p:cBhvr>
                                      <p:to>
                                        <p:strVal val="hidden"/>
                                      </p:to>
                                    </p:set>
                                  </p:childTnLst>
                                </p:cTn>
                              </p:par>
                              <p:par>
                                <p:cTn id="119" presetID="10" presetClass="entr" presetSubtype="0" fill="hold" grpId="0" nodeType="withEffect">
                                  <p:stCondLst>
                                    <p:cond delay="0"/>
                                  </p:stCondLst>
                                  <p:childTnLst>
                                    <p:set>
                                      <p:cBhvr>
                                        <p:cTn id="120" dur="1" fill="hold">
                                          <p:stCondLst>
                                            <p:cond delay="0"/>
                                          </p:stCondLst>
                                        </p:cTn>
                                        <p:tgtEl>
                                          <p:spTgt spid="118"/>
                                        </p:tgtEl>
                                        <p:attrNameLst>
                                          <p:attrName>style.visibility</p:attrName>
                                        </p:attrNameLst>
                                      </p:cBhvr>
                                      <p:to>
                                        <p:strVal val="visible"/>
                                      </p:to>
                                    </p:set>
                                    <p:animEffect transition="in" filter="fade">
                                      <p:cBhvr>
                                        <p:cTn id="121" dur="350"/>
                                        <p:tgtEl>
                                          <p:spTgt spid="118"/>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119"/>
                                        </p:tgtEl>
                                        <p:attrNameLst>
                                          <p:attrName>style.visibility</p:attrName>
                                        </p:attrNameLst>
                                      </p:cBhvr>
                                      <p:to>
                                        <p:strVal val="visible"/>
                                      </p:to>
                                    </p:set>
                                    <p:animEffect transition="in" filter="fade">
                                      <p:cBhvr>
                                        <p:cTn id="124" dur="350"/>
                                        <p:tgtEl>
                                          <p:spTgt spid="119"/>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120"/>
                                        </p:tgtEl>
                                        <p:attrNameLst>
                                          <p:attrName>style.visibility</p:attrName>
                                        </p:attrNameLst>
                                      </p:cBhvr>
                                      <p:to>
                                        <p:strVal val="visible"/>
                                      </p:to>
                                    </p:set>
                                    <p:animEffect transition="in" filter="fade">
                                      <p:cBhvr>
                                        <p:cTn id="127" dur="350"/>
                                        <p:tgtEl>
                                          <p:spTgt spid="120"/>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21"/>
                                        </p:tgtEl>
                                        <p:attrNameLst>
                                          <p:attrName>style.visibility</p:attrName>
                                        </p:attrNameLst>
                                      </p:cBhvr>
                                      <p:to>
                                        <p:strVal val="visible"/>
                                      </p:to>
                                    </p:set>
                                    <p:animEffect transition="in" filter="fade">
                                      <p:cBhvr>
                                        <p:cTn id="130" dur="350"/>
                                        <p:tgtEl>
                                          <p:spTgt spid="121"/>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22"/>
                                        </p:tgtEl>
                                        <p:attrNameLst>
                                          <p:attrName>style.visibility</p:attrName>
                                        </p:attrNameLst>
                                      </p:cBhvr>
                                      <p:to>
                                        <p:strVal val="visible"/>
                                      </p:to>
                                    </p:set>
                                    <p:animEffect transition="in" filter="fade">
                                      <p:cBhvr>
                                        <p:cTn id="133" dur="350"/>
                                        <p:tgtEl>
                                          <p:spTgt spid="122"/>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23"/>
                                        </p:tgtEl>
                                        <p:attrNameLst>
                                          <p:attrName>style.visibility</p:attrName>
                                        </p:attrNameLst>
                                      </p:cBhvr>
                                      <p:to>
                                        <p:strVal val="visible"/>
                                      </p:to>
                                    </p:set>
                                    <p:animEffect transition="in" filter="fade">
                                      <p:cBhvr>
                                        <p:cTn id="136" dur="350"/>
                                        <p:tgtEl>
                                          <p:spTgt spid="123"/>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xit" presetSubtype="0" fill="hold" grpId="1" nodeType="clickEffect">
                                  <p:stCondLst>
                                    <p:cond delay="0"/>
                                  </p:stCondLst>
                                  <p:childTnLst>
                                    <p:animEffect transition="out" filter="fade">
                                      <p:cBhvr>
                                        <p:cTn id="140" dur="250"/>
                                        <p:tgtEl>
                                          <p:spTgt spid="118"/>
                                        </p:tgtEl>
                                      </p:cBhvr>
                                    </p:animEffect>
                                    <p:set>
                                      <p:cBhvr>
                                        <p:cTn id="141" dur="1" fill="hold">
                                          <p:stCondLst>
                                            <p:cond delay="249"/>
                                          </p:stCondLst>
                                        </p:cTn>
                                        <p:tgtEl>
                                          <p:spTgt spid="118"/>
                                        </p:tgtEl>
                                        <p:attrNameLst>
                                          <p:attrName>style.visibility</p:attrName>
                                        </p:attrNameLst>
                                      </p:cBhvr>
                                      <p:to>
                                        <p:strVal val="hidden"/>
                                      </p:to>
                                    </p:set>
                                  </p:childTnLst>
                                </p:cTn>
                              </p:par>
                              <p:par>
                                <p:cTn id="142" presetID="10" presetClass="exit" presetSubtype="0" fill="hold" grpId="1" nodeType="withEffect">
                                  <p:stCondLst>
                                    <p:cond delay="0"/>
                                  </p:stCondLst>
                                  <p:childTnLst>
                                    <p:animEffect transition="out" filter="fade">
                                      <p:cBhvr>
                                        <p:cTn id="143" dur="250"/>
                                        <p:tgtEl>
                                          <p:spTgt spid="119"/>
                                        </p:tgtEl>
                                      </p:cBhvr>
                                    </p:animEffect>
                                    <p:set>
                                      <p:cBhvr>
                                        <p:cTn id="144" dur="1" fill="hold">
                                          <p:stCondLst>
                                            <p:cond delay="249"/>
                                          </p:stCondLst>
                                        </p:cTn>
                                        <p:tgtEl>
                                          <p:spTgt spid="119"/>
                                        </p:tgtEl>
                                        <p:attrNameLst>
                                          <p:attrName>style.visibility</p:attrName>
                                        </p:attrNameLst>
                                      </p:cBhvr>
                                      <p:to>
                                        <p:strVal val="hidden"/>
                                      </p:to>
                                    </p:set>
                                  </p:childTnLst>
                                </p:cTn>
                              </p:par>
                              <p:par>
                                <p:cTn id="145" presetID="10" presetClass="exit" presetSubtype="0" fill="hold" grpId="1" nodeType="withEffect">
                                  <p:stCondLst>
                                    <p:cond delay="0"/>
                                  </p:stCondLst>
                                  <p:childTnLst>
                                    <p:animEffect transition="out" filter="fade">
                                      <p:cBhvr>
                                        <p:cTn id="146" dur="250"/>
                                        <p:tgtEl>
                                          <p:spTgt spid="120"/>
                                        </p:tgtEl>
                                      </p:cBhvr>
                                    </p:animEffect>
                                    <p:set>
                                      <p:cBhvr>
                                        <p:cTn id="147" dur="1" fill="hold">
                                          <p:stCondLst>
                                            <p:cond delay="249"/>
                                          </p:stCondLst>
                                        </p:cTn>
                                        <p:tgtEl>
                                          <p:spTgt spid="120"/>
                                        </p:tgtEl>
                                        <p:attrNameLst>
                                          <p:attrName>style.visibility</p:attrName>
                                        </p:attrNameLst>
                                      </p:cBhvr>
                                      <p:to>
                                        <p:strVal val="hidden"/>
                                      </p:to>
                                    </p:set>
                                  </p:childTnLst>
                                </p:cTn>
                              </p:par>
                              <p:par>
                                <p:cTn id="148" presetID="10" presetClass="exit" presetSubtype="0" fill="hold" grpId="1" nodeType="withEffect">
                                  <p:stCondLst>
                                    <p:cond delay="0"/>
                                  </p:stCondLst>
                                  <p:childTnLst>
                                    <p:animEffect transition="out" filter="fade">
                                      <p:cBhvr>
                                        <p:cTn id="149" dur="250"/>
                                        <p:tgtEl>
                                          <p:spTgt spid="121"/>
                                        </p:tgtEl>
                                      </p:cBhvr>
                                    </p:animEffect>
                                    <p:set>
                                      <p:cBhvr>
                                        <p:cTn id="150" dur="1" fill="hold">
                                          <p:stCondLst>
                                            <p:cond delay="249"/>
                                          </p:stCondLst>
                                        </p:cTn>
                                        <p:tgtEl>
                                          <p:spTgt spid="121"/>
                                        </p:tgtEl>
                                        <p:attrNameLst>
                                          <p:attrName>style.visibility</p:attrName>
                                        </p:attrNameLst>
                                      </p:cBhvr>
                                      <p:to>
                                        <p:strVal val="hidden"/>
                                      </p:to>
                                    </p:set>
                                  </p:childTnLst>
                                </p:cTn>
                              </p:par>
                              <p:par>
                                <p:cTn id="151" presetID="10" presetClass="exit" presetSubtype="0" fill="hold" grpId="1" nodeType="withEffect">
                                  <p:stCondLst>
                                    <p:cond delay="0"/>
                                  </p:stCondLst>
                                  <p:childTnLst>
                                    <p:animEffect transition="out" filter="fade">
                                      <p:cBhvr>
                                        <p:cTn id="152" dur="250"/>
                                        <p:tgtEl>
                                          <p:spTgt spid="122"/>
                                        </p:tgtEl>
                                      </p:cBhvr>
                                    </p:animEffect>
                                    <p:set>
                                      <p:cBhvr>
                                        <p:cTn id="153" dur="1" fill="hold">
                                          <p:stCondLst>
                                            <p:cond delay="249"/>
                                          </p:stCondLst>
                                        </p:cTn>
                                        <p:tgtEl>
                                          <p:spTgt spid="122"/>
                                        </p:tgtEl>
                                        <p:attrNameLst>
                                          <p:attrName>style.visibility</p:attrName>
                                        </p:attrNameLst>
                                      </p:cBhvr>
                                      <p:to>
                                        <p:strVal val="hidden"/>
                                      </p:to>
                                    </p:set>
                                  </p:childTnLst>
                                </p:cTn>
                              </p:par>
                              <p:par>
                                <p:cTn id="154" presetID="10" presetClass="exit" presetSubtype="0" fill="hold" grpId="1" nodeType="withEffect">
                                  <p:stCondLst>
                                    <p:cond delay="0"/>
                                  </p:stCondLst>
                                  <p:childTnLst>
                                    <p:animEffect transition="out" filter="fade">
                                      <p:cBhvr>
                                        <p:cTn id="155" dur="250"/>
                                        <p:tgtEl>
                                          <p:spTgt spid="123"/>
                                        </p:tgtEl>
                                      </p:cBhvr>
                                    </p:animEffect>
                                    <p:set>
                                      <p:cBhvr>
                                        <p:cTn id="156" dur="1" fill="hold">
                                          <p:stCondLst>
                                            <p:cond delay="249"/>
                                          </p:stCondLst>
                                        </p:cTn>
                                        <p:tgtEl>
                                          <p:spTgt spid="123"/>
                                        </p:tgtEl>
                                        <p:attrNameLst>
                                          <p:attrName>style.visibility</p:attrName>
                                        </p:attrNameLst>
                                      </p:cBhvr>
                                      <p:to>
                                        <p:strVal val="hidden"/>
                                      </p:to>
                                    </p:set>
                                  </p:childTnLst>
                                </p:cTn>
                              </p:par>
                              <p:par>
                                <p:cTn id="157" presetID="10" presetClass="entr" presetSubtype="0" fill="hold" grpId="0" nodeType="withEffect">
                                  <p:stCondLst>
                                    <p:cond delay="0"/>
                                  </p:stCondLst>
                                  <p:childTnLst>
                                    <p:set>
                                      <p:cBhvr>
                                        <p:cTn id="158" dur="1" fill="hold">
                                          <p:stCondLst>
                                            <p:cond delay="0"/>
                                          </p:stCondLst>
                                        </p:cTn>
                                        <p:tgtEl>
                                          <p:spTgt spid="124"/>
                                        </p:tgtEl>
                                        <p:attrNameLst>
                                          <p:attrName>style.visibility</p:attrName>
                                        </p:attrNameLst>
                                      </p:cBhvr>
                                      <p:to>
                                        <p:strVal val="visible"/>
                                      </p:to>
                                    </p:set>
                                    <p:animEffect transition="in" filter="fade">
                                      <p:cBhvr>
                                        <p:cTn id="159" dur="350"/>
                                        <p:tgtEl>
                                          <p:spTgt spid="12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125"/>
                                        </p:tgtEl>
                                        <p:attrNameLst>
                                          <p:attrName>style.visibility</p:attrName>
                                        </p:attrNameLst>
                                      </p:cBhvr>
                                      <p:to>
                                        <p:strVal val="visible"/>
                                      </p:to>
                                    </p:set>
                                    <p:animEffect transition="in" filter="fade">
                                      <p:cBhvr>
                                        <p:cTn id="162" dur="350"/>
                                        <p:tgtEl>
                                          <p:spTgt spid="12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126"/>
                                        </p:tgtEl>
                                        <p:attrNameLst>
                                          <p:attrName>style.visibility</p:attrName>
                                        </p:attrNameLst>
                                      </p:cBhvr>
                                      <p:to>
                                        <p:strVal val="visible"/>
                                      </p:to>
                                    </p:set>
                                    <p:animEffect transition="in" filter="fade">
                                      <p:cBhvr>
                                        <p:cTn id="165" dur="350"/>
                                        <p:tgtEl>
                                          <p:spTgt spid="12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127"/>
                                        </p:tgtEl>
                                        <p:attrNameLst>
                                          <p:attrName>style.visibility</p:attrName>
                                        </p:attrNameLst>
                                      </p:cBhvr>
                                      <p:to>
                                        <p:strVal val="visible"/>
                                      </p:to>
                                    </p:set>
                                    <p:animEffect transition="in" filter="fade">
                                      <p:cBhvr>
                                        <p:cTn id="168" dur="350"/>
                                        <p:tgtEl>
                                          <p:spTgt spid="127"/>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128"/>
                                        </p:tgtEl>
                                        <p:attrNameLst>
                                          <p:attrName>style.visibility</p:attrName>
                                        </p:attrNameLst>
                                      </p:cBhvr>
                                      <p:to>
                                        <p:strVal val="visible"/>
                                      </p:to>
                                    </p:set>
                                    <p:animEffect transition="in" filter="fade">
                                      <p:cBhvr>
                                        <p:cTn id="171" dur="350"/>
                                        <p:tgtEl>
                                          <p:spTgt spid="128"/>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129"/>
                                        </p:tgtEl>
                                        <p:attrNameLst>
                                          <p:attrName>style.visibility</p:attrName>
                                        </p:attrNameLst>
                                      </p:cBhvr>
                                      <p:to>
                                        <p:strVal val="visible"/>
                                      </p:to>
                                    </p:set>
                                    <p:animEffect transition="in" filter="fade">
                                      <p:cBhvr>
                                        <p:cTn id="174" dur="350"/>
                                        <p:tgtEl>
                                          <p:spTgt spid="129"/>
                                        </p:tgtEl>
                                      </p:cBhvr>
                                    </p:animEffect>
                                  </p:childTnLst>
                                </p:cTn>
                              </p:par>
                            </p:childTnLst>
                          </p:cTn>
                        </p:par>
                      </p:childTnLst>
                    </p:cTn>
                  </p:par>
                  <p:par>
                    <p:cTn id="175" fill="hold">
                      <p:stCondLst>
                        <p:cond delay="indefinite"/>
                      </p:stCondLst>
                      <p:childTnLst>
                        <p:par>
                          <p:cTn id="176" fill="hold">
                            <p:stCondLst>
                              <p:cond delay="0"/>
                            </p:stCondLst>
                            <p:childTnLst>
                              <p:par>
                                <p:cTn id="177" presetID="10" presetClass="exit" presetSubtype="0" fill="hold" grpId="1" nodeType="clickEffect">
                                  <p:stCondLst>
                                    <p:cond delay="0"/>
                                  </p:stCondLst>
                                  <p:childTnLst>
                                    <p:animEffect transition="out" filter="fade">
                                      <p:cBhvr>
                                        <p:cTn id="178" dur="250"/>
                                        <p:tgtEl>
                                          <p:spTgt spid="124"/>
                                        </p:tgtEl>
                                      </p:cBhvr>
                                    </p:animEffect>
                                    <p:set>
                                      <p:cBhvr>
                                        <p:cTn id="179" dur="1" fill="hold">
                                          <p:stCondLst>
                                            <p:cond delay="249"/>
                                          </p:stCondLst>
                                        </p:cTn>
                                        <p:tgtEl>
                                          <p:spTgt spid="124"/>
                                        </p:tgtEl>
                                        <p:attrNameLst>
                                          <p:attrName>style.visibility</p:attrName>
                                        </p:attrNameLst>
                                      </p:cBhvr>
                                      <p:to>
                                        <p:strVal val="hidden"/>
                                      </p:to>
                                    </p:set>
                                  </p:childTnLst>
                                </p:cTn>
                              </p:par>
                              <p:par>
                                <p:cTn id="180" presetID="10" presetClass="exit" presetSubtype="0" fill="hold" grpId="1" nodeType="withEffect">
                                  <p:stCondLst>
                                    <p:cond delay="0"/>
                                  </p:stCondLst>
                                  <p:childTnLst>
                                    <p:animEffect transition="out" filter="fade">
                                      <p:cBhvr>
                                        <p:cTn id="181" dur="250"/>
                                        <p:tgtEl>
                                          <p:spTgt spid="125"/>
                                        </p:tgtEl>
                                      </p:cBhvr>
                                    </p:animEffect>
                                    <p:set>
                                      <p:cBhvr>
                                        <p:cTn id="182" dur="1" fill="hold">
                                          <p:stCondLst>
                                            <p:cond delay="249"/>
                                          </p:stCondLst>
                                        </p:cTn>
                                        <p:tgtEl>
                                          <p:spTgt spid="125"/>
                                        </p:tgtEl>
                                        <p:attrNameLst>
                                          <p:attrName>style.visibility</p:attrName>
                                        </p:attrNameLst>
                                      </p:cBhvr>
                                      <p:to>
                                        <p:strVal val="hidden"/>
                                      </p:to>
                                    </p:set>
                                  </p:childTnLst>
                                </p:cTn>
                              </p:par>
                              <p:par>
                                <p:cTn id="183" presetID="10" presetClass="exit" presetSubtype="0" fill="hold" grpId="1" nodeType="withEffect">
                                  <p:stCondLst>
                                    <p:cond delay="0"/>
                                  </p:stCondLst>
                                  <p:childTnLst>
                                    <p:animEffect transition="out" filter="fade">
                                      <p:cBhvr>
                                        <p:cTn id="184" dur="250"/>
                                        <p:tgtEl>
                                          <p:spTgt spid="126"/>
                                        </p:tgtEl>
                                      </p:cBhvr>
                                    </p:animEffect>
                                    <p:set>
                                      <p:cBhvr>
                                        <p:cTn id="185" dur="1" fill="hold">
                                          <p:stCondLst>
                                            <p:cond delay="249"/>
                                          </p:stCondLst>
                                        </p:cTn>
                                        <p:tgtEl>
                                          <p:spTgt spid="126"/>
                                        </p:tgtEl>
                                        <p:attrNameLst>
                                          <p:attrName>style.visibility</p:attrName>
                                        </p:attrNameLst>
                                      </p:cBhvr>
                                      <p:to>
                                        <p:strVal val="hidden"/>
                                      </p:to>
                                    </p:set>
                                  </p:childTnLst>
                                </p:cTn>
                              </p:par>
                              <p:par>
                                <p:cTn id="186" presetID="10" presetClass="exit" presetSubtype="0" fill="hold" grpId="1" nodeType="withEffect">
                                  <p:stCondLst>
                                    <p:cond delay="0"/>
                                  </p:stCondLst>
                                  <p:childTnLst>
                                    <p:animEffect transition="out" filter="fade">
                                      <p:cBhvr>
                                        <p:cTn id="187" dur="250"/>
                                        <p:tgtEl>
                                          <p:spTgt spid="127"/>
                                        </p:tgtEl>
                                      </p:cBhvr>
                                    </p:animEffect>
                                    <p:set>
                                      <p:cBhvr>
                                        <p:cTn id="188" dur="1" fill="hold">
                                          <p:stCondLst>
                                            <p:cond delay="249"/>
                                          </p:stCondLst>
                                        </p:cTn>
                                        <p:tgtEl>
                                          <p:spTgt spid="127"/>
                                        </p:tgtEl>
                                        <p:attrNameLst>
                                          <p:attrName>style.visibility</p:attrName>
                                        </p:attrNameLst>
                                      </p:cBhvr>
                                      <p:to>
                                        <p:strVal val="hidden"/>
                                      </p:to>
                                    </p:set>
                                  </p:childTnLst>
                                </p:cTn>
                              </p:par>
                              <p:par>
                                <p:cTn id="189" presetID="10" presetClass="exit" presetSubtype="0" fill="hold" grpId="1" nodeType="withEffect">
                                  <p:stCondLst>
                                    <p:cond delay="0"/>
                                  </p:stCondLst>
                                  <p:childTnLst>
                                    <p:animEffect transition="out" filter="fade">
                                      <p:cBhvr>
                                        <p:cTn id="190" dur="250"/>
                                        <p:tgtEl>
                                          <p:spTgt spid="128"/>
                                        </p:tgtEl>
                                      </p:cBhvr>
                                    </p:animEffect>
                                    <p:set>
                                      <p:cBhvr>
                                        <p:cTn id="191" dur="1" fill="hold">
                                          <p:stCondLst>
                                            <p:cond delay="249"/>
                                          </p:stCondLst>
                                        </p:cTn>
                                        <p:tgtEl>
                                          <p:spTgt spid="128"/>
                                        </p:tgtEl>
                                        <p:attrNameLst>
                                          <p:attrName>style.visibility</p:attrName>
                                        </p:attrNameLst>
                                      </p:cBhvr>
                                      <p:to>
                                        <p:strVal val="hidden"/>
                                      </p:to>
                                    </p:set>
                                  </p:childTnLst>
                                </p:cTn>
                              </p:par>
                              <p:par>
                                <p:cTn id="192" presetID="10" presetClass="exit" presetSubtype="0" fill="hold" grpId="1" nodeType="withEffect">
                                  <p:stCondLst>
                                    <p:cond delay="0"/>
                                  </p:stCondLst>
                                  <p:childTnLst>
                                    <p:animEffect transition="out" filter="fade">
                                      <p:cBhvr>
                                        <p:cTn id="193" dur="250"/>
                                        <p:tgtEl>
                                          <p:spTgt spid="129"/>
                                        </p:tgtEl>
                                      </p:cBhvr>
                                    </p:animEffect>
                                    <p:set>
                                      <p:cBhvr>
                                        <p:cTn id="194" dur="1" fill="hold">
                                          <p:stCondLst>
                                            <p:cond delay="249"/>
                                          </p:stCondLst>
                                        </p:cTn>
                                        <p:tgtEl>
                                          <p:spTgt spid="129"/>
                                        </p:tgtEl>
                                        <p:attrNameLst>
                                          <p:attrName>style.visibility</p:attrName>
                                        </p:attrNameLst>
                                      </p:cBhvr>
                                      <p:to>
                                        <p:strVal val="hidden"/>
                                      </p:to>
                                    </p:set>
                                  </p:childTnLst>
                                </p:cTn>
                              </p:par>
                              <p:par>
                                <p:cTn id="195" presetID="10" presetClass="entr" presetSubtype="0" fill="hold" grpId="0" nodeType="withEffect">
                                  <p:stCondLst>
                                    <p:cond delay="0"/>
                                  </p:stCondLst>
                                  <p:childTnLst>
                                    <p:set>
                                      <p:cBhvr>
                                        <p:cTn id="196" dur="1" fill="hold">
                                          <p:stCondLst>
                                            <p:cond delay="0"/>
                                          </p:stCondLst>
                                        </p:cTn>
                                        <p:tgtEl>
                                          <p:spTgt spid="130"/>
                                        </p:tgtEl>
                                        <p:attrNameLst>
                                          <p:attrName>style.visibility</p:attrName>
                                        </p:attrNameLst>
                                      </p:cBhvr>
                                      <p:to>
                                        <p:strVal val="visible"/>
                                      </p:to>
                                    </p:set>
                                    <p:animEffect transition="in" filter="fade">
                                      <p:cBhvr>
                                        <p:cTn id="197" dur="350"/>
                                        <p:tgtEl>
                                          <p:spTgt spid="130"/>
                                        </p:tgtEl>
                                      </p:cBhvr>
                                    </p:animEffect>
                                  </p:childTnLst>
                                </p:cTn>
                              </p:par>
                              <p:par>
                                <p:cTn id="198" presetID="10" presetClass="entr" presetSubtype="0" fill="hold" grpId="0" nodeType="withEffect">
                                  <p:stCondLst>
                                    <p:cond delay="0"/>
                                  </p:stCondLst>
                                  <p:childTnLst>
                                    <p:set>
                                      <p:cBhvr>
                                        <p:cTn id="199" dur="1" fill="hold">
                                          <p:stCondLst>
                                            <p:cond delay="0"/>
                                          </p:stCondLst>
                                        </p:cTn>
                                        <p:tgtEl>
                                          <p:spTgt spid="131"/>
                                        </p:tgtEl>
                                        <p:attrNameLst>
                                          <p:attrName>style.visibility</p:attrName>
                                        </p:attrNameLst>
                                      </p:cBhvr>
                                      <p:to>
                                        <p:strVal val="visible"/>
                                      </p:to>
                                    </p:set>
                                    <p:animEffect transition="in" filter="fade">
                                      <p:cBhvr>
                                        <p:cTn id="200" dur="350"/>
                                        <p:tgtEl>
                                          <p:spTgt spid="131"/>
                                        </p:tgtEl>
                                      </p:cBhvr>
                                    </p:animEffect>
                                  </p:childTnLst>
                                </p:cTn>
                              </p:par>
                              <p:par>
                                <p:cTn id="201" presetID="10" presetClass="entr" presetSubtype="0" fill="hold" grpId="0" nodeType="withEffect">
                                  <p:stCondLst>
                                    <p:cond delay="0"/>
                                  </p:stCondLst>
                                  <p:childTnLst>
                                    <p:set>
                                      <p:cBhvr>
                                        <p:cTn id="202" dur="1" fill="hold">
                                          <p:stCondLst>
                                            <p:cond delay="0"/>
                                          </p:stCondLst>
                                        </p:cTn>
                                        <p:tgtEl>
                                          <p:spTgt spid="132"/>
                                        </p:tgtEl>
                                        <p:attrNameLst>
                                          <p:attrName>style.visibility</p:attrName>
                                        </p:attrNameLst>
                                      </p:cBhvr>
                                      <p:to>
                                        <p:strVal val="visible"/>
                                      </p:to>
                                    </p:set>
                                    <p:animEffect transition="in" filter="fade">
                                      <p:cBhvr>
                                        <p:cTn id="203" dur="350"/>
                                        <p:tgtEl>
                                          <p:spTgt spid="132"/>
                                        </p:tgtEl>
                                      </p:cBhvr>
                                    </p:animEffect>
                                  </p:childTnLst>
                                </p:cTn>
                              </p:par>
                              <p:par>
                                <p:cTn id="204" presetID="10" presetClass="entr" presetSubtype="0" fill="hold" grpId="0" nodeType="withEffect">
                                  <p:stCondLst>
                                    <p:cond delay="0"/>
                                  </p:stCondLst>
                                  <p:childTnLst>
                                    <p:set>
                                      <p:cBhvr>
                                        <p:cTn id="205" dur="1" fill="hold">
                                          <p:stCondLst>
                                            <p:cond delay="0"/>
                                          </p:stCondLst>
                                        </p:cTn>
                                        <p:tgtEl>
                                          <p:spTgt spid="133"/>
                                        </p:tgtEl>
                                        <p:attrNameLst>
                                          <p:attrName>style.visibility</p:attrName>
                                        </p:attrNameLst>
                                      </p:cBhvr>
                                      <p:to>
                                        <p:strVal val="visible"/>
                                      </p:to>
                                    </p:set>
                                    <p:animEffect transition="in" filter="fade">
                                      <p:cBhvr>
                                        <p:cTn id="206" dur="350"/>
                                        <p:tgtEl>
                                          <p:spTgt spid="133"/>
                                        </p:tgtEl>
                                      </p:cBhvr>
                                    </p:animEffect>
                                  </p:childTnLst>
                                </p:cTn>
                              </p:par>
                              <p:par>
                                <p:cTn id="207" presetID="10" presetClass="entr" presetSubtype="0" fill="hold" grpId="0" nodeType="withEffect">
                                  <p:stCondLst>
                                    <p:cond delay="0"/>
                                  </p:stCondLst>
                                  <p:childTnLst>
                                    <p:set>
                                      <p:cBhvr>
                                        <p:cTn id="208" dur="1" fill="hold">
                                          <p:stCondLst>
                                            <p:cond delay="0"/>
                                          </p:stCondLst>
                                        </p:cTn>
                                        <p:tgtEl>
                                          <p:spTgt spid="134"/>
                                        </p:tgtEl>
                                        <p:attrNameLst>
                                          <p:attrName>style.visibility</p:attrName>
                                        </p:attrNameLst>
                                      </p:cBhvr>
                                      <p:to>
                                        <p:strVal val="visible"/>
                                      </p:to>
                                    </p:set>
                                    <p:animEffect transition="in" filter="fade">
                                      <p:cBhvr>
                                        <p:cTn id="209" dur="350"/>
                                        <p:tgtEl>
                                          <p:spTgt spid="134"/>
                                        </p:tgtEl>
                                      </p:cBhvr>
                                    </p:animEffect>
                                  </p:childTnLst>
                                </p:cTn>
                              </p:par>
                              <p:par>
                                <p:cTn id="210" presetID="10" presetClass="entr" presetSubtype="0" fill="hold" grpId="0" nodeType="withEffect">
                                  <p:stCondLst>
                                    <p:cond delay="0"/>
                                  </p:stCondLst>
                                  <p:childTnLst>
                                    <p:set>
                                      <p:cBhvr>
                                        <p:cTn id="211" dur="1" fill="hold">
                                          <p:stCondLst>
                                            <p:cond delay="0"/>
                                          </p:stCondLst>
                                        </p:cTn>
                                        <p:tgtEl>
                                          <p:spTgt spid="135"/>
                                        </p:tgtEl>
                                        <p:attrNameLst>
                                          <p:attrName>style.visibility</p:attrName>
                                        </p:attrNameLst>
                                      </p:cBhvr>
                                      <p:to>
                                        <p:strVal val="visible"/>
                                      </p:to>
                                    </p:set>
                                    <p:animEffect transition="in" filter="fade">
                                      <p:cBhvr>
                                        <p:cTn id="212" dur="350"/>
                                        <p:tgtEl>
                                          <p:spTgt spid="135"/>
                                        </p:tgtEl>
                                      </p:cBhvr>
                                    </p:animEffect>
                                  </p:childTnLst>
                                </p:cTn>
                              </p:par>
                            </p:childTnLst>
                          </p:cTn>
                        </p:par>
                      </p:childTnLst>
                    </p:cTn>
                  </p:par>
                  <p:par>
                    <p:cTn id="213" fill="hold">
                      <p:stCondLst>
                        <p:cond delay="indefinite"/>
                      </p:stCondLst>
                      <p:childTnLst>
                        <p:par>
                          <p:cTn id="214" fill="hold">
                            <p:stCondLst>
                              <p:cond delay="0"/>
                            </p:stCondLst>
                            <p:childTnLst>
                              <p:par>
                                <p:cTn id="215" presetID="10" presetClass="exit" presetSubtype="0" fill="hold" grpId="1" nodeType="clickEffect">
                                  <p:stCondLst>
                                    <p:cond delay="0"/>
                                  </p:stCondLst>
                                  <p:childTnLst>
                                    <p:animEffect transition="out" filter="fade">
                                      <p:cBhvr>
                                        <p:cTn id="216" dur="250"/>
                                        <p:tgtEl>
                                          <p:spTgt spid="130"/>
                                        </p:tgtEl>
                                      </p:cBhvr>
                                    </p:animEffect>
                                    <p:set>
                                      <p:cBhvr>
                                        <p:cTn id="217" dur="1" fill="hold">
                                          <p:stCondLst>
                                            <p:cond delay="249"/>
                                          </p:stCondLst>
                                        </p:cTn>
                                        <p:tgtEl>
                                          <p:spTgt spid="130"/>
                                        </p:tgtEl>
                                        <p:attrNameLst>
                                          <p:attrName>style.visibility</p:attrName>
                                        </p:attrNameLst>
                                      </p:cBhvr>
                                      <p:to>
                                        <p:strVal val="hidden"/>
                                      </p:to>
                                    </p:set>
                                  </p:childTnLst>
                                </p:cTn>
                              </p:par>
                              <p:par>
                                <p:cTn id="218" presetID="10" presetClass="exit" presetSubtype="0" fill="hold" grpId="1" nodeType="withEffect">
                                  <p:stCondLst>
                                    <p:cond delay="0"/>
                                  </p:stCondLst>
                                  <p:childTnLst>
                                    <p:animEffect transition="out" filter="fade">
                                      <p:cBhvr>
                                        <p:cTn id="219" dur="250"/>
                                        <p:tgtEl>
                                          <p:spTgt spid="131"/>
                                        </p:tgtEl>
                                      </p:cBhvr>
                                    </p:animEffect>
                                    <p:set>
                                      <p:cBhvr>
                                        <p:cTn id="220" dur="1" fill="hold">
                                          <p:stCondLst>
                                            <p:cond delay="249"/>
                                          </p:stCondLst>
                                        </p:cTn>
                                        <p:tgtEl>
                                          <p:spTgt spid="131"/>
                                        </p:tgtEl>
                                        <p:attrNameLst>
                                          <p:attrName>style.visibility</p:attrName>
                                        </p:attrNameLst>
                                      </p:cBhvr>
                                      <p:to>
                                        <p:strVal val="hidden"/>
                                      </p:to>
                                    </p:set>
                                  </p:childTnLst>
                                </p:cTn>
                              </p:par>
                              <p:par>
                                <p:cTn id="221" presetID="10" presetClass="exit" presetSubtype="0" fill="hold" grpId="1" nodeType="withEffect">
                                  <p:stCondLst>
                                    <p:cond delay="0"/>
                                  </p:stCondLst>
                                  <p:childTnLst>
                                    <p:animEffect transition="out" filter="fade">
                                      <p:cBhvr>
                                        <p:cTn id="222" dur="250"/>
                                        <p:tgtEl>
                                          <p:spTgt spid="132"/>
                                        </p:tgtEl>
                                      </p:cBhvr>
                                    </p:animEffect>
                                    <p:set>
                                      <p:cBhvr>
                                        <p:cTn id="223" dur="1" fill="hold">
                                          <p:stCondLst>
                                            <p:cond delay="249"/>
                                          </p:stCondLst>
                                        </p:cTn>
                                        <p:tgtEl>
                                          <p:spTgt spid="132"/>
                                        </p:tgtEl>
                                        <p:attrNameLst>
                                          <p:attrName>style.visibility</p:attrName>
                                        </p:attrNameLst>
                                      </p:cBhvr>
                                      <p:to>
                                        <p:strVal val="hidden"/>
                                      </p:to>
                                    </p:set>
                                  </p:childTnLst>
                                </p:cTn>
                              </p:par>
                              <p:par>
                                <p:cTn id="224" presetID="10" presetClass="exit" presetSubtype="0" fill="hold" grpId="1" nodeType="withEffect">
                                  <p:stCondLst>
                                    <p:cond delay="0"/>
                                  </p:stCondLst>
                                  <p:childTnLst>
                                    <p:animEffect transition="out" filter="fade">
                                      <p:cBhvr>
                                        <p:cTn id="225" dur="250"/>
                                        <p:tgtEl>
                                          <p:spTgt spid="133"/>
                                        </p:tgtEl>
                                      </p:cBhvr>
                                    </p:animEffect>
                                    <p:set>
                                      <p:cBhvr>
                                        <p:cTn id="226" dur="1" fill="hold">
                                          <p:stCondLst>
                                            <p:cond delay="249"/>
                                          </p:stCondLst>
                                        </p:cTn>
                                        <p:tgtEl>
                                          <p:spTgt spid="133"/>
                                        </p:tgtEl>
                                        <p:attrNameLst>
                                          <p:attrName>style.visibility</p:attrName>
                                        </p:attrNameLst>
                                      </p:cBhvr>
                                      <p:to>
                                        <p:strVal val="hidden"/>
                                      </p:to>
                                    </p:set>
                                  </p:childTnLst>
                                </p:cTn>
                              </p:par>
                              <p:par>
                                <p:cTn id="227" presetID="10" presetClass="exit" presetSubtype="0" fill="hold" grpId="1" nodeType="withEffect">
                                  <p:stCondLst>
                                    <p:cond delay="0"/>
                                  </p:stCondLst>
                                  <p:childTnLst>
                                    <p:animEffect transition="out" filter="fade">
                                      <p:cBhvr>
                                        <p:cTn id="228" dur="250"/>
                                        <p:tgtEl>
                                          <p:spTgt spid="134"/>
                                        </p:tgtEl>
                                      </p:cBhvr>
                                    </p:animEffect>
                                    <p:set>
                                      <p:cBhvr>
                                        <p:cTn id="229" dur="1" fill="hold">
                                          <p:stCondLst>
                                            <p:cond delay="249"/>
                                          </p:stCondLst>
                                        </p:cTn>
                                        <p:tgtEl>
                                          <p:spTgt spid="134"/>
                                        </p:tgtEl>
                                        <p:attrNameLst>
                                          <p:attrName>style.visibility</p:attrName>
                                        </p:attrNameLst>
                                      </p:cBhvr>
                                      <p:to>
                                        <p:strVal val="hidden"/>
                                      </p:to>
                                    </p:set>
                                  </p:childTnLst>
                                </p:cTn>
                              </p:par>
                              <p:par>
                                <p:cTn id="230" presetID="10" presetClass="exit" presetSubtype="0" fill="hold" grpId="1" nodeType="withEffect">
                                  <p:stCondLst>
                                    <p:cond delay="0"/>
                                  </p:stCondLst>
                                  <p:childTnLst>
                                    <p:animEffect transition="out" filter="fade">
                                      <p:cBhvr>
                                        <p:cTn id="231" dur="250"/>
                                        <p:tgtEl>
                                          <p:spTgt spid="135"/>
                                        </p:tgtEl>
                                      </p:cBhvr>
                                    </p:animEffect>
                                    <p:set>
                                      <p:cBhvr>
                                        <p:cTn id="232" dur="1" fill="hold">
                                          <p:stCondLst>
                                            <p:cond delay="249"/>
                                          </p:stCondLst>
                                        </p:cTn>
                                        <p:tgtEl>
                                          <p:spTgt spid="135"/>
                                        </p:tgtEl>
                                        <p:attrNameLst>
                                          <p:attrName>style.visibility</p:attrName>
                                        </p:attrNameLst>
                                      </p:cBhvr>
                                      <p:to>
                                        <p:strVal val="hidden"/>
                                      </p:to>
                                    </p:set>
                                  </p:childTnLst>
                                </p:cTn>
                              </p:par>
                              <p:par>
                                <p:cTn id="233" presetID="10" presetClass="entr" presetSubtype="0" fill="hold" grpId="0" nodeType="withEffect">
                                  <p:stCondLst>
                                    <p:cond delay="0"/>
                                  </p:stCondLst>
                                  <p:childTnLst>
                                    <p:set>
                                      <p:cBhvr>
                                        <p:cTn id="234" dur="1" fill="hold">
                                          <p:stCondLst>
                                            <p:cond delay="0"/>
                                          </p:stCondLst>
                                        </p:cTn>
                                        <p:tgtEl>
                                          <p:spTgt spid="136"/>
                                        </p:tgtEl>
                                        <p:attrNameLst>
                                          <p:attrName>style.visibility</p:attrName>
                                        </p:attrNameLst>
                                      </p:cBhvr>
                                      <p:to>
                                        <p:strVal val="visible"/>
                                      </p:to>
                                    </p:set>
                                    <p:animEffect transition="in" filter="fade">
                                      <p:cBhvr>
                                        <p:cTn id="235" dur="350"/>
                                        <p:tgtEl>
                                          <p:spTgt spid="136"/>
                                        </p:tgtEl>
                                      </p:cBhvr>
                                    </p:animEffect>
                                  </p:childTnLst>
                                </p:cTn>
                              </p:par>
                              <p:par>
                                <p:cTn id="236" presetID="10" presetClass="entr" presetSubtype="0" fill="hold" grpId="0" nodeType="withEffect">
                                  <p:stCondLst>
                                    <p:cond delay="0"/>
                                  </p:stCondLst>
                                  <p:childTnLst>
                                    <p:set>
                                      <p:cBhvr>
                                        <p:cTn id="237" dur="1" fill="hold">
                                          <p:stCondLst>
                                            <p:cond delay="0"/>
                                          </p:stCondLst>
                                        </p:cTn>
                                        <p:tgtEl>
                                          <p:spTgt spid="137"/>
                                        </p:tgtEl>
                                        <p:attrNameLst>
                                          <p:attrName>style.visibility</p:attrName>
                                        </p:attrNameLst>
                                      </p:cBhvr>
                                      <p:to>
                                        <p:strVal val="visible"/>
                                      </p:to>
                                    </p:set>
                                    <p:animEffect transition="in" filter="fade">
                                      <p:cBhvr>
                                        <p:cTn id="238" dur="350"/>
                                        <p:tgtEl>
                                          <p:spTgt spid="137"/>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138"/>
                                        </p:tgtEl>
                                        <p:attrNameLst>
                                          <p:attrName>style.visibility</p:attrName>
                                        </p:attrNameLst>
                                      </p:cBhvr>
                                      <p:to>
                                        <p:strVal val="visible"/>
                                      </p:to>
                                    </p:set>
                                    <p:animEffect transition="in" filter="fade">
                                      <p:cBhvr>
                                        <p:cTn id="241" dur="350"/>
                                        <p:tgtEl>
                                          <p:spTgt spid="138"/>
                                        </p:tgtEl>
                                      </p:cBhvr>
                                    </p:animEffect>
                                  </p:childTnLst>
                                </p:cTn>
                              </p:par>
                              <p:par>
                                <p:cTn id="242" presetID="10" presetClass="entr" presetSubtype="0" fill="hold" grpId="0" nodeType="withEffect">
                                  <p:stCondLst>
                                    <p:cond delay="0"/>
                                  </p:stCondLst>
                                  <p:childTnLst>
                                    <p:set>
                                      <p:cBhvr>
                                        <p:cTn id="243" dur="1" fill="hold">
                                          <p:stCondLst>
                                            <p:cond delay="0"/>
                                          </p:stCondLst>
                                        </p:cTn>
                                        <p:tgtEl>
                                          <p:spTgt spid="139"/>
                                        </p:tgtEl>
                                        <p:attrNameLst>
                                          <p:attrName>style.visibility</p:attrName>
                                        </p:attrNameLst>
                                      </p:cBhvr>
                                      <p:to>
                                        <p:strVal val="visible"/>
                                      </p:to>
                                    </p:set>
                                    <p:animEffect transition="in" filter="fade">
                                      <p:cBhvr>
                                        <p:cTn id="244" dur="350"/>
                                        <p:tgtEl>
                                          <p:spTgt spid="139"/>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140"/>
                                        </p:tgtEl>
                                        <p:attrNameLst>
                                          <p:attrName>style.visibility</p:attrName>
                                        </p:attrNameLst>
                                      </p:cBhvr>
                                      <p:to>
                                        <p:strVal val="visible"/>
                                      </p:to>
                                    </p:set>
                                    <p:animEffect transition="in" filter="fade">
                                      <p:cBhvr>
                                        <p:cTn id="247" dur="350"/>
                                        <p:tgtEl>
                                          <p:spTgt spid="140"/>
                                        </p:tgtEl>
                                      </p:cBhvr>
                                    </p:animEffect>
                                  </p:childTnLst>
                                </p:cTn>
                              </p:par>
                              <p:par>
                                <p:cTn id="248" presetID="10" presetClass="entr" presetSubtype="0" fill="hold" grpId="0" nodeType="withEffect">
                                  <p:stCondLst>
                                    <p:cond delay="0"/>
                                  </p:stCondLst>
                                  <p:childTnLst>
                                    <p:set>
                                      <p:cBhvr>
                                        <p:cTn id="249" dur="1" fill="hold">
                                          <p:stCondLst>
                                            <p:cond delay="0"/>
                                          </p:stCondLst>
                                        </p:cTn>
                                        <p:tgtEl>
                                          <p:spTgt spid="141"/>
                                        </p:tgtEl>
                                        <p:attrNameLst>
                                          <p:attrName>style.visibility</p:attrName>
                                        </p:attrNameLst>
                                      </p:cBhvr>
                                      <p:to>
                                        <p:strVal val="visible"/>
                                      </p:to>
                                    </p:set>
                                    <p:animEffect transition="in" filter="fade">
                                      <p:cBhvr>
                                        <p:cTn id="250" dur="350"/>
                                        <p:tgtEl>
                                          <p:spTgt spid="141"/>
                                        </p:tgtEl>
                                      </p:cBhvr>
                                    </p:animEffect>
                                  </p:childTnLst>
                                </p:cTn>
                              </p:par>
                            </p:childTnLst>
                          </p:cTn>
                        </p:par>
                      </p:childTnLst>
                    </p:cTn>
                  </p:par>
                  <p:par>
                    <p:cTn id="251" fill="hold">
                      <p:stCondLst>
                        <p:cond delay="indefinite"/>
                      </p:stCondLst>
                      <p:childTnLst>
                        <p:par>
                          <p:cTn id="252" fill="hold">
                            <p:stCondLst>
                              <p:cond delay="0"/>
                            </p:stCondLst>
                            <p:childTnLst>
                              <p:par>
                                <p:cTn id="253" presetID="10" presetClass="exit" presetSubtype="0" fill="hold" grpId="1" nodeType="clickEffect">
                                  <p:stCondLst>
                                    <p:cond delay="0"/>
                                  </p:stCondLst>
                                  <p:childTnLst>
                                    <p:animEffect transition="out" filter="fade">
                                      <p:cBhvr>
                                        <p:cTn id="254" dur="250"/>
                                        <p:tgtEl>
                                          <p:spTgt spid="136"/>
                                        </p:tgtEl>
                                      </p:cBhvr>
                                    </p:animEffect>
                                    <p:set>
                                      <p:cBhvr>
                                        <p:cTn id="255" dur="1" fill="hold">
                                          <p:stCondLst>
                                            <p:cond delay="249"/>
                                          </p:stCondLst>
                                        </p:cTn>
                                        <p:tgtEl>
                                          <p:spTgt spid="136"/>
                                        </p:tgtEl>
                                        <p:attrNameLst>
                                          <p:attrName>style.visibility</p:attrName>
                                        </p:attrNameLst>
                                      </p:cBhvr>
                                      <p:to>
                                        <p:strVal val="hidden"/>
                                      </p:to>
                                    </p:set>
                                  </p:childTnLst>
                                </p:cTn>
                              </p:par>
                              <p:par>
                                <p:cTn id="256" presetID="10" presetClass="exit" presetSubtype="0" fill="hold" grpId="1" nodeType="withEffect">
                                  <p:stCondLst>
                                    <p:cond delay="0"/>
                                  </p:stCondLst>
                                  <p:childTnLst>
                                    <p:animEffect transition="out" filter="fade">
                                      <p:cBhvr>
                                        <p:cTn id="257" dur="250"/>
                                        <p:tgtEl>
                                          <p:spTgt spid="137"/>
                                        </p:tgtEl>
                                      </p:cBhvr>
                                    </p:animEffect>
                                    <p:set>
                                      <p:cBhvr>
                                        <p:cTn id="258" dur="1" fill="hold">
                                          <p:stCondLst>
                                            <p:cond delay="249"/>
                                          </p:stCondLst>
                                        </p:cTn>
                                        <p:tgtEl>
                                          <p:spTgt spid="137"/>
                                        </p:tgtEl>
                                        <p:attrNameLst>
                                          <p:attrName>style.visibility</p:attrName>
                                        </p:attrNameLst>
                                      </p:cBhvr>
                                      <p:to>
                                        <p:strVal val="hidden"/>
                                      </p:to>
                                    </p:set>
                                  </p:childTnLst>
                                </p:cTn>
                              </p:par>
                              <p:par>
                                <p:cTn id="259" presetID="10" presetClass="exit" presetSubtype="0" fill="hold" grpId="1" nodeType="withEffect">
                                  <p:stCondLst>
                                    <p:cond delay="0"/>
                                  </p:stCondLst>
                                  <p:childTnLst>
                                    <p:animEffect transition="out" filter="fade">
                                      <p:cBhvr>
                                        <p:cTn id="260" dur="250"/>
                                        <p:tgtEl>
                                          <p:spTgt spid="138"/>
                                        </p:tgtEl>
                                      </p:cBhvr>
                                    </p:animEffect>
                                    <p:set>
                                      <p:cBhvr>
                                        <p:cTn id="261" dur="1" fill="hold">
                                          <p:stCondLst>
                                            <p:cond delay="249"/>
                                          </p:stCondLst>
                                        </p:cTn>
                                        <p:tgtEl>
                                          <p:spTgt spid="138"/>
                                        </p:tgtEl>
                                        <p:attrNameLst>
                                          <p:attrName>style.visibility</p:attrName>
                                        </p:attrNameLst>
                                      </p:cBhvr>
                                      <p:to>
                                        <p:strVal val="hidden"/>
                                      </p:to>
                                    </p:set>
                                  </p:childTnLst>
                                </p:cTn>
                              </p:par>
                              <p:par>
                                <p:cTn id="262" presetID="10" presetClass="exit" presetSubtype="0" fill="hold" grpId="1" nodeType="withEffect">
                                  <p:stCondLst>
                                    <p:cond delay="0"/>
                                  </p:stCondLst>
                                  <p:childTnLst>
                                    <p:animEffect transition="out" filter="fade">
                                      <p:cBhvr>
                                        <p:cTn id="263" dur="250"/>
                                        <p:tgtEl>
                                          <p:spTgt spid="139"/>
                                        </p:tgtEl>
                                      </p:cBhvr>
                                    </p:animEffect>
                                    <p:set>
                                      <p:cBhvr>
                                        <p:cTn id="264" dur="1" fill="hold">
                                          <p:stCondLst>
                                            <p:cond delay="249"/>
                                          </p:stCondLst>
                                        </p:cTn>
                                        <p:tgtEl>
                                          <p:spTgt spid="139"/>
                                        </p:tgtEl>
                                        <p:attrNameLst>
                                          <p:attrName>style.visibility</p:attrName>
                                        </p:attrNameLst>
                                      </p:cBhvr>
                                      <p:to>
                                        <p:strVal val="hidden"/>
                                      </p:to>
                                    </p:set>
                                  </p:childTnLst>
                                </p:cTn>
                              </p:par>
                              <p:par>
                                <p:cTn id="265" presetID="10" presetClass="exit" presetSubtype="0" fill="hold" grpId="1" nodeType="withEffect">
                                  <p:stCondLst>
                                    <p:cond delay="0"/>
                                  </p:stCondLst>
                                  <p:childTnLst>
                                    <p:animEffect transition="out" filter="fade">
                                      <p:cBhvr>
                                        <p:cTn id="266" dur="250"/>
                                        <p:tgtEl>
                                          <p:spTgt spid="140"/>
                                        </p:tgtEl>
                                      </p:cBhvr>
                                    </p:animEffect>
                                    <p:set>
                                      <p:cBhvr>
                                        <p:cTn id="267" dur="1" fill="hold">
                                          <p:stCondLst>
                                            <p:cond delay="249"/>
                                          </p:stCondLst>
                                        </p:cTn>
                                        <p:tgtEl>
                                          <p:spTgt spid="140"/>
                                        </p:tgtEl>
                                        <p:attrNameLst>
                                          <p:attrName>style.visibility</p:attrName>
                                        </p:attrNameLst>
                                      </p:cBhvr>
                                      <p:to>
                                        <p:strVal val="hidden"/>
                                      </p:to>
                                    </p:set>
                                  </p:childTnLst>
                                </p:cTn>
                              </p:par>
                              <p:par>
                                <p:cTn id="268" presetID="10" presetClass="exit" presetSubtype="0" fill="hold" grpId="1" nodeType="withEffect">
                                  <p:stCondLst>
                                    <p:cond delay="0"/>
                                  </p:stCondLst>
                                  <p:childTnLst>
                                    <p:animEffect transition="out" filter="fade">
                                      <p:cBhvr>
                                        <p:cTn id="269" dur="250"/>
                                        <p:tgtEl>
                                          <p:spTgt spid="141"/>
                                        </p:tgtEl>
                                      </p:cBhvr>
                                    </p:animEffect>
                                    <p:set>
                                      <p:cBhvr>
                                        <p:cTn id="270" dur="1" fill="hold">
                                          <p:stCondLst>
                                            <p:cond delay="249"/>
                                          </p:stCondLst>
                                        </p:cTn>
                                        <p:tgtEl>
                                          <p:spTgt spid="141"/>
                                        </p:tgtEl>
                                        <p:attrNameLst>
                                          <p:attrName>style.visibility</p:attrName>
                                        </p:attrNameLst>
                                      </p:cBhvr>
                                      <p:to>
                                        <p:strVal val="hidden"/>
                                      </p:to>
                                    </p:set>
                                  </p:childTnLst>
                                </p:cTn>
                              </p:par>
                              <p:par>
                                <p:cTn id="271" presetID="10" presetClass="entr" presetSubtype="0" fill="hold" grpId="0" nodeType="withEffect">
                                  <p:stCondLst>
                                    <p:cond delay="0"/>
                                  </p:stCondLst>
                                  <p:childTnLst>
                                    <p:set>
                                      <p:cBhvr>
                                        <p:cTn id="272" dur="1" fill="hold">
                                          <p:stCondLst>
                                            <p:cond delay="0"/>
                                          </p:stCondLst>
                                        </p:cTn>
                                        <p:tgtEl>
                                          <p:spTgt spid="142"/>
                                        </p:tgtEl>
                                        <p:attrNameLst>
                                          <p:attrName>style.visibility</p:attrName>
                                        </p:attrNameLst>
                                      </p:cBhvr>
                                      <p:to>
                                        <p:strVal val="visible"/>
                                      </p:to>
                                    </p:set>
                                    <p:animEffect transition="in" filter="fade">
                                      <p:cBhvr>
                                        <p:cTn id="273" dur="350"/>
                                        <p:tgtEl>
                                          <p:spTgt spid="142"/>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143"/>
                                        </p:tgtEl>
                                        <p:attrNameLst>
                                          <p:attrName>style.visibility</p:attrName>
                                        </p:attrNameLst>
                                      </p:cBhvr>
                                      <p:to>
                                        <p:strVal val="visible"/>
                                      </p:to>
                                    </p:set>
                                    <p:animEffect transition="in" filter="fade">
                                      <p:cBhvr>
                                        <p:cTn id="276" dur="350"/>
                                        <p:tgtEl>
                                          <p:spTgt spid="143"/>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144"/>
                                        </p:tgtEl>
                                        <p:attrNameLst>
                                          <p:attrName>style.visibility</p:attrName>
                                        </p:attrNameLst>
                                      </p:cBhvr>
                                      <p:to>
                                        <p:strVal val="visible"/>
                                      </p:to>
                                    </p:set>
                                    <p:animEffect transition="in" filter="fade">
                                      <p:cBhvr>
                                        <p:cTn id="279" dur="350"/>
                                        <p:tgtEl>
                                          <p:spTgt spid="144"/>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145"/>
                                        </p:tgtEl>
                                        <p:attrNameLst>
                                          <p:attrName>style.visibility</p:attrName>
                                        </p:attrNameLst>
                                      </p:cBhvr>
                                      <p:to>
                                        <p:strVal val="visible"/>
                                      </p:to>
                                    </p:set>
                                    <p:animEffect transition="in" filter="fade">
                                      <p:cBhvr>
                                        <p:cTn id="282" dur="350"/>
                                        <p:tgtEl>
                                          <p:spTgt spid="145"/>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146"/>
                                        </p:tgtEl>
                                        <p:attrNameLst>
                                          <p:attrName>style.visibility</p:attrName>
                                        </p:attrNameLst>
                                      </p:cBhvr>
                                      <p:to>
                                        <p:strVal val="visible"/>
                                      </p:to>
                                    </p:set>
                                    <p:animEffect transition="in" filter="fade">
                                      <p:cBhvr>
                                        <p:cTn id="285" dur="350"/>
                                        <p:tgtEl>
                                          <p:spTgt spid="146"/>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147"/>
                                        </p:tgtEl>
                                        <p:attrNameLst>
                                          <p:attrName>style.visibility</p:attrName>
                                        </p:attrNameLst>
                                      </p:cBhvr>
                                      <p:to>
                                        <p:strVal val="visible"/>
                                      </p:to>
                                    </p:set>
                                    <p:animEffect transition="in" filter="fade">
                                      <p:cBhvr>
                                        <p:cTn id="288" dur="350"/>
                                        <p:tgtEl>
                                          <p:spTgt spid="147"/>
                                        </p:tgtEl>
                                      </p:cBhvr>
                                    </p:animEffect>
                                  </p:childTnLst>
                                </p:cTn>
                              </p:par>
                            </p:childTnLst>
                          </p:cTn>
                        </p:par>
                      </p:childTnLst>
                    </p:cTn>
                  </p:par>
                  <p:par>
                    <p:cTn id="289" fill="hold">
                      <p:stCondLst>
                        <p:cond delay="indefinite"/>
                      </p:stCondLst>
                      <p:childTnLst>
                        <p:par>
                          <p:cTn id="290" fill="hold">
                            <p:stCondLst>
                              <p:cond delay="0"/>
                            </p:stCondLst>
                            <p:childTnLst>
                              <p:par>
                                <p:cTn id="291" presetID="10" presetClass="exit" presetSubtype="0" fill="hold" grpId="1" nodeType="clickEffect">
                                  <p:stCondLst>
                                    <p:cond delay="0"/>
                                  </p:stCondLst>
                                  <p:childTnLst>
                                    <p:animEffect transition="out" filter="fade">
                                      <p:cBhvr>
                                        <p:cTn id="292" dur="250"/>
                                        <p:tgtEl>
                                          <p:spTgt spid="142"/>
                                        </p:tgtEl>
                                      </p:cBhvr>
                                    </p:animEffect>
                                    <p:set>
                                      <p:cBhvr>
                                        <p:cTn id="293" dur="1" fill="hold">
                                          <p:stCondLst>
                                            <p:cond delay="249"/>
                                          </p:stCondLst>
                                        </p:cTn>
                                        <p:tgtEl>
                                          <p:spTgt spid="142"/>
                                        </p:tgtEl>
                                        <p:attrNameLst>
                                          <p:attrName>style.visibility</p:attrName>
                                        </p:attrNameLst>
                                      </p:cBhvr>
                                      <p:to>
                                        <p:strVal val="hidden"/>
                                      </p:to>
                                    </p:set>
                                  </p:childTnLst>
                                </p:cTn>
                              </p:par>
                              <p:par>
                                <p:cTn id="294" presetID="10" presetClass="exit" presetSubtype="0" fill="hold" grpId="1" nodeType="withEffect">
                                  <p:stCondLst>
                                    <p:cond delay="0"/>
                                  </p:stCondLst>
                                  <p:childTnLst>
                                    <p:animEffect transition="out" filter="fade">
                                      <p:cBhvr>
                                        <p:cTn id="295" dur="250"/>
                                        <p:tgtEl>
                                          <p:spTgt spid="143"/>
                                        </p:tgtEl>
                                      </p:cBhvr>
                                    </p:animEffect>
                                    <p:set>
                                      <p:cBhvr>
                                        <p:cTn id="296" dur="1" fill="hold">
                                          <p:stCondLst>
                                            <p:cond delay="249"/>
                                          </p:stCondLst>
                                        </p:cTn>
                                        <p:tgtEl>
                                          <p:spTgt spid="143"/>
                                        </p:tgtEl>
                                        <p:attrNameLst>
                                          <p:attrName>style.visibility</p:attrName>
                                        </p:attrNameLst>
                                      </p:cBhvr>
                                      <p:to>
                                        <p:strVal val="hidden"/>
                                      </p:to>
                                    </p:set>
                                  </p:childTnLst>
                                </p:cTn>
                              </p:par>
                              <p:par>
                                <p:cTn id="297" presetID="10" presetClass="exit" presetSubtype="0" fill="hold" grpId="1" nodeType="withEffect">
                                  <p:stCondLst>
                                    <p:cond delay="0"/>
                                  </p:stCondLst>
                                  <p:childTnLst>
                                    <p:animEffect transition="out" filter="fade">
                                      <p:cBhvr>
                                        <p:cTn id="298" dur="250"/>
                                        <p:tgtEl>
                                          <p:spTgt spid="144"/>
                                        </p:tgtEl>
                                      </p:cBhvr>
                                    </p:animEffect>
                                    <p:set>
                                      <p:cBhvr>
                                        <p:cTn id="299" dur="1" fill="hold">
                                          <p:stCondLst>
                                            <p:cond delay="249"/>
                                          </p:stCondLst>
                                        </p:cTn>
                                        <p:tgtEl>
                                          <p:spTgt spid="144"/>
                                        </p:tgtEl>
                                        <p:attrNameLst>
                                          <p:attrName>style.visibility</p:attrName>
                                        </p:attrNameLst>
                                      </p:cBhvr>
                                      <p:to>
                                        <p:strVal val="hidden"/>
                                      </p:to>
                                    </p:set>
                                  </p:childTnLst>
                                </p:cTn>
                              </p:par>
                              <p:par>
                                <p:cTn id="300" presetID="10" presetClass="exit" presetSubtype="0" fill="hold" grpId="1" nodeType="withEffect">
                                  <p:stCondLst>
                                    <p:cond delay="0"/>
                                  </p:stCondLst>
                                  <p:childTnLst>
                                    <p:animEffect transition="out" filter="fade">
                                      <p:cBhvr>
                                        <p:cTn id="301" dur="250"/>
                                        <p:tgtEl>
                                          <p:spTgt spid="145"/>
                                        </p:tgtEl>
                                      </p:cBhvr>
                                    </p:animEffect>
                                    <p:set>
                                      <p:cBhvr>
                                        <p:cTn id="302" dur="1" fill="hold">
                                          <p:stCondLst>
                                            <p:cond delay="249"/>
                                          </p:stCondLst>
                                        </p:cTn>
                                        <p:tgtEl>
                                          <p:spTgt spid="145"/>
                                        </p:tgtEl>
                                        <p:attrNameLst>
                                          <p:attrName>style.visibility</p:attrName>
                                        </p:attrNameLst>
                                      </p:cBhvr>
                                      <p:to>
                                        <p:strVal val="hidden"/>
                                      </p:to>
                                    </p:set>
                                  </p:childTnLst>
                                </p:cTn>
                              </p:par>
                              <p:par>
                                <p:cTn id="303" presetID="10" presetClass="exit" presetSubtype="0" fill="hold" grpId="1" nodeType="withEffect">
                                  <p:stCondLst>
                                    <p:cond delay="0"/>
                                  </p:stCondLst>
                                  <p:childTnLst>
                                    <p:animEffect transition="out" filter="fade">
                                      <p:cBhvr>
                                        <p:cTn id="304" dur="250"/>
                                        <p:tgtEl>
                                          <p:spTgt spid="146"/>
                                        </p:tgtEl>
                                      </p:cBhvr>
                                    </p:animEffect>
                                    <p:set>
                                      <p:cBhvr>
                                        <p:cTn id="305" dur="1" fill="hold">
                                          <p:stCondLst>
                                            <p:cond delay="249"/>
                                          </p:stCondLst>
                                        </p:cTn>
                                        <p:tgtEl>
                                          <p:spTgt spid="146"/>
                                        </p:tgtEl>
                                        <p:attrNameLst>
                                          <p:attrName>style.visibility</p:attrName>
                                        </p:attrNameLst>
                                      </p:cBhvr>
                                      <p:to>
                                        <p:strVal val="hidden"/>
                                      </p:to>
                                    </p:set>
                                  </p:childTnLst>
                                </p:cTn>
                              </p:par>
                              <p:par>
                                <p:cTn id="306" presetID="10" presetClass="exit" presetSubtype="0" fill="hold" grpId="1" nodeType="withEffect">
                                  <p:stCondLst>
                                    <p:cond delay="0"/>
                                  </p:stCondLst>
                                  <p:childTnLst>
                                    <p:animEffect transition="out" filter="fade">
                                      <p:cBhvr>
                                        <p:cTn id="307" dur="250"/>
                                        <p:tgtEl>
                                          <p:spTgt spid="147"/>
                                        </p:tgtEl>
                                      </p:cBhvr>
                                    </p:animEffect>
                                    <p:set>
                                      <p:cBhvr>
                                        <p:cTn id="308" dur="1" fill="hold">
                                          <p:stCondLst>
                                            <p:cond delay="249"/>
                                          </p:stCondLst>
                                        </p:cTn>
                                        <p:tgtEl>
                                          <p:spTgt spid="147"/>
                                        </p:tgtEl>
                                        <p:attrNameLst>
                                          <p:attrName>style.visibility</p:attrName>
                                        </p:attrNameLst>
                                      </p:cBhvr>
                                      <p:to>
                                        <p:strVal val="hidden"/>
                                      </p:to>
                                    </p:set>
                                  </p:childTnLst>
                                </p:cTn>
                              </p:par>
                              <p:par>
                                <p:cTn id="309" presetID="10" presetClass="entr" presetSubtype="0" fill="hold" grpId="0" nodeType="withEffect">
                                  <p:stCondLst>
                                    <p:cond delay="0"/>
                                  </p:stCondLst>
                                  <p:childTnLst>
                                    <p:set>
                                      <p:cBhvr>
                                        <p:cTn id="310" dur="1" fill="hold">
                                          <p:stCondLst>
                                            <p:cond delay="0"/>
                                          </p:stCondLst>
                                        </p:cTn>
                                        <p:tgtEl>
                                          <p:spTgt spid="148"/>
                                        </p:tgtEl>
                                        <p:attrNameLst>
                                          <p:attrName>style.visibility</p:attrName>
                                        </p:attrNameLst>
                                      </p:cBhvr>
                                      <p:to>
                                        <p:strVal val="visible"/>
                                      </p:to>
                                    </p:set>
                                    <p:animEffect transition="in" filter="fade">
                                      <p:cBhvr>
                                        <p:cTn id="311" dur="350"/>
                                        <p:tgtEl>
                                          <p:spTgt spid="148"/>
                                        </p:tgtEl>
                                      </p:cBhvr>
                                    </p:animEffect>
                                  </p:childTnLst>
                                </p:cTn>
                              </p:par>
                              <p:par>
                                <p:cTn id="312" presetID="10" presetClass="entr" presetSubtype="0" fill="hold" grpId="0" nodeType="withEffect">
                                  <p:stCondLst>
                                    <p:cond delay="0"/>
                                  </p:stCondLst>
                                  <p:childTnLst>
                                    <p:set>
                                      <p:cBhvr>
                                        <p:cTn id="313" dur="1" fill="hold">
                                          <p:stCondLst>
                                            <p:cond delay="0"/>
                                          </p:stCondLst>
                                        </p:cTn>
                                        <p:tgtEl>
                                          <p:spTgt spid="149"/>
                                        </p:tgtEl>
                                        <p:attrNameLst>
                                          <p:attrName>style.visibility</p:attrName>
                                        </p:attrNameLst>
                                      </p:cBhvr>
                                      <p:to>
                                        <p:strVal val="visible"/>
                                      </p:to>
                                    </p:set>
                                    <p:animEffect transition="in" filter="fade">
                                      <p:cBhvr>
                                        <p:cTn id="314" dur="350"/>
                                        <p:tgtEl>
                                          <p:spTgt spid="149"/>
                                        </p:tgtEl>
                                      </p:cBhvr>
                                    </p:animEffect>
                                  </p:childTnLst>
                                </p:cTn>
                              </p:par>
                              <p:par>
                                <p:cTn id="315" presetID="10" presetClass="entr" presetSubtype="0" fill="hold" grpId="0" nodeType="withEffect">
                                  <p:stCondLst>
                                    <p:cond delay="0"/>
                                  </p:stCondLst>
                                  <p:childTnLst>
                                    <p:set>
                                      <p:cBhvr>
                                        <p:cTn id="316" dur="1" fill="hold">
                                          <p:stCondLst>
                                            <p:cond delay="0"/>
                                          </p:stCondLst>
                                        </p:cTn>
                                        <p:tgtEl>
                                          <p:spTgt spid="150"/>
                                        </p:tgtEl>
                                        <p:attrNameLst>
                                          <p:attrName>style.visibility</p:attrName>
                                        </p:attrNameLst>
                                      </p:cBhvr>
                                      <p:to>
                                        <p:strVal val="visible"/>
                                      </p:to>
                                    </p:set>
                                    <p:animEffect transition="in" filter="fade">
                                      <p:cBhvr>
                                        <p:cTn id="317" dur="350"/>
                                        <p:tgtEl>
                                          <p:spTgt spid="150"/>
                                        </p:tgtEl>
                                      </p:cBhvr>
                                    </p:animEffect>
                                  </p:childTnLst>
                                </p:cTn>
                              </p:par>
                              <p:par>
                                <p:cTn id="318" presetID="10" presetClass="entr" presetSubtype="0" fill="hold" grpId="0" nodeType="withEffect">
                                  <p:stCondLst>
                                    <p:cond delay="0"/>
                                  </p:stCondLst>
                                  <p:childTnLst>
                                    <p:set>
                                      <p:cBhvr>
                                        <p:cTn id="319" dur="1" fill="hold">
                                          <p:stCondLst>
                                            <p:cond delay="0"/>
                                          </p:stCondLst>
                                        </p:cTn>
                                        <p:tgtEl>
                                          <p:spTgt spid="151"/>
                                        </p:tgtEl>
                                        <p:attrNameLst>
                                          <p:attrName>style.visibility</p:attrName>
                                        </p:attrNameLst>
                                      </p:cBhvr>
                                      <p:to>
                                        <p:strVal val="visible"/>
                                      </p:to>
                                    </p:set>
                                    <p:animEffect transition="in" filter="fade">
                                      <p:cBhvr>
                                        <p:cTn id="320" dur="350"/>
                                        <p:tgtEl>
                                          <p:spTgt spid="151"/>
                                        </p:tgtEl>
                                      </p:cBhvr>
                                    </p:animEffect>
                                  </p:childTnLst>
                                </p:cTn>
                              </p:par>
                              <p:par>
                                <p:cTn id="321" presetID="10" presetClass="entr" presetSubtype="0" fill="hold" grpId="0" nodeType="withEffect">
                                  <p:stCondLst>
                                    <p:cond delay="0"/>
                                  </p:stCondLst>
                                  <p:childTnLst>
                                    <p:set>
                                      <p:cBhvr>
                                        <p:cTn id="322" dur="1" fill="hold">
                                          <p:stCondLst>
                                            <p:cond delay="0"/>
                                          </p:stCondLst>
                                        </p:cTn>
                                        <p:tgtEl>
                                          <p:spTgt spid="152"/>
                                        </p:tgtEl>
                                        <p:attrNameLst>
                                          <p:attrName>style.visibility</p:attrName>
                                        </p:attrNameLst>
                                      </p:cBhvr>
                                      <p:to>
                                        <p:strVal val="visible"/>
                                      </p:to>
                                    </p:set>
                                    <p:animEffect transition="in" filter="fade">
                                      <p:cBhvr>
                                        <p:cTn id="323" dur="350"/>
                                        <p:tgtEl>
                                          <p:spTgt spid="152"/>
                                        </p:tgtEl>
                                      </p:cBhvr>
                                    </p:animEffect>
                                  </p:childTnLst>
                                </p:cTn>
                              </p:par>
                              <p:par>
                                <p:cTn id="324" presetID="10" presetClass="entr" presetSubtype="0" fill="hold" grpId="0" nodeType="withEffect">
                                  <p:stCondLst>
                                    <p:cond delay="0"/>
                                  </p:stCondLst>
                                  <p:childTnLst>
                                    <p:set>
                                      <p:cBhvr>
                                        <p:cTn id="325" dur="1" fill="hold">
                                          <p:stCondLst>
                                            <p:cond delay="0"/>
                                          </p:stCondLst>
                                        </p:cTn>
                                        <p:tgtEl>
                                          <p:spTgt spid="153"/>
                                        </p:tgtEl>
                                        <p:attrNameLst>
                                          <p:attrName>style.visibility</p:attrName>
                                        </p:attrNameLst>
                                      </p:cBhvr>
                                      <p:to>
                                        <p:strVal val="visible"/>
                                      </p:to>
                                    </p:set>
                                    <p:animEffect transition="in" filter="fade">
                                      <p:cBhvr>
                                        <p:cTn id="326" dur="350"/>
                                        <p:tgtEl>
                                          <p:spTgt spid="153"/>
                                        </p:tgtEl>
                                      </p:cBhvr>
                                    </p:animEffect>
                                  </p:childTnLst>
                                </p:cTn>
                              </p:par>
                            </p:childTnLst>
                          </p:cTn>
                        </p:par>
                      </p:childTnLst>
                    </p:cTn>
                  </p:par>
                  <p:par>
                    <p:cTn id="327" fill="hold">
                      <p:stCondLst>
                        <p:cond delay="indefinite"/>
                      </p:stCondLst>
                      <p:childTnLst>
                        <p:par>
                          <p:cTn id="328" fill="hold">
                            <p:stCondLst>
                              <p:cond delay="0"/>
                            </p:stCondLst>
                            <p:childTnLst>
                              <p:par>
                                <p:cTn id="329" presetID="10" presetClass="exit" presetSubtype="0" fill="hold" grpId="1" nodeType="clickEffect">
                                  <p:stCondLst>
                                    <p:cond delay="0"/>
                                  </p:stCondLst>
                                  <p:childTnLst>
                                    <p:animEffect transition="out" filter="fade">
                                      <p:cBhvr>
                                        <p:cTn id="330" dur="250"/>
                                        <p:tgtEl>
                                          <p:spTgt spid="148"/>
                                        </p:tgtEl>
                                      </p:cBhvr>
                                    </p:animEffect>
                                    <p:set>
                                      <p:cBhvr>
                                        <p:cTn id="331" dur="1" fill="hold">
                                          <p:stCondLst>
                                            <p:cond delay="249"/>
                                          </p:stCondLst>
                                        </p:cTn>
                                        <p:tgtEl>
                                          <p:spTgt spid="148"/>
                                        </p:tgtEl>
                                        <p:attrNameLst>
                                          <p:attrName>style.visibility</p:attrName>
                                        </p:attrNameLst>
                                      </p:cBhvr>
                                      <p:to>
                                        <p:strVal val="hidden"/>
                                      </p:to>
                                    </p:set>
                                  </p:childTnLst>
                                </p:cTn>
                              </p:par>
                              <p:par>
                                <p:cTn id="332" presetID="10" presetClass="exit" presetSubtype="0" fill="hold" grpId="1" nodeType="withEffect">
                                  <p:stCondLst>
                                    <p:cond delay="0"/>
                                  </p:stCondLst>
                                  <p:childTnLst>
                                    <p:animEffect transition="out" filter="fade">
                                      <p:cBhvr>
                                        <p:cTn id="333" dur="250"/>
                                        <p:tgtEl>
                                          <p:spTgt spid="149"/>
                                        </p:tgtEl>
                                      </p:cBhvr>
                                    </p:animEffect>
                                    <p:set>
                                      <p:cBhvr>
                                        <p:cTn id="334" dur="1" fill="hold">
                                          <p:stCondLst>
                                            <p:cond delay="249"/>
                                          </p:stCondLst>
                                        </p:cTn>
                                        <p:tgtEl>
                                          <p:spTgt spid="149"/>
                                        </p:tgtEl>
                                        <p:attrNameLst>
                                          <p:attrName>style.visibility</p:attrName>
                                        </p:attrNameLst>
                                      </p:cBhvr>
                                      <p:to>
                                        <p:strVal val="hidden"/>
                                      </p:to>
                                    </p:set>
                                  </p:childTnLst>
                                </p:cTn>
                              </p:par>
                              <p:par>
                                <p:cTn id="335" presetID="10" presetClass="exit" presetSubtype="0" fill="hold" grpId="1" nodeType="withEffect">
                                  <p:stCondLst>
                                    <p:cond delay="0"/>
                                  </p:stCondLst>
                                  <p:childTnLst>
                                    <p:animEffect transition="out" filter="fade">
                                      <p:cBhvr>
                                        <p:cTn id="336" dur="250"/>
                                        <p:tgtEl>
                                          <p:spTgt spid="150"/>
                                        </p:tgtEl>
                                      </p:cBhvr>
                                    </p:animEffect>
                                    <p:set>
                                      <p:cBhvr>
                                        <p:cTn id="337" dur="1" fill="hold">
                                          <p:stCondLst>
                                            <p:cond delay="249"/>
                                          </p:stCondLst>
                                        </p:cTn>
                                        <p:tgtEl>
                                          <p:spTgt spid="150"/>
                                        </p:tgtEl>
                                        <p:attrNameLst>
                                          <p:attrName>style.visibility</p:attrName>
                                        </p:attrNameLst>
                                      </p:cBhvr>
                                      <p:to>
                                        <p:strVal val="hidden"/>
                                      </p:to>
                                    </p:set>
                                  </p:childTnLst>
                                </p:cTn>
                              </p:par>
                              <p:par>
                                <p:cTn id="338" presetID="10" presetClass="exit" presetSubtype="0" fill="hold" grpId="1" nodeType="withEffect">
                                  <p:stCondLst>
                                    <p:cond delay="0"/>
                                  </p:stCondLst>
                                  <p:childTnLst>
                                    <p:animEffect transition="out" filter="fade">
                                      <p:cBhvr>
                                        <p:cTn id="339" dur="250"/>
                                        <p:tgtEl>
                                          <p:spTgt spid="151"/>
                                        </p:tgtEl>
                                      </p:cBhvr>
                                    </p:animEffect>
                                    <p:set>
                                      <p:cBhvr>
                                        <p:cTn id="340" dur="1" fill="hold">
                                          <p:stCondLst>
                                            <p:cond delay="249"/>
                                          </p:stCondLst>
                                        </p:cTn>
                                        <p:tgtEl>
                                          <p:spTgt spid="151"/>
                                        </p:tgtEl>
                                        <p:attrNameLst>
                                          <p:attrName>style.visibility</p:attrName>
                                        </p:attrNameLst>
                                      </p:cBhvr>
                                      <p:to>
                                        <p:strVal val="hidden"/>
                                      </p:to>
                                    </p:set>
                                  </p:childTnLst>
                                </p:cTn>
                              </p:par>
                              <p:par>
                                <p:cTn id="341" presetID="10" presetClass="exit" presetSubtype="0" fill="hold" grpId="1" nodeType="withEffect">
                                  <p:stCondLst>
                                    <p:cond delay="0"/>
                                  </p:stCondLst>
                                  <p:childTnLst>
                                    <p:animEffect transition="out" filter="fade">
                                      <p:cBhvr>
                                        <p:cTn id="342" dur="250"/>
                                        <p:tgtEl>
                                          <p:spTgt spid="152"/>
                                        </p:tgtEl>
                                      </p:cBhvr>
                                    </p:animEffect>
                                    <p:set>
                                      <p:cBhvr>
                                        <p:cTn id="343" dur="1" fill="hold">
                                          <p:stCondLst>
                                            <p:cond delay="249"/>
                                          </p:stCondLst>
                                        </p:cTn>
                                        <p:tgtEl>
                                          <p:spTgt spid="152"/>
                                        </p:tgtEl>
                                        <p:attrNameLst>
                                          <p:attrName>style.visibility</p:attrName>
                                        </p:attrNameLst>
                                      </p:cBhvr>
                                      <p:to>
                                        <p:strVal val="hidden"/>
                                      </p:to>
                                    </p:set>
                                  </p:childTnLst>
                                </p:cTn>
                              </p:par>
                              <p:par>
                                <p:cTn id="344" presetID="10" presetClass="exit" presetSubtype="0" fill="hold" grpId="1" nodeType="withEffect">
                                  <p:stCondLst>
                                    <p:cond delay="0"/>
                                  </p:stCondLst>
                                  <p:childTnLst>
                                    <p:animEffect transition="out" filter="fade">
                                      <p:cBhvr>
                                        <p:cTn id="345" dur="250"/>
                                        <p:tgtEl>
                                          <p:spTgt spid="153"/>
                                        </p:tgtEl>
                                      </p:cBhvr>
                                    </p:animEffect>
                                    <p:set>
                                      <p:cBhvr>
                                        <p:cTn id="346" dur="1" fill="hold">
                                          <p:stCondLst>
                                            <p:cond delay="249"/>
                                          </p:stCondLst>
                                        </p:cTn>
                                        <p:tgtEl>
                                          <p:spTgt spid="1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0" grpId="1" animBg="1"/>
      <p:bldP spid="101" grpId="0" animBg="1"/>
      <p:bldP spid="101" grpId="1" animBg="1"/>
      <p:bldP spid="102" grpId="0" animBg="1"/>
      <p:bldP spid="102" grpId="1" animBg="1"/>
      <p:bldP spid="103" grpId="0" animBg="1"/>
      <p:bldP spid="103" grpId="1" animBg="1"/>
      <p:bldP spid="104" grpId="0" animBg="1"/>
      <p:bldP spid="104" grpId="1" animBg="1"/>
      <p:bldP spid="105" grpId="0" animBg="1"/>
      <p:bldP spid="105" grpId="1" animBg="1"/>
      <p:bldP spid="106" grpId="0" animBg="1"/>
      <p:bldP spid="106" grpId="1" animBg="1"/>
      <p:bldP spid="107" grpId="0" animBg="1"/>
      <p:bldP spid="107" grpId="1" animBg="1"/>
      <p:bldP spid="108" grpId="0" animBg="1"/>
      <p:bldP spid="108" grpId="1" animBg="1"/>
      <p:bldP spid="109" grpId="0" animBg="1"/>
      <p:bldP spid="109" grpId="1" animBg="1"/>
      <p:bldP spid="110" grpId="0" animBg="1"/>
      <p:bldP spid="110" grpId="1" animBg="1"/>
      <p:bldP spid="111" grpId="0" animBg="1"/>
      <p:bldP spid="111" grpId="1" animBg="1"/>
      <p:bldP spid="112" grpId="0" animBg="1"/>
      <p:bldP spid="112" grpId="1" animBg="1"/>
      <p:bldP spid="113" grpId="0" animBg="1"/>
      <p:bldP spid="113" grpId="1" animBg="1"/>
      <p:bldP spid="114" grpId="0" animBg="1"/>
      <p:bldP spid="114" grpId="1" animBg="1"/>
      <p:bldP spid="115" grpId="0" animBg="1"/>
      <p:bldP spid="115" grpId="1" animBg="1"/>
      <p:bldP spid="116" grpId="0" animBg="1"/>
      <p:bldP spid="116" grpId="1" animBg="1"/>
      <p:bldP spid="117" grpId="0" animBg="1"/>
      <p:bldP spid="117" grpId="1" animBg="1"/>
      <p:bldP spid="118" grpId="0" animBg="1"/>
      <p:bldP spid="118" grpId="1" animBg="1"/>
      <p:bldP spid="119" grpId="0" animBg="1"/>
      <p:bldP spid="119" grpId="1" animBg="1"/>
      <p:bldP spid="120" grpId="0" animBg="1"/>
      <p:bldP spid="120" grpId="1" animBg="1"/>
      <p:bldP spid="121" grpId="0" animBg="1"/>
      <p:bldP spid="121" grpId="1" animBg="1"/>
      <p:bldP spid="122" grpId="0" animBg="1"/>
      <p:bldP spid="122" grpId="1" animBg="1"/>
      <p:bldP spid="123" grpId="0" animBg="1"/>
      <p:bldP spid="123" grpId="1" animBg="1"/>
      <p:bldP spid="124" grpId="0" animBg="1"/>
      <p:bldP spid="124" grpId="1" animBg="1"/>
      <p:bldP spid="125" grpId="0" animBg="1"/>
      <p:bldP spid="125" grpId="1" animBg="1"/>
      <p:bldP spid="126" grpId="0" animBg="1"/>
      <p:bldP spid="126" grpId="1" animBg="1"/>
      <p:bldP spid="127" grpId="0" animBg="1"/>
      <p:bldP spid="127" grpId="1" animBg="1"/>
      <p:bldP spid="128" grpId="0" animBg="1"/>
      <p:bldP spid="128" grpId="1" animBg="1"/>
      <p:bldP spid="129" grpId="0" animBg="1"/>
      <p:bldP spid="129" grpId="1" animBg="1"/>
      <p:bldP spid="130" grpId="0" animBg="1"/>
      <p:bldP spid="130" grpId="1" animBg="1"/>
      <p:bldP spid="131" grpId="0" animBg="1"/>
      <p:bldP spid="131" grpId="1" animBg="1"/>
      <p:bldP spid="132" grpId="0" animBg="1"/>
      <p:bldP spid="132" grpId="1" animBg="1"/>
      <p:bldP spid="133" grpId="0" animBg="1"/>
      <p:bldP spid="133" grpId="1" animBg="1"/>
      <p:bldP spid="134" grpId="0" animBg="1"/>
      <p:bldP spid="134" grpId="1" animBg="1"/>
      <p:bldP spid="135" grpId="0" animBg="1"/>
      <p:bldP spid="135" grpId="1" animBg="1"/>
      <p:bldP spid="136" grpId="0" animBg="1"/>
      <p:bldP spid="136" grpId="1" animBg="1"/>
      <p:bldP spid="137" grpId="0" animBg="1"/>
      <p:bldP spid="137" grpId="1" animBg="1"/>
      <p:bldP spid="138" grpId="0" animBg="1"/>
      <p:bldP spid="138" grpId="1" animBg="1"/>
      <p:bldP spid="139" grpId="0" animBg="1"/>
      <p:bldP spid="139" grpId="1" animBg="1"/>
      <p:bldP spid="140" grpId="0" animBg="1"/>
      <p:bldP spid="140" grpId="1" animBg="1"/>
      <p:bldP spid="141" grpId="0" animBg="1"/>
      <p:bldP spid="141" grpId="1" animBg="1"/>
      <p:bldP spid="142" grpId="0" animBg="1"/>
      <p:bldP spid="142" grpId="1" animBg="1"/>
      <p:bldP spid="143" grpId="0" animBg="1"/>
      <p:bldP spid="143" grpId="1" animBg="1"/>
      <p:bldP spid="144" grpId="0" animBg="1"/>
      <p:bldP spid="144" grpId="1" animBg="1"/>
      <p:bldP spid="145" grpId="0" animBg="1"/>
      <p:bldP spid="145" grpId="1" animBg="1"/>
      <p:bldP spid="146" grpId="0" animBg="1"/>
      <p:bldP spid="146" grpId="1" animBg="1"/>
      <p:bldP spid="147" grpId="0" animBg="1"/>
      <p:bldP spid="147" grpId="1" animBg="1"/>
      <p:bldP spid="148" grpId="0" animBg="1"/>
      <p:bldP spid="148" grpId="1" animBg="1"/>
      <p:bldP spid="149" grpId="0" animBg="1"/>
      <p:bldP spid="149" grpId="1" animBg="1"/>
      <p:bldP spid="150" grpId="0" animBg="1"/>
      <p:bldP spid="150" grpId="1" animBg="1"/>
      <p:bldP spid="151" grpId="0" animBg="1"/>
      <p:bldP spid="151" grpId="1" animBg="1"/>
      <p:bldP spid="152" grpId="0" animBg="1"/>
      <p:bldP spid="152" grpId="1" animBg="1"/>
      <p:bldP spid="153" grpId="0" animBg="1"/>
      <p:bldP spid="15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3700" y="203200"/>
            <a:ext cx="11391900" cy="508000"/>
          </a:xfrm>
        </p:spPr>
        <p:txBody>
          <a:bodyPr anchor="ctr">
            <a:normAutofit/>
          </a:bodyPr>
          <a:lstStyle/>
          <a:p>
            <a:r>
              <a:rPr lang="en-GB" sz="2400" dirty="0">
                <a:solidFill>
                  <a:srgbClr val="6666CC"/>
                </a:solidFill>
                <a:latin typeface="Aptos" panose="020B0004020202020204" pitchFamily="34" charset="0"/>
              </a:rPr>
              <a:t>What stays in Salesforce, and how we cover it</a:t>
            </a:r>
          </a:p>
        </p:txBody>
      </p:sp>
      <p:cxnSp>
        <p:nvCxnSpPr>
          <p:cNvPr id="3" name="Straight Connector 2"/>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4" name="Subtitle"/>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dirty="0">
                <a:solidFill>
                  <a:srgbClr val="5E6170"/>
                </a:solidFill>
                <a:latin typeface="Century Gothic" panose="020B0502020202020204" pitchFamily="34" charset="0"/>
              </a:rPr>
              <a:t>Most of an org comes out automatically. For the few things that stay behind, we have a planned route.</a:t>
            </a:r>
          </a:p>
        </p:txBody>
      </p:sp>
      <p:sp>
        <p:nvSpPr>
          <p:cNvPr id="5" name="Card 1"/>
          <p:cNvSpPr/>
          <p:nvPr/>
        </p:nvSpPr>
        <p:spPr>
          <a:xfrm>
            <a:off x="393700" y="1270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Card 1 number"/>
          <p:cNvSpPr/>
          <p:nvPr/>
        </p:nvSpPr>
        <p:spPr>
          <a:xfrm>
            <a:off x="495300" y="1371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1</a:t>
            </a:r>
          </a:p>
        </p:txBody>
      </p:sp>
      <p:sp>
        <p:nvSpPr>
          <p:cNvPr id="7" name="Card 1 title"/>
          <p:cNvSpPr txBox="1"/>
          <p:nvPr/>
        </p:nvSpPr>
        <p:spPr>
          <a:xfrm>
            <a:off x="825500" y="1358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Vendor package code</a:t>
            </a:r>
          </a:p>
        </p:txBody>
      </p:sp>
      <p:sp>
        <p:nvSpPr>
          <p:cNvPr id="8" name="Card 1 body"/>
          <p:cNvSpPr txBox="1"/>
          <p:nvPr/>
        </p:nvSpPr>
        <p:spPr>
          <a:xfrm>
            <a:off x="444500" y="1739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AppExchange packages keep their source code private.</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export the settings as data, capture behaviour as tests, then rebuild, replace or retain each package. Demo: DLRS rebuilt, 44/44 match.</a:t>
            </a:r>
          </a:p>
        </p:txBody>
      </p:sp>
      <p:sp>
        <p:nvSpPr>
          <p:cNvPr id="9" name="Card 2"/>
          <p:cNvSpPr/>
          <p:nvPr/>
        </p:nvSpPr>
        <p:spPr>
          <a:xfrm>
            <a:off x="4241800" y="1270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ard 2 number"/>
          <p:cNvSpPr/>
          <p:nvPr/>
        </p:nvSpPr>
        <p:spPr>
          <a:xfrm>
            <a:off x="4343400" y="1371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2</a:t>
            </a:r>
          </a:p>
        </p:txBody>
      </p:sp>
      <p:sp>
        <p:nvSpPr>
          <p:cNvPr id="11" name="Card 2 title"/>
          <p:cNvSpPr txBox="1"/>
          <p:nvPr/>
        </p:nvSpPr>
        <p:spPr>
          <a:xfrm>
            <a:off x="4673600" y="1358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Passwords and secrets</a:t>
            </a:r>
          </a:p>
        </p:txBody>
      </p:sp>
      <p:sp>
        <p:nvSpPr>
          <p:cNvPr id="12" name="Card 2 body"/>
          <p:cNvSpPr txBox="1"/>
          <p:nvPr/>
        </p:nvSpPr>
        <p:spPr>
          <a:xfrm>
            <a:off x="4292600" y="1739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Passwords, tokens and private keys stay in Salesforce by design.</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move users to single sign-on; integration owners issue new credentials from our cutover checklist.</a:t>
            </a:r>
          </a:p>
        </p:txBody>
      </p:sp>
      <p:sp>
        <p:nvSpPr>
          <p:cNvPr id="13" name="Card 3"/>
          <p:cNvSpPr/>
          <p:nvPr/>
        </p:nvSpPr>
        <p:spPr>
          <a:xfrm>
            <a:off x="8089900" y="1270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Card 3 number"/>
          <p:cNvSpPr/>
          <p:nvPr/>
        </p:nvSpPr>
        <p:spPr>
          <a:xfrm>
            <a:off x="8191500" y="1371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3</a:t>
            </a:r>
          </a:p>
        </p:txBody>
      </p:sp>
      <p:sp>
        <p:nvSpPr>
          <p:cNvPr id="15" name="Card 3 title"/>
          <p:cNvSpPr txBox="1"/>
          <p:nvPr/>
        </p:nvSpPr>
        <p:spPr>
          <a:xfrm>
            <a:off x="8521700" y="1358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Systems that call in</a:t>
            </a:r>
          </a:p>
        </p:txBody>
      </p:sp>
      <p:sp>
        <p:nvSpPr>
          <p:cNvPr id="16" name="Card 3 body"/>
          <p:cNvSpPr txBox="1"/>
          <p:nvPr/>
        </p:nvSpPr>
        <p:spPr>
          <a:xfrm>
            <a:off x="8140700" y="1739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Inbound integrations are not described in metadata.</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find each caller in login history; our Salesforce-compatible API keeps them running during the move.</a:t>
            </a:r>
          </a:p>
        </p:txBody>
      </p:sp>
      <p:sp>
        <p:nvSpPr>
          <p:cNvPr id="17" name="Card 4"/>
          <p:cNvSpPr/>
          <p:nvPr/>
        </p:nvSpPr>
        <p:spPr>
          <a:xfrm>
            <a:off x="393700" y="2921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Card 4 number"/>
          <p:cNvSpPr/>
          <p:nvPr/>
        </p:nvSpPr>
        <p:spPr>
          <a:xfrm>
            <a:off x="495300" y="3022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4</a:t>
            </a:r>
          </a:p>
        </p:txBody>
      </p:sp>
      <p:sp>
        <p:nvSpPr>
          <p:cNvPr id="19" name="Card 4 title"/>
          <p:cNvSpPr txBox="1"/>
          <p:nvPr/>
        </p:nvSpPr>
        <p:spPr>
          <a:xfrm>
            <a:off x="825500" y="3009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History with time limits</a:t>
            </a:r>
          </a:p>
        </p:txBody>
      </p:sp>
      <p:sp>
        <p:nvSpPr>
          <p:cNvPr id="20" name="Card 4 body"/>
          <p:cNvSpPr txBox="1"/>
          <p:nvPr/>
        </p:nvSpPr>
        <p:spPr>
          <a:xfrm>
            <a:off x="444500" y="3390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Audit trail, login history and field history are kept for a limited time.</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archive continuously from the start of the migration, then load it into history tables with no time limit.</a:t>
            </a:r>
          </a:p>
        </p:txBody>
      </p:sp>
      <p:sp>
        <p:nvSpPr>
          <p:cNvPr id="21" name="Card 5"/>
          <p:cNvSpPr/>
          <p:nvPr/>
        </p:nvSpPr>
        <p:spPr>
          <a:xfrm>
            <a:off x="4241800" y="2921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Card 5 number"/>
          <p:cNvSpPr/>
          <p:nvPr/>
        </p:nvSpPr>
        <p:spPr>
          <a:xfrm>
            <a:off x="4343400" y="3022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5</a:t>
            </a:r>
          </a:p>
        </p:txBody>
      </p:sp>
      <p:sp>
        <p:nvSpPr>
          <p:cNvPr id="23" name="Card 5 title"/>
          <p:cNvSpPr txBox="1"/>
          <p:nvPr/>
        </p:nvSpPr>
        <p:spPr>
          <a:xfrm>
            <a:off x="4673600" y="3009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Built-in platform behaviour</a:t>
            </a:r>
          </a:p>
        </p:txBody>
      </p:sp>
      <p:sp>
        <p:nvSpPr>
          <p:cNvPr id="24" name="Card 5 body"/>
          <p:cNvSpPr txBox="1"/>
          <p:nvPr/>
        </p:nvSpPr>
        <p:spPr>
          <a:xfrm>
            <a:off x="4292600" y="3390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Lead conversion, owner-change cascades and the order of execution are not configuration.</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build it once into the platform and test it against the org.</a:t>
            </a:r>
          </a:p>
        </p:txBody>
      </p:sp>
      <p:sp>
        <p:nvSpPr>
          <p:cNvPr id="25" name="Card 6"/>
          <p:cNvSpPr/>
          <p:nvPr/>
        </p:nvSpPr>
        <p:spPr>
          <a:xfrm>
            <a:off x="8089900" y="2921000"/>
            <a:ext cx="3695700" cy="15240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Card 6 number"/>
          <p:cNvSpPr/>
          <p:nvPr/>
        </p:nvSpPr>
        <p:spPr>
          <a:xfrm>
            <a:off x="8191500" y="3022600"/>
            <a:ext cx="304800" cy="304800"/>
          </a:xfrm>
          <a:prstGeom prst="roundRect">
            <a:avLst>
              <a:gd name="adj" fmla="val 50000"/>
            </a:avLst>
          </a:prstGeom>
          <a:solidFill>
            <a:srgbClr val="6666CC"/>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6</a:t>
            </a:r>
          </a:p>
        </p:txBody>
      </p:sp>
      <p:sp>
        <p:nvSpPr>
          <p:cNvPr id="27" name="Card 6 title"/>
          <p:cNvSpPr txBox="1"/>
          <p:nvPr/>
        </p:nvSpPr>
        <p:spPr>
          <a:xfrm>
            <a:off x="8521700" y="3009900"/>
            <a:ext cx="32131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4B47A8"/>
                </a:solidFill>
                <a:latin typeface="Aptos" panose="020B0004020202020204" pitchFamily="34" charset="0"/>
              </a:rPr>
              <a:t>Work in progress at go-live</a:t>
            </a:r>
          </a:p>
        </p:txBody>
      </p:sp>
      <p:sp>
        <p:nvSpPr>
          <p:cNvPr id="28" name="Card 6 body"/>
          <p:cNvSpPr txBox="1"/>
          <p:nvPr/>
        </p:nvSpPr>
        <p:spPr>
          <a:xfrm>
            <a:off x="8140700" y="3390900"/>
            <a:ext cx="3594100" cy="1003300"/>
          </a:xfrm>
          <a:prstGeom prst="rect">
            <a:avLst/>
          </a:prstGeom>
          <a:noFill/>
        </p:spPr>
        <p:txBody>
          <a:bodyPr vert="horz" wrap="square" lIns="76200" tIns="38100" rIns="76200" bIns="38100" rtlCol="0" anchor="t">
            <a:noAutofit/>
          </a:bodyPr>
          <a:lstStyle/>
          <a:p>
            <a:pPr>
              <a:spcAft>
                <a:spcPts val="600"/>
              </a:spcAft>
            </a:pPr>
            <a:r>
              <a:rPr lang="en-GB" sz="1000" dirty="0">
                <a:solidFill>
                  <a:srgbClr val="5E6170"/>
                </a:solidFill>
                <a:latin typeface="Century Gothic" panose="020B0502020202020204" pitchFamily="34" charset="0"/>
              </a:rPr>
              <a:t>Pending approvals, paused flows and scheduled jobs on the day of cutover.</a:t>
            </a:r>
          </a:p>
          <a:p>
            <a:pPr>
              <a:spcAft>
                <a:spcPts val="300"/>
              </a:spcAft>
            </a:pPr>
            <a:r>
              <a:rPr lang="en-GB" sz="1000" b="1" dirty="0">
                <a:solidFill>
                  <a:srgbClr val="1F1F2E"/>
                </a:solidFill>
                <a:latin typeface="Century Gothic" panose="020B0502020202020204" pitchFamily="34" charset="0"/>
              </a:rPr>
              <a:t>How we cover it: </a:t>
            </a:r>
            <a:r>
              <a:rPr lang="en-GB" sz="1000" dirty="0">
                <a:solidFill>
                  <a:srgbClr val="1F1F2E"/>
                </a:solidFill>
                <a:latin typeface="Century Gothic" panose="020B0502020202020204" pitchFamily="34" charset="0"/>
              </a:rPr>
              <a:t>We list them automatically, then complete each one before the freeze or carry it over.</a:t>
            </a:r>
          </a:p>
        </p:txBody>
      </p:sp>
      <p:sp>
        <p:nvSpPr>
          <p:cNvPr id="29" name="Gap band"/>
          <p:cNvSpPr/>
          <p:nvPr/>
        </p:nvSpPr>
        <p:spPr>
          <a:xfrm>
            <a:off x="393700" y="4622800"/>
            <a:ext cx="11391900" cy="1193800"/>
          </a:xfrm>
          <a:prstGeom prst="roundRect">
            <a:avLst>
              <a:gd name="adj" fmla="val 5000"/>
            </a:avLst>
          </a:prstGeom>
          <a:solidFill>
            <a:srgbClr val="F4F4F6"/>
          </a:solidFill>
          <a:ln w="12700">
            <a:solidFill>
              <a:srgbClr val="C9C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Gap band title"/>
          <p:cNvSpPr txBox="1"/>
          <p:nvPr/>
        </p:nvSpPr>
        <p:spPr>
          <a:xfrm>
            <a:off x="495300" y="4686300"/>
            <a:ext cx="11188700" cy="330200"/>
          </a:xfrm>
          <a:prstGeom prst="rect">
            <a:avLst/>
          </a:prstGeom>
          <a:noFill/>
        </p:spPr>
        <p:txBody>
          <a:bodyPr vert="horz" wrap="square" lIns="76200" tIns="38100" rIns="76200" bIns="38100" rtlCol="0" anchor="ctr">
            <a:noAutofit/>
          </a:bodyPr>
          <a:lstStyle/>
          <a:p>
            <a:pPr>
              <a:spcAft>
                <a:spcPts val="300"/>
              </a:spcAft>
            </a:pPr>
            <a:r>
              <a:rPr lang="en-GB" sz="1250" b="1" dirty="0">
                <a:solidFill>
                  <a:srgbClr val="1F1F2E"/>
                </a:solidFill>
                <a:latin typeface="Aptos" panose="020B0004020202020204" pitchFamily="34" charset="0"/>
              </a:rPr>
              <a:t>Keeping the gap small</a:t>
            </a:r>
          </a:p>
        </p:txBody>
      </p:sp>
      <p:sp>
        <p:nvSpPr>
          <p:cNvPr id="31" name="Idea 1 mark"/>
          <p:cNvSpPr/>
          <p:nvPr/>
        </p:nvSpPr>
        <p:spPr>
          <a:xfrm>
            <a:off x="495300" y="5080000"/>
            <a:ext cx="304800" cy="304800"/>
          </a:xfrm>
          <a:prstGeom prst="roundRect">
            <a:avLst>
              <a:gd name="adj" fmla="val 50000"/>
            </a:avLst>
          </a:prstGeom>
          <a:solidFill>
            <a:srgbClr val="2CDCAA"/>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a:t>
            </a:r>
          </a:p>
        </p:txBody>
      </p:sp>
      <p:sp>
        <p:nvSpPr>
          <p:cNvPr id="32" name="Idea 1"/>
          <p:cNvSpPr txBox="1"/>
          <p:nvPr/>
        </p:nvSpPr>
        <p:spPr>
          <a:xfrm>
            <a:off x="838200" y="5054600"/>
            <a:ext cx="2339975" cy="711200"/>
          </a:xfrm>
          <a:prstGeom prst="rect">
            <a:avLst/>
          </a:prstGeom>
          <a:noFill/>
        </p:spPr>
        <p:txBody>
          <a:bodyPr vert="horz" wrap="square" lIns="76200" tIns="38100" rIns="76200" bIns="38100" rtlCol="0" anchor="t">
            <a:noAutofit/>
          </a:bodyPr>
          <a:lstStyle/>
          <a:p>
            <a:pPr>
              <a:spcAft>
                <a:spcPts val="200"/>
              </a:spcAft>
            </a:pPr>
            <a:r>
              <a:rPr lang="en-GB" sz="1050" b="1" dirty="0">
                <a:solidFill>
                  <a:srgbClr val="4B47A8"/>
                </a:solidFill>
                <a:latin typeface="Aptos" panose="020B0004020202020204" pitchFamily="34" charset="0"/>
              </a:rPr>
              <a:t>Coverage check</a:t>
            </a:r>
          </a:p>
          <a:p>
            <a:pPr>
              <a:spcAft>
                <a:spcPts val="300"/>
              </a:spcAft>
            </a:pPr>
            <a:r>
              <a:rPr lang="en-GB" sz="950" dirty="0">
                <a:solidFill>
                  <a:srgbClr val="1F1F2E"/>
                </a:solidFill>
                <a:latin typeface="Century Gothic" panose="020B0502020202020204" pitchFamily="34" charset="0"/>
              </a:rPr>
              <a:t>We compare every metadata type the org offers with what we retrieve, and add new types once.</a:t>
            </a:r>
          </a:p>
        </p:txBody>
      </p:sp>
      <p:sp>
        <p:nvSpPr>
          <p:cNvPr id="33" name="Idea 2 mark"/>
          <p:cNvSpPr/>
          <p:nvPr/>
        </p:nvSpPr>
        <p:spPr>
          <a:xfrm>
            <a:off x="3330575" y="5080000"/>
            <a:ext cx="304800" cy="304800"/>
          </a:xfrm>
          <a:prstGeom prst="roundRect">
            <a:avLst>
              <a:gd name="adj" fmla="val 50000"/>
            </a:avLst>
          </a:prstGeom>
          <a:solidFill>
            <a:srgbClr val="2CDCAA"/>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a:t>
            </a:r>
          </a:p>
        </p:txBody>
      </p:sp>
      <p:sp>
        <p:nvSpPr>
          <p:cNvPr id="34" name="Idea 2"/>
          <p:cNvSpPr txBox="1"/>
          <p:nvPr/>
        </p:nvSpPr>
        <p:spPr>
          <a:xfrm>
            <a:off x="3673475" y="5054600"/>
            <a:ext cx="2339975" cy="711200"/>
          </a:xfrm>
          <a:prstGeom prst="rect">
            <a:avLst/>
          </a:prstGeom>
          <a:noFill/>
        </p:spPr>
        <p:txBody>
          <a:bodyPr vert="horz" wrap="square" lIns="76200" tIns="38100" rIns="76200" bIns="38100" rtlCol="0" anchor="t">
            <a:noAutofit/>
          </a:bodyPr>
          <a:lstStyle/>
          <a:p>
            <a:pPr>
              <a:spcAft>
                <a:spcPts val="200"/>
              </a:spcAft>
            </a:pPr>
            <a:r>
              <a:rPr lang="en-GB" sz="1050" b="1" dirty="0">
                <a:solidFill>
                  <a:srgbClr val="4B47A8"/>
                </a:solidFill>
                <a:latin typeface="Aptos" panose="020B0004020202020204" pitchFamily="34" charset="0"/>
              </a:rPr>
              <a:t>Usage evidence</a:t>
            </a:r>
          </a:p>
          <a:p>
            <a:pPr>
              <a:spcAft>
                <a:spcPts val="300"/>
              </a:spcAft>
            </a:pPr>
            <a:r>
              <a:rPr lang="en-GB" sz="950" dirty="0">
                <a:solidFill>
                  <a:srgbClr val="1F1F2E"/>
                </a:solidFill>
                <a:latin typeface="Century Gothic" panose="020B0502020202020204" pitchFamily="34" charset="0"/>
              </a:rPr>
              <a:t>We use report runs, template use and logins to see what is still in use, so we rebuild less.</a:t>
            </a:r>
          </a:p>
        </p:txBody>
      </p:sp>
      <p:sp>
        <p:nvSpPr>
          <p:cNvPr id="35" name="Idea 3 mark"/>
          <p:cNvSpPr/>
          <p:nvPr/>
        </p:nvSpPr>
        <p:spPr>
          <a:xfrm>
            <a:off x="6165850" y="5080000"/>
            <a:ext cx="304800" cy="304800"/>
          </a:xfrm>
          <a:prstGeom prst="roundRect">
            <a:avLst>
              <a:gd name="adj" fmla="val 50000"/>
            </a:avLst>
          </a:prstGeom>
          <a:solidFill>
            <a:srgbClr val="2CDCAA"/>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a:t>
            </a:r>
          </a:p>
        </p:txBody>
      </p:sp>
      <p:sp>
        <p:nvSpPr>
          <p:cNvPr id="36" name="Idea 3"/>
          <p:cNvSpPr txBox="1"/>
          <p:nvPr/>
        </p:nvSpPr>
        <p:spPr>
          <a:xfrm>
            <a:off x="6508750" y="5054600"/>
            <a:ext cx="2339975" cy="711200"/>
          </a:xfrm>
          <a:prstGeom prst="rect">
            <a:avLst/>
          </a:prstGeom>
          <a:noFill/>
        </p:spPr>
        <p:txBody>
          <a:bodyPr vert="horz" wrap="square" lIns="76200" tIns="38100" rIns="76200" bIns="38100" rtlCol="0" anchor="t">
            <a:noAutofit/>
          </a:bodyPr>
          <a:lstStyle/>
          <a:p>
            <a:pPr>
              <a:spcAft>
                <a:spcPts val="200"/>
              </a:spcAft>
            </a:pPr>
            <a:r>
              <a:rPr lang="en-GB" sz="1050" b="1" dirty="0">
                <a:solidFill>
                  <a:srgbClr val="4B47A8"/>
                </a:solidFill>
                <a:latin typeface="Aptos" panose="020B0004020202020204" pitchFamily="34" charset="0"/>
              </a:rPr>
              <a:t>Side-by-side run</a:t>
            </a:r>
          </a:p>
          <a:p>
            <a:pPr>
              <a:spcAft>
                <a:spcPts val="300"/>
              </a:spcAft>
            </a:pPr>
            <a:r>
              <a:rPr lang="en-GB" sz="950" dirty="0">
                <a:solidFill>
                  <a:srgbClr val="1F1F2E"/>
                </a:solidFill>
                <a:latin typeface="Century Gothic" panose="020B0502020202020204" pitchFamily="34" charset="0"/>
              </a:rPr>
              <a:t>We run both systems in parallel; any difference becomes a new test.</a:t>
            </a:r>
          </a:p>
        </p:txBody>
      </p:sp>
      <p:sp>
        <p:nvSpPr>
          <p:cNvPr id="37" name="Idea 4 mark"/>
          <p:cNvSpPr/>
          <p:nvPr/>
        </p:nvSpPr>
        <p:spPr>
          <a:xfrm>
            <a:off x="9001125" y="5080000"/>
            <a:ext cx="304800" cy="304800"/>
          </a:xfrm>
          <a:prstGeom prst="roundRect">
            <a:avLst>
              <a:gd name="adj" fmla="val 50000"/>
            </a:avLst>
          </a:prstGeom>
          <a:solidFill>
            <a:srgbClr val="2CDCAA"/>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50" b="1" dirty="0">
                <a:solidFill>
                  <a:srgbClr val="FFFFFF"/>
                </a:solidFill>
                <a:latin typeface="Aptos" panose="020B0004020202020204" pitchFamily="34" charset="0"/>
              </a:rPr>
              <a:t>✓</a:t>
            </a:r>
          </a:p>
        </p:txBody>
      </p:sp>
      <p:sp>
        <p:nvSpPr>
          <p:cNvPr id="38" name="Idea 4"/>
          <p:cNvSpPr txBox="1"/>
          <p:nvPr/>
        </p:nvSpPr>
        <p:spPr>
          <a:xfrm>
            <a:off x="9344025" y="5054600"/>
            <a:ext cx="2339975" cy="711200"/>
          </a:xfrm>
          <a:prstGeom prst="rect">
            <a:avLst/>
          </a:prstGeom>
          <a:noFill/>
        </p:spPr>
        <p:txBody>
          <a:bodyPr vert="horz" wrap="square" lIns="76200" tIns="38100" rIns="76200" bIns="38100" rtlCol="0" anchor="t">
            <a:noAutofit/>
          </a:bodyPr>
          <a:lstStyle/>
          <a:p>
            <a:pPr>
              <a:spcAft>
                <a:spcPts val="200"/>
              </a:spcAft>
            </a:pPr>
            <a:r>
              <a:rPr lang="en-GB" sz="1050" b="1" dirty="0">
                <a:solidFill>
                  <a:srgbClr val="4B47A8"/>
                </a:solidFill>
                <a:latin typeface="Aptos" panose="020B0004020202020204" pitchFamily="34" charset="0"/>
              </a:rPr>
              <a:t>Gap register</a:t>
            </a:r>
          </a:p>
          <a:p>
            <a:pPr>
              <a:spcAft>
                <a:spcPts val="300"/>
              </a:spcAft>
            </a:pPr>
            <a:r>
              <a:rPr lang="en-GB" sz="950" dirty="0">
                <a:solidFill>
                  <a:srgbClr val="1F1F2E"/>
                </a:solidFill>
                <a:latin typeface="Century Gothic" panose="020B0502020202020204" pitchFamily="34" charset="0"/>
              </a:rPr>
              <a:t>We generate it per org: every item with its evidence, route and owning agent.</a:t>
            </a:r>
          </a:p>
        </p:txBody>
      </p:sp>
      <p:sp>
        <p:nvSpPr>
          <p:cNvPr id="39" name="Footnote"/>
          <p:cNvSpPr txBox="1"/>
          <p:nvPr/>
        </p:nvSpPr>
        <p:spPr>
          <a:xfrm>
            <a:off x="393700" y="5880100"/>
            <a:ext cx="11391900" cy="304800"/>
          </a:xfrm>
          <a:prstGeom prst="rect">
            <a:avLst/>
          </a:prstGeom>
          <a:noFill/>
        </p:spPr>
        <p:txBody>
          <a:bodyPr vert="horz" wrap="square" lIns="76200" tIns="38100" rIns="76200" bIns="38100" rtlCol="0" anchor="t">
            <a:noAutofit/>
          </a:bodyPr>
          <a:lstStyle/>
          <a:p>
            <a:pPr>
              <a:spcAft>
                <a:spcPts val="300"/>
              </a:spcAft>
            </a:pPr>
            <a:r>
              <a:rPr lang="en-GB" sz="1000" dirty="0">
                <a:solidFill>
                  <a:srgbClr val="5E6170"/>
                </a:solidFill>
                <a:latin typeface="Century Gothic" panose="020B0502020202020204" pitchFamily="34" charset="0"/>
              </a:rPr>
              <a:t>In the demo org we found and routed 2 packages, 1 remote site, 4 login sources, 3 scheduled jobs and 171 history tables automatically.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3700" y="203200"/>
            <a:ext cx="11391900" cy="508000"/>
          </a:xfrm>
        </p:spPr>
        <p:txBody>
          <a:bodyPr anchor="ctr">
            <a:normAutofit/>
          </a:bodyPr>
          <a:lstStyle/>
          <a:p>
            <a:r>
              <a:rPr lang="en-GB" sz="2400" dirty="0">
                <a:solidFill>
                  <a:srgbClr val="6666CC"/>
                </a:solidFill>
                <a:latin typeface="Aptos" panose="020B0004020202020204" pitchFamily="34" charset="0"/>
              </a:rPr>
              <a:t>Every Salesforce module, the same six phases</a:t>
            </a:r>
          </a:p>
        </p:txBody>
      </p:sp>
      <p:cxnSp>
        <p:nvCxnSpPr>
          <p:cNvPr id="3" name="Straight Connector 2"/>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4" name="Subtitle"/>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0"/>
              </a:spcAft>
            </a:pPr>
            <a:r>
              <a:rPr lang="en-GB" sz="1200" dirty="0">
                <a:solidFill>
                  <a:srgbClr val="5E6170"/>
                </a:solidFill>
                <a:latin typeface="Century Gothic" panose="020B0502020202020204" pitchFamily="34" charset="0"/>
              </a:rPr>
              <a:t>A module is a group of related objects. We run the same agents and phases for each; only the built-in behaviour differs.</a:t>
            </a:r>
          </a:p>
        </p:txBody>
      </p:sp>
      <p:graphicFrame>
        <p:nvGraphicFramePr>
          <p:cNvPr id="5" name="Modules table"/>
          <p:cNvGraphicFramePr>
            <a:graphicFrameLocks noGrp="1"/>
          </p:cNvGraphicFramePr>
          <p:nvPr/>
        </p:nvGraphicFramePr>
        <p:xfrm>
          <a:off x="393700" y="1257300"/>
          <a:ext cx="11391900" cy="390906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25654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gridCol w="3822700">
                  <a:extLst>
                    <a:ext uri="{9D8B030D-6E8A-4147-A177-3AD203B41FA5}">
                      <a16:colId xmlns:a16="http://schemas.microsoft.com/office/drawing/2014/main" val="20003"/>
                    </a:ext>
                  </a:extLst>
                </a:gridCol>
              </a:tblGrid>
              <a:tr h="330200">
                <a:tc>
                  <a:txBody>
                    <a:bodyPr/>
                    <a:lstStyle/>
                    <a:p>
                      <a:pPr>
                        <a:spcAft>
                          <a:spcPts val="0"/>
                        </a:spcAft>
                      </a:pPr>
                      <a:r>
                        <a:rPr lang="en-GB" sz="1000" b="1" dirty="0">
                          <a:solidFill>
                            <a:srgbClr val="FFFFFF"/>
                          </a:solidFill>
                          <a:latin typeface="Aptos" panose="020B0004020202020204" pitchFamily="34" charset="0"/>
                        </a:rPr>
                        <a:t>Module</a:t>
                      </a:r>
                    </a:p>
                  </a:txBody>
                  <a:tcPr marL="76200" marR="76200" anchor="ctr">
                    <a:lnL w="0">
                      <a:noFill/>
                    </a:lnL>
                    <a:lnR w="0">
                      <a:noFill/>
                    </a:lnR>
                    <a:lnT w="0">
                      <a:noFill/>
                    </a:lnT>
                    <a:lnB w="9525">
                      <a:solidFill>
                        <a:srgbClr val="DCDDE3"/>
                      </a:solidFill>
                    </a:lnB>
                    <a:solidFill>
                      <a:srgbClr val="6666CC"/>
                    </a:solidFill>
                  </a:tcPr>
                </a:tc>
                <a:tc>
                  <a:txBody>
                    <a:bodyPr/>
                    <a:lstStyle/>
                    <a:p>
                      <a:pPr>
                        <a:spcAft>
                          <a:spcPts val="0"/>
                        </a:spcAft>
                      </a:pPr>
                      <a:r>
                        <a:rPr lang="en-GB" sz="1000" b="1" dirty="0">
                          <a:solidFill>
                            <a:srgbClr val="FFFFFF"/>
                          </a:solidFill>
                          <a:latin typeface="Aptos" panose="020B0004020202020204" pitchFamily="34" charset="0"/>
                        </a:rPr>
                        <a:t>What it holds</a:t>
                      </a:r>
                    </a:p>
                  </a:txBody>
                  <a:tcPr marL="76200" marR="76200" anchor="ctr">
                    <a:lnL w="0">
                      <a:noFill/>
                    </a:lnL>
                    <a:lnR w="0">
                      <a:noFill/>
                    </a:lnR>
                    <a:lnT w="0">
                      <a:noFill/>
                    </a:lnT>
                    <a:lnB w="9525">
                      <a:solidFill>
                        <a:srgbClr val="DCDDE3"/>
                      </a:solidFill>
                    </a:lnB>
                    <a:solidFill>
                      <a:srgbClr val="6666CC"/>
                    </a:solidFill>
                  </a:tcPr>
                </a:tc>
                <a:tc>
                  <a:txBody>
                    <a:bodyPr/>
                    <a:lstStyle/>
                    <a:p>
                      <a:pPr>
                        <a:spcAft>
                          <a:spcPts val="0"/>
                        </a:spcAft>
                      </a:pPr>
                      <a:r>
                        <a:rPr lang="en-GB" sz="1000" b="1" dirty="0">
                          <a:solidFill>
                            <a:srgbClr val="FFFFFF"/>
                          </a:solidFill>
                          <a:latin typeface="Aptos" panose="020B0004020202020204" pitchFamily="34" charset="0"/>
                        </a:rPr>
                        <a:t>Moves on its own</a:t>
                      </a:r>
                    </a:p>
                  </a:txBody>
                  <a:tcPr marL="76200" marR="76200" anchor="ctr">
                    <a:lnL w="0">
                      <a:noFill/>
                    </a:lnL>
                    <a:lnR w="0">
                      <a:noFill/>
                    </a:lnR>
                    <a:lnT w="0">
                      <a:noFill/>
                    </a:lnT>
                    <a:lnB w="9525">
                      <a:solidFill>
                        <a:srgbClr val="DCDDE3"/>
                      </a:solidFill>
                    </a:lnB>
                    <a:solidFill>
                      <a:srgbClr val="6666CC"/>
                    </a:solidFill>
                  </a:tcPr>
                </a:tc>
                <a:tc>
                  <a:txBody>
                    <a:bodyPr/>
                    <a:lstStyle/>
                    <a:p>
                      <a:pPr>
                        <a:spcAft>
                          <a:spcPts val="0"/>
                        </a:spcAft>
                      </a:pPr>
                      <a:r>
                        <a:rPr lang="en-GB" sz="1000" b="1" dirty="0">
                          <a:solidFill>
                            <a:srgbClr val="FFFFFF"/>
                          </a:solidFill>
                          <a:latin typeface="Aptos" panose="020B0004020202020204" pitchFamily="34" charset="0"/>
                        </a:rPr>
                        <a:t>What we add</a:t>
                      </a:r>
                    </a:p>
                  </a:txBody>
                  <a:tcPr marL="76200" marR="76200" anchor="ctr">
                    <a:lnL w="0">
                      <a:noFill/>
                    </a:lnL>
                    <a:lnR w="0">
                      <a:noFill/>
                    </a:lnR>
                    <a:lnT w="0">
                      <a:noFill/>
                    </a:lnT>
                    <a:lnB w="9525">
                      <a:solidFill>
                        <a:srgbClr val="DCDDE3"/>
                      </a:solidFill>
                    </a:lnB>
                    <a:solidFill>
                      <a:srgbClr val="6666CC"/>
                    </a:solidFill>
                  </a:tcPr>
                </a:tc>
                <a:extLst>
                  <a:ext uri="{0D108BD9-81ED-4DB2-BD59-A6C34878D82A}">
                    <a16:rowId xmlns:a16="http://schemas.microsoft.com/office/drawing/2014/main" val="10000"/>
                  </a:ext>
                </a:extLst>
              </a:tr>
              <a:tr h="508000">
                <a:tc>
                  <a:txBody>
                    <a:bodyPr/>
                    <a:lstStyle/>
                    <a:p>
                      <a:pPr>
                        <a:spcAft>
                          <a:spcPts val="100"/>
                        </a:spcAft>
                      </a:pPr>
                      <a:r>
                        <a:rPr lang="en-GB" sz="1050" b="1" dirty="0">
                          <a:solidFill>
                            <a:srgbClr val="1F1F2E"/>
                          </a:solidFill>
                          <a:latin typeface="Aptos" panose="020B0004020202020204" pitchFamily="34" charset="0"/>
                        </a:rPr>
                        <a:t>Custom modules</a:t>
                      </a:r>
                      <a:r>
                        <a:rPr lang="en-GB" sz="800" dirty="0">
                          <a:solidFill>
                            <a:srgbClr val="5E6170"/>
                          </a:solidFill>
                          <a:latin typeface="Century Gothic" panose="020B0502020202020204" pitchFamily="34" charset="0"/>
                        </a:rPr>
                        <a:t>  e.g. Subscriptions, Purchase Orders, Projects</a:t>
                      </a:r>
                    </a:p>
                    <a:p>
                      <a:pPr>
                        <a:spcAft>
                          <a:spcPts val="0"/>
                        </a:spcAft>
                      </a:pPr>
                      <a:r>
                        <a:rPr lang="en-GB" sz="850" b="1" dirty="0">
                          <a:solidFill>
                            <a:srgbClr val="1A7F63"/>
                          </a:solidFill>
                          <a:latin typeface="Aptos" panose="020B0004020202020204" pitchFamily="34" charset="0"/>
                        </a:rPr>
                        <a:t>Moves fully</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Custom objects, fields, rules, code and flows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Everything, as we show end to end in the demo</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Nothing extra</a:t>
                      </a:r>
                    </a:p>
                  </a:txBody>
                  <a:tcPr marL="76200" marR="76200" anchor="ctr">
                    <a:lnL w="0">
                      <a:noFill/>
                    </a:lnL>
                    <a:lnR w="0">
                      <a:noFill/>
                    </a:lnR>
                    <a:lnT w="9525">
                      <a:solidFill>
                        <a:srgbClr val="DCDDE3"/>
                      </a:solidFill>
                    </a:lnT>
                    <a:lnB w="9525">
                      <a:solidFill>
                        <a:srgbClr val="DCDDE3"/>
                      </a:solidFill>
                    </a:lnB>
                    <a:solidFill>
                      <a:srgbClr val="FFFFFF"/>
                    </a:solidFill>
                  </a:tcPr>
                </a:tc>
                <a:extLst>
                  <a:ext uri="{0D108BD9-81ED-4DB2-BD59-A6C34878D82A}">
                    <a16:rowId xmlns:a16="http://schemas.microsoft.com/office/drawing/2014/main" val="10001"/>
                  </a:ext>
                </a:extLst>
              </a:tr>
              <a:tr h="508000">
                <a:tc>
                  <a:txBody>
                    <a:bodyPr/>
                    <a:lstStyle/>
                    <a:p>
                      <a:pPr>
                        <a:spcAft>
                          <a:spcPts val="100"/>
                        </a:spcAft>
                      </a:pPr>
                      <a:r>
                        <a:rPr lang="en-GB" sz="1050" b="1" dirty="0">
                          <a:solidFill>
                            <a:srgbClr val="1F1F2E"/>
                          </a:solidFill>
                          <a:latin typeface="Aptos" panose="020B0004020202020204" pitchFamily="34" charset="0"/>
                        </a:rPr>
                        <a:t>Sales Cloud</a:t>
                      </a:r>
                    </a:p>
                    <a:p>
                      <a:pPr>
                        <a:spcAft>
                          <a:spcPts val="0"/>
                        </a:spcAft>
                      </a:pPr>
                      <a:r>
                        <a:rPr lang="en-GB" sz="850" b="1" dirty="0">
                          <a:solidFill>
                            <a:srgbClr val="6666CC"/>
                          </a:solidFill>
                          <a:latin typeface="Aptos" panose="020B0004020202020204" pitchFamily="34" charset="0"/>
                        </a:rPr>
                        <a:t>Moves, plus built-in behaviour</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Leads, accounts, contacts, opportunities, products, quotes, forecasts</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Records, fields, rules and access. Accounts, contacts and opportunities are already in our demo</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We build once: lead conversion, owner-change rules, stage → probability. We rebuild forecasts as reports</a:t>
                      </a:r>
                    </a:p>
                  </a:txBody>
                  <a:tcPr marL="76200" marR="76200" anchor="ctr">
                    <a:lnL w="0">
                      <a:noFill/>
                    </a:lnL>
                    <a:lnR w="0">
                      <a:noFill/>
                    </a:lnR>
                    <a:lnT w="9525">
                      <a:solidFill>
                        <a:srgbClr val="DCDDE3"/>
                      </a:solidFill>
                    </a:lnT>
                    <a:lnB w="9525">
                      <a:solidFill>
                        <a:srgbClr val="DCDDE3"/>
                      </a:solidFill>
                    </a:lnB>
                    <a:solidFill>
                      <a:srgbClr val="F7F7FA"/>
                    </a:solidFill>
                  </a:tcPr>
                </a:tc>
                <a:extLst>
                  <a:ext uri="{0D108BD9-81ED-4DB2-BD59-A6C34878D82A}">
                    <a16:rowId xmlns:a16="http://schemas.microsoft.com/office/drawing/2014/main" val="10002"/>
                  </a:ext>
                </a:extLst>
              </a:tr>
              <a:tr h="508000">
                <a:tc>
                  <a:txBody>
                    <a:bodyPr/>
                    <a:lstStyle/>
                    <a:p>
                      <a:pPr>
                        <a:spcAft>
                          <a:spcPts val="100"/>
                        </a:spcAft>
                      </a:pPr>
                      <a:r>
                        <a:rPr lang="en-GB" sz="1050" b="1" dirty="0">
                          <a:solidFill>
                            <a:srgbClr val="1F1F2E"/>
                          </a:solidFill>
                          <a:latin typeface="Aptos" panose="020B0004020202020204" pitchFamily="34" charset="0"/>
                        </a:rPr>
                        <a:t>Service Cloud</a:t>
                      </a:r>
                    </a:p>
                    <a:p>
                      <a:pPr>
                        <a:spcAft>
                          <a:spcPts val="0"/>
                        </a:spcAft>
                      </a:pPr>
                      <a:r>
                        <a:rPr lang="en-GB" sz="850" b="1" dirty="0">
                          <a:solidFill>
                            <a:srgbClr val="6666CC"/>
                          </a:solidFill>
                          <a:latin typeface="Aptos" panose="020B0004020202020204" pitchFamily="34" charset="0"/>
                        </a:rPr>
                        <a:t>Moves, plus built-in behaviour</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Cases, SLAs, knowledge articles, email-to-case, routing</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Cases, SLA and routing definitions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We build once: email threading, SLA timers, routing queues, knowledge search</a:t>
                      </a:r>
                    </a:p>
                  </a:txBody>
                  <a:tcPr marL="76200" marR="76200" anchor="ctr">
                    <a:lnL w="0">
                      <a:noFill/>
                    </a:lnL>
                    <a:lnR w="0">
                      <a:noFill/>
                    </a:lnR>
                    <a:lnT w="9525">
                      <a:solidFill>
                        <a:srgbClr val="DCDDE3"/>
                      </a:solidFill>
                    </a:lnT>
                    <a:lnB w="9525">
                      <a:solidFill>
                        <a:srgbClr val="DCDDE3"/>
                      </a:solidFill>
                    </a:lnB>
                    <a:solidFill>
                      <a:srgbClr val="FFFFFF"/>
                    </a:solidFill>
                  </a:tcPr>
                </a:tc>
                <a:extLst>
                  <a:ext uri="{0D108BD9-81ED-4DB2-BD59-A6C34878D82A}">
                    <a16:rowId xmlns:a16="http://schemas.microsoft.com/office/drawing/2014/main" val="10003"/>
                  </a:ext>
                </a:extLst>
              </a:tr>
              <a:tr h="508000">
                <a:tc>
                  <a:txBody>
                    <a:bodyPr/>
                    <a:lstStyle/>
                    <a:p>
                      <a:pPr>
                        <a:spcAft>
                          <a:spcPts val="100"/>
                        </a:spcAft>
                      </a:pPr>
                      <a:r>
                        <a:rPr lang="en-GB" sz="1050" b="1" dirty="0">
                          <a:solidFill>
                            <a:srgbClr val="1F1F2E"/>
                          </a:solidFill>
                          <a:latin typeface="Aptos" panose="020B0004020202020204" pitchFamily="34" charset="0"/>
                        </a:rPr>
                        <a:t>Marketing</a:t>
                      </a:r>
                      <a:r>
                        <a:rPr lang="en-GB" sz="800" dirty="0">
                          <a:solidFill>
                            <a:srgbClr val="5E6170"/>
                          </a:solidFill>
                          <a:latin typeface="Century Gothic" panose="020B0502020202020204" pitchFamily="34" charset="0"/>
                        </a:rPr>
                        <a:t>  campaigns inside Salesforce</a:t>
                      </a:r>
                    </a:p>
                    <a:p>
                      <a:pPr>
                        <a:spcAft>
                          <a:spcPts val="0"/>
                        </a:spcAft>
                      </a:pPr>
                      <a:r>
                        <a:rPr lang="en-GB" sz="850" b="1" dirty="0">
                          <a:solidFill>
                            <a:srgbClr val="1A7F63"/>
                          </a:solidFill>
                          <a:latin typeface="Aptos" panose="020B0004020202020204" pitchFamily="34" charset="0"/>
                        </a:rPr>
                        <a:t>Moves fully</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Campaigns and campaign members</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Records and rules, like any other object</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Marketing Cloud and Account Engagement are separate products; we handle them separately</a:t>
                      </a:r>
                    </a:p>
                  </a:txBody>
                  <a:tcPr marL="76200" marR="76200" anchor="ctr">
                    <a:lnL w="0">
                      <a:noFill/>
                    </a:lnL>
                    <a:lnR w="0">
                      <a:noFill/>
                    </a:lnR>
                    <a:lnT w="9525">
                      <a:solidFill>
                        <a:srgbClr val="DCDDE3"/>
                      </a:solidFill>
                    </a:lnT>
                    <a:lnB w="9525">
                      <a:solidFill>
                        <a:srgbClr val="DCDDE3"/>
                      </a:solidFill>
                    </a:lnB>
                    <a:solidFill>
                      <a:srgbClr val="F7F7FA"/>
                    </a:solidFill>
                  </a:tcPr>
                </a:tc>
                <a:extLst>
                  <a:ext uri="{0D108BD9-81ED-4DB2-BD59-A6C34878D82A}">
                    <a16:rowId xmlns:a16="http://schemas.microsoft.com/office/drawing/2014/main" val="10004"/>
                  </a:ext>
                </a:extLst>
              </a:tr>
              <a:tr h="508000">
                <a:tc>
                  <a:txBody>
                    <a:bodyPr/>
                    <a:lstStyle/>
                    <a:p>
                      <a:pPr>
                        <a:spcAft>
                          <a:spcPts val="100"/>
                        </a:spcAft>
                      </a:pPr>
                      <a:r>
                        <a:rPr lang="en-GB" sz="1050" b="1" dirty="0">
                          <a:solidFill>
                            <a:srgbClr val="1F1F2E"/>
                          </a:solidFill>
                          <a:latin typeface="Aptos" panose="020B0004020202020204" pitchFamily="34" charset="0"/>
                        </a:rPr>
                        <a:t>CPQ / Revenue Cloud</a:t>
                      </a:r>
                      <a:r>
                        <a:rPr lang="en-GB" sz="800" dirty="0">
                          <a:solidFill>
                            <a:srgbClr val="5E6170"/>
                          </a:solidFill>
                          <a:latin typeface="Century Gothic" panose="020B0502020202020204" pitchFamily="34" charset="0"/>
                        </a:rPr>
                        <a:t>  a vendor package</a:t>
                      </a:r>
                    </a:p>
                    <a:p>
                      <a:pPr>
                        <a:spcAft>
                          <a:spcPts val="0"/>
                        </a:spcAft>
                      </a:pPr>
                      <a:r>
                        <a:rPr lang="en-GB" sz="850" b="1" dirty="0">
                          <a:solidFill>
                            <a:srgbClr val="A85F00"/>
                          </a:solidFill>
                          <a:latin typeface="Aptos" panose="020B0004020202020204" pitchFamily="34" charset="0"/>
                        </a:rPr>
                        <a:t>Route per app</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Quotes, pricing, discounts, contracts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Its settings and data</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Its pricing engine is hidden vendor code: we rebuild it from its settings and test it (as with DLRS), or replace it</a:t>
                      </a:r>
                    </a:p>
                  </a:txBody>
                  <a:tcPr marL="76200" marR="76200" anchor="ctr">
                    <a:lnL w="0">
                      <a:noFill/>
                    </a:lnL>
                    <a:lnR w="0">
                      <a:noFill/>
                    </a:lnR>
                    <a:lnT w="9525">
                      <a:solidFill>
                        <a:srgbClr val="DCDDE3"/>
                      </a:solidFill>
                    </a:lnT>
                    <a:lnB w="9525">
                      <a:solidFill>
                        <a:srgbClr val="DCDDE3"/>
                      </a:solidFill>
                    </a:lnB>
                    <a:solidFill>
                      <a:srgbClr val="FFFFFF"/>
                    </a:solidFill>
                  </a:tcPr>
                </a:tc>
                <a:extLst>
                  <a:ext uri="{0D108BD9-81ED-4DB2-BD59-A6C34878D82A}">
                    <a16:rowId xmlns:a16="http://schemas.microsoft.com/office/drawing/2014/main" val="10005"/>
                  </a:ext>
                </a:extLst>
              </a:tr>
              <a:tr h="508000">
                <a:tc>
                  <a:txBody>
                    <a:bodyPr/>
                    <a:lstStyle/>
                    <a:p>
                      <a:pPr>
                        <a:spcAft>
                          <a:spcPts val="100"/>
                        </a:spcAft>
                      </a:pPr>
                      <a:r>
                        <a:rPr lang="en-GB" sz="1050" b="1" dirty="0">
                          <a:solidFill>
                            <a:srgbClr val="1F1F2E"/>
                          </a:solidFill>
                          <a:latin typeface="Aptos" panose="020B0004020202020204" pitchFamily="34" charset="0"/>
                        </a:rPr>
                        <a:t>Field Service</a:t>
                      </a:r>
                    </a:p>
                    <a:p>
                      <a:pPr>
                        <a:spcAft>
                          <a:spcPts val="0"/>
                        </a:spcAft>
                      </a:pPr>
                      <a:r>
                        <a:rPr lang="en-GB" sz="850" b="1" dirty="0">
                          <a:solidFill>
                            <a:srgbClr val="A85F00"/>
                          </a:solidFill>
                          <a:latin typeface="Aptos" panose="020B0004020202020204" pitchFamily="34" charset="0"/>
                        </a:rPr>
                        <a:t>Route per app</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Work orders, appointments, technician scheduling</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Records</a:t>
                      </a:r>
                    </a:p>
                  </a:txBody>
                  <a:tcPr marL="76200" marR="76200" anchor="ctr">
                    <a:lnL w="0">
                      <a:noFill/>
                    </a:lnL>
                    <a:lnR w="0">
                      <a:noFill/>
                    </a:lnR>
                    <a:lnT w="9525">
                      <a:solidFill>
                        <a:srgbClr val="DCDDE3"/>
                      </a:solidFill>
                    </a:lnT>
                    <a:lnB w="9525">
                      <a:solidFill>
                        <a:srgbClr val="DCDDE3"/>
                      </a:solidFill>
                    </a:lnB>
                    <a:solidFill>
                      <a:srgbClr val="F7F7FA"/>
                    </a:solidFill>
                  </a:tcPr>
                </a:tc>
                <a:tc>
                  <a:txBody>
                    <a:bodyPr/>
                    <a:lstStyle/>
                    <a:p>
                      <a:pPr>
                        <a:spcAft>
                          <a:spcPts val="0"/>
                        </a:spcAft>
                      </a:pPr>
                      <a:r>
                        <a:rPr lang="en-GB" sz="900" dirty="0">
                          <a:solidFill>
                            <a:srgbClr val="1F1F2E"/>
                          </a:solidFill>
                          <a:latin typeface="Century Gothic" panose="020B0502020202020204" pitchFamily="34" charset="0"/>
                        </a:rPr>
                        <a:t>The scheduling optimiser is a product; we keep or replace it</a:t>
                      </a:r>
                    </a:p>
                  </a:txBody>
                  <a:tcPr marL="76200" marR="76200" anchor="ctr">
                    <a:lnL w="0">
                      <a:noFill/>
                    </a:lnL>
                    <a:lnR w="0">
                      <a:noFill/>
                    </a:lnR>
                    <a:lnT w="9525">
                      <a:solidFill>
                        <a:srgbClr val="DCDDE3"/>
                      </a:solidFill>
                    </a:lnT>
                    <a:lnB w="9525">
                      <a:solidFill>
                        <a:srgbClr val="DCDDE3"/>
                      </a:solidFill>
                    </a:lnB>
                    <a:solidFill>
                      <a:srgbClr val="F7F7FA"/>
                    </a:solidFill>
                  </a:tcPr>
                </a:tc>
                <a:extLst>
                  <a:ext uri="{0D108BD9-81ED-4DB2-BD59-A6C34878D82A}">
                    <a16:rowId xmlns:a16="http://schemas.microsoft.com/office/drawing/2014/main" val="10006"/>
                  </a:ext>
                </a:extLst>
              </a:tr>
              <a:tr h="508000">
                <a:tc>
                  <a:txBody>
                    <a:bodyPr/>
                    <a:lstStyle/>
                    <a:p>
                      <a:pPr>
                        <a:spcAft>
                          <a:spcPts val="100"/>
                        </a:spcAft>
                      </a:pPr>
                      <a:r>
                        <a:rPr lang="en-GB" sz="1050" b="1" dirty="0">
                          <a:solidFill>
                            <a:srgbClr val="1F1F2E"/>
                          </a:solidFill>
                          <a:latin typeface="Aptos" panose="020B0004020202020204" pitchFamily="34" charset="0"/>
                        </a:rPr>
                        <a:t>Experience Cloud</a:t>
                      </a:r>
                      <a:r>
                        <a:rPr lang="en-GB" sz="800" dirty="0">
                          <a:solidFill>
                            <a:srgbClr val="5E6170"/>
                          </a:solidFill>
                          <a:latin typeface="Century Gothic" panose="020B0502020202020204" pitchFamily="34" charset="0"/>
                        </a:rPr>
                        <a:t>  customer and partner portals</a:t>
                      </a:r>
                    </a:p>
                    <a:p>
                      <a:pPr>
                        <a:spcAft>
                          <a:spcPts val="0"/>
                        </a:spcAft>
                      </a:pPr>
                      <a:r>
                        <a:rPr lang="en-GB" sz="850" b="1" dirty="0">
                          <a:solidFill>
                            <a:srgbClr val="5E6170"/>
                          </a:solidFill>
                          <a:latin typeface="Aptos" panose="020B0004020202020204" pitchFamily="34" charset="0"/>
                        </a:rPr>
                        <a:t>Separate front end</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Websites for customers or partners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Site configuration and pages</a:t>
                      </a:r>
                    </a:p>
                  </a:txBody>
                  <a:tcPr marL="76200" marR="76200" anchor="ctr">
                    <a:lnL w="0">
                      <a:noFill/>
                    </a:lnL>
                    <a:lnR w="0">
                      <a:noFill/>
                    </a:lnR>
                    <a:lnT w="9525">
                      <a:solidFill>
                        <a:srgbClr val="DCDDE3"/>
                      </a:solidFill>
                    </a:lnT>
                    <a:lnB w="9525">
                      <a:solidFill>
                        <a:srgbClr val="DCDDE3"/>
                      </a:solidFill>
                    </a:lnB>
                    <a:solidFill>
                      <a:srgbClr val="FFFFFF"/>
                    </a:solidFill>
                  </a:tcPr>
                </a:tc>
                <a:tc>
                  <a:txBody>
                    <a:bodyPr/>
                    <a:lstStyle/>
                    <a:p>
                      <a:pPr>
                        <a:spcAft>
                          <a:spcPts val="0"/>
                        </a:spcAft>
                      </a:pPr>
                      <a:r>
                        <a:rPr lang="en-GB" sz="900" dirty="0">
                          <a:solidFill>
                            <a:srgbClr val="1F1F2E"/>
                          </a:solidFill>
                          <a:latin typeface="Century Gothic" panose="020B0502020202020204" pitchFamily="34" charset="0"/>
                        </a:rPr>
                        <a:t>A separate front end with its own security; we run it separately</a:t>
                      </a:r>
                    </a:p>
                  </a:txBody>
                  <a:tcPr marL="76200" marR="76200" anchor="ctr">
                    <a:lnL w="0">
                      <a:noFill/>
                    </a:lnL>
                    <a:lnR w="0">
                      <a:noFill/>
                    </a:lnR>
                    <a:lnT w="9525">
                      <a:solidFill>
                        <a:srgbClr val="DCDDE3"/>
                      </a:solidFill>
                    </a:lnT>
                    <a:lnB w="9525">
                      <a:solidFill>
                        <a:srgbClr val="DCDDE3"/>
                      </a:solidFill>
                    </a:lnB>
                    <a:solidFill>
                      <a:srgbClr val="FFFFFF"/>
                    </a:solidFill>
                  </a:tcPr>
                </a:tc>
                <a:extLst>
                  <a:ext uri="{0D108BD9-81ED-4DB2-BD59-A6C34878D82A}">
                    <a16:rowId xmlns:a16="http://schemas.microsoft.com/office/drawing/2014/main" val="10007"/>
                  </a:ext>
                </a:extLst>
              </a:tr>
            </a:tbl>
          </a:graphicData>
        </a:graphic>
      </p:graphicFrame>
      <p:sp>
        <p:nvSpPr>
          <p:cNvPr id="8" name="Note 3"/>
          <p:cNvSpPr/>
          <p:nvPr/>
        </p:nvSpPr>
        <p:spPr>
          <a:xfrm>
            <a:off x="4172324" y="5378824"/>
            <a:ext cx="3695700" cy="812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t">
            <a:noAutofit/>
          </a:bodyPr>
          <a:lstStyle/>
          <a:p>
            <a:pPr>
              <a:spcAft>
                <a:spcPts val="300"/>
              </a:spcAft>
            </a:pPr>
            <a:r>
              <a:rPr lang="en-GB" sz="1100" b="1" dirty="0">
                <a:solidFill>
                  <a:srgbClr val="4B47A8"/>
                </a:solidFill>
                <a:latin typeface="Aptos" panose="020B0004020202020204" pitchFamily="34" charset="0"/>
              </a:rPr>
              <a:t>Migration order</a:t>
            </a:r>
          </a:p>
          <a:p>
            <a:pPr>
              <a:spcAft>
                <a:spcPts val="0"/>
              </a:spcAft>
            </a:pPr>
            <a:r>
              <a:rPr lang="en-GB" sz="950" dirty="0">
                <a:solidFill>
                  <a:srgbClr val="1F1F2E"/>
                </a:solidFill>
                <a:latin typeface="Century Gothic" panose="020B0502020202020204" pitchFamily="34" charset="0"/>
              </a:rPr>
              <a:t>We move reporting first, so the numbers are trusted, then one module at a time with its own rollback. Salesforce stays live until the last one moves.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5F61-1962-3197-E89A-7A1528A64F36}"/>
              </a:ext>
            </a:extLst>
          </p:cNvPr>
          <p:cNvSpPr>
            <a:spLocks noGrp="1"/>
          </p:cNvSpPr>
          <p:nvPr>
            <p:ph type="ctrTitle"/>
          </p:nvPr>
        </p:nvSpPr>
        <p:spPr>
          <a:xfrm>
            <a:off x="393700" y="203200"/>
            <a:ext cx="11391900" cy="508000"/>
          </a:xfrm>
        </p:spPr>
        <p:txBody>
          <a:bodyPr anchor="ctr">
            <a:normAutofit/>
          </a:bodyPr>
          <a:lstStyle/>
          <a:p>
            <a:r>
              <a:rPr lang="en-GB" sz="2400">
                <a:solidFill>
                  <a:srgbClr val="6666CC"/>
                </a:solidFill>
                <a:latin typeface="Aptos" panose="020B0004020202020204" pitchFamily="34" charset="0"/>
              </a:rPr>
              <a:t>Handling large data volumes</a:t>
            </a:r>
          </a:p>
        </p:txBody>
      </p:sp>
      <p:cxnSp>
        <p:nvCxnSpPr>
          <p:cNvPr id="4" name="Straight Connector 3">
            <a:extLst>
              <a:ext uri="{FF2B5EF4-FFF2-40B4-BE49-F238E27FC236}">
                <a16:creationId xmlns:a16="http://schemas.microsoft.com/office/drawing/2014/main" id="{77B514B4-261D-7FD8-8A9B-8450E8A8EFE1}"/>
              </a:ext>
            </a:extLst>
          </p:cNvPr>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D25A6A3-3DA3-8686-7B89-AB8530A95AAA}"/>
              </a:ext>
            </a:extLst>
          </p:cNvPr>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dirty="0">
                <a:solidFill>
                  <a:srgbClr val="5E6170"/>
                </a:solidFill>
                <a:latin typeface="Century Gothic" panose="020B0502020202020204" pitchFamily="34" charset="0"/>
              </a:rPr>
              <a:t>A coordinator agent with parallel workers makes sure about the scale out, not one long load.</a:t>
            </a:r>
          </a:p>
        </p:txBody>
      </p:sp>
      <p:sp>
        <p:nvSpPr>
          <p:cNvPr id="6" name="Rectangle: Rounded Corners 5">
            <a:extLst>
              <a:ext uri="{FF2B5EF4-FFF2-40B4-BE49-F238E27FC236}">
                <a16:creationId xmlns:a16="http://schemas.microsoft.com/office/drawing/2014/main" id="{68D5A13C-8783-4A95-647F-966F6FE0030D}"/>
              </a:ext>
            </a:extLst>
          </p:cNvPr>
          <p:cNvSpPr/>
          <p:nvPr/>
        </p:nvSpPr>
        <p:spPr>
          <a:xfrm>
            <a:off x="393700" y="1422400"/>
            <a:ext cx="1498600" cy="1905000"/>
          </a:xfrm>
          <a:prstGeom prst="roundRect">
            <a:avLst>
              <a:gd name="adj" fmla="val 8000"/>
            </a:avLst>
          </a:prstGeom>
          <a:solidFill>
            <a:srgbClr val="F4F4F6"/>
          </a:solidFill>
          <a:ln w="12700">
            <a:solidFill>
              <a:srgbClr val="C9C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A3AB42B1-3CF8-A27D-9EC8-4A359C373C65}"/>
              </a:ext>
            </a:extLst>
          </p:cNvPr>
          <p:cNvSpPr txBox="1"/>
          <p:nvPr/>
        </p:nvSpPr>
        <p:spPr>
          <a:xfrm>
            <a:off x="444500" y="1574800"/>
            <a:ext cx="1397000" cy="369332"/>
          </a:xfrm>
          <a:prstGeom prst="rect">
            <a:avLst/>
          </a:prstGeom>
          <a:noFill/>
        </p:spPr>
        <p:txBody>
          <a:bodyPr vert="horz" wrap="square" lIns="76200" tIns="38100" rIns="76200" bIns="38100" rtlCol="0" anchor="t">
            <a:noAutofit/>
          </a:bodyPr>
          <a:lstStyle/>
          <a:p>
            <a:pPr algn="ctr">
              <a:spcAft>
                <a:spcPts val="300"/>
              </a:spcAft>
            </a:pPr>
            <a:r>
              <a:rPr lang="en-GB" sz="1200" b="1">
                <a:solidFill>
                  <a:srgbClr val="1F1F2E"/>
                </a:solidFill>
                <a:latin typeface="Aptos" panose="020B0004020202020204" pitchFamily="34" charset="0"/>
              </a:rPr>
              <a:t>Salesforce org</a:t>
            </a:r>
          </a:p>
          <a:p>
            <a:pPr algn="ctr">
              <a:spcAft>
                <a:spcPts val="300"/>
              </a:spcAft>
            </a:pPr>
            <a:r>
              <a:rPr lang="en-GB" sz="950">
                <a:solidFill>
                  <a:srgbClr val="5E6170"/>
                </a:solidFill>
                <a:latin typeface="Aptos" panose="020B0004020202020204" pitchFamily="34" charset="0"/>
              </a:rPr>
              <a:t>Bulk API with PK chunking</a:t>
            </a:r>
          </a:p>
          <a:p>
            <a:pPr algn="ctr">
              <a:spcAft>
                <a:spcPts val="300"/>
              </a:spcAft>
            </a:pPr>
            <a:r>
              <a:rPr lang="en-GB" sz="950">
                <a:solidFill>
                  <a:srgbClr val="5E6170"/>
                </a:solidFill>
                <a:latin typeface="Aptos" panose="020B0004020202020204" pitchFamily="34" charset="0"/>
              </a:rPr>
              <a:t>Change data capture</a:t>
            </a:r>
          </a:p>
        </p:txBody>
      </p:sp>
      <p:sp>
        <p:nvSpPr>
          <p:cNvPr id="8" name="Arrow: Right 7">
            <a:extLst>
              <a:ext uri="{FF2B5EF4-FFF2-40B4-BE49-F238E27FC236}">
                <a16:creationId xmlns:a16="http://schemas.microsoft.com/office/drawing/2014/main" id="{ACCFC2DA-72B7-45D2-9D94-7563FD57D507}"/>
              </a:ext>
            </a:extLst>
          </p:cNvPr>
          <p:cNvSpPr/>
          <p:nvPr/>
        </p:nvSpPr>
        <p:spPr>
          <a:xfrm>
            <a:off x="1943100" y="22860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198F8DE2-C6C8-B4C2-5561-33FA71CE7D6F}"/>
              </a:ext>
            </a:extLst>
          </p:cNvPr>
          <p:cNvSpPr/>
          <p:nvPr/>
        </p:nvSpPr>
        <p:spPr>
          <a:xfrm>
            <a:off x="2197100" y="1422400"/>
            <a:ext cx="1905000" cy="19050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F21294F9-735C-D0A4-7793-94C8FC94AF03}"/>
              </a:ext>
            </a:extLst>
          </p:cNvPr>
          <p:cNvSpPr txBox="1"/>
          <p:nvPr/>
        </p:nvSpPr>
        <p:spPr>
          <a:xfrm>
            <a:off x="2247900" y="1574800"/>
            <a:ext cx="1803400" cy="369332"/>
          </a:xfrm>
          <a:prstGeom prst="rect">
            <a:avLst/>
          </a:prstGeom>
          <a:noFill/>
        </p:spPr>
        <p:txBody>
          <a:bodyPr vert="horz" wrap="square" lIns="76200" tIns="38100" rIns="76200" bIns="38100" rtlCol="0" anchor="t">
            <a:noAutofit/>
          </a:bodyPr>
          <a:lstStyle/>
          <a:p>
            <a:pPr algn="ctr">
              <a:spcAft>
                <a:spcPts val="300"/>
              </a:spcAft>
            </a:pPr>
            <a:r>
              <a:rPr lang="en-GB" sz="1200" b="1">
                <a:solidFill>
                  <a:srgbClr val="4B47A8"/>
                </a:solidFill>
                <a:latin typeface="Aptos" panose="020B0004020202020204" pitchFamily="34" charset="0"/>
              </a:rPr>
              <a:t>Coordinator agent</a:t>
            </a:r>
          </a:p>
          <a:p>
            <a:pPr algn="ctr">
              <a:spcAft>
                <a:spcPts val="300"/>
              </a:spcAft>
            </a:pPr>
            <a:r>
              <a:rPr lang="en-GB" sz="950">
                <a:solidFill>
                  <a:srgbClr val="1F1F2E"/>
                </a:solidFill>
                <a:latin typeface="Aptos" panose="020B0004020202020204" pitchFamily="34" charset="0"/>
              </a:rPr>
              <a:t>Dependency order</a:t>
            </a:r>
          </a:p>
          <a:p>
            <a:pPr algn="ctr">
              <a:spcAft>
                <a:spcPts val="300"/>
              </a:spcAft>
            </a:pPr>
            <a:r>
              <a:rPr lang="en-GB" sz="950">
                <a:solidFill>
                  <a:srgbClr val="1F1F2E"/>
                </a:solidFill>
                <a:latin typeface="Aptos" panose="020B0004020202020204" pitchFamily="34" charset="0"/>
              </a:rPr>
              <a:t>Partitions large objects</a:t>
            </a:r>
          </a:p>
          <a:p>
            <a:pPr algn="ctr">
              <a:spcAft>
                <a:spcPts val="300"/>
              </a:spcAft>
            </a:pPr>
            <a:r>
              <a:rPr lang="en-GB" sz="950">
                <a:solidFill>
                  <a:srgbClr val="1F1F2E"/>
                </a:solidFill>
                <a:latin typeface="Aptos" panose="020B0004020202020204" pitchFamily="34" charset="0"/>
              </a:rPr>
              <a:t>Tracks deltas</a:t>
            </a:r>
          </a:p>
        </p:txBody>
      </p:sp>
      <p:sp>
        <p:nvSpPr>
          <p:cNvPr id="11" name="Arrow: Right 10">
            <a:extLst>
              <a:ext uri="{FF2B5EF4-FFF2-40B4-BE49-F238E27FC236}">
                <a16:creationId xmlns:a16="http://schemas.microsoft.com/office/drawing/2014/main" id="{1C4B5785-0F38-ABE9-33DE-C4C646DF1662}"/>
              </a:ext>
            </a:extLst>
          </p:cNvPr>
          <p:cNvSpPr/>
          <p:nvPr/>
        </p:nvSpPr>
        <p:spPr>
          <a:xfrm>
            <a:off x="4152900" y="22860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790DBEB7-2521-8261-FA44-647384AF701C}"/>
              </a:ext>
            </a:extLst>
          </p:cNvPr>
          <p:cNvSpPr/>
          <p:nvPr/>
        </p:nvSpPr>
        <p:spPr>
          <a:xfrm>
            <a:off x="4406900" y="1422400"/>
            <a:ext cx="5334000" cy="1905000"/>
          </a:xfrm>
          <a:prstGeom prst="roundRect">
            <a:avLst>
              <a:gd name="adj" fmla="val 5000"/>
            </a:avLst>
          </a:prstGeom>
          <a:solidFill>
            <a:srgbClr val="FFFFFF"/>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BE4F631C-7671-0475-6AD1-674C228141F6}"/>
              </a:ext>
            </a:extLst>
          </p:cNvPr>
          <p:cNvSpPr txBox="1"/>
          <p:nvPr/>
        </p:nvSpPr>
        <p:spPr>
          <a:xfrm>
            <a:off x="4457700" y="1447800"/>
            <a:ext cx="5232400" cy="369332"/>
          </a:xfrm>
          <a:prstGeom prst="rect">
            <a:avLst/>
          </a:prstGeom>
          <a:noFill/>
        </p:spPr>
        <p:txBody>
          <a:bodyPr vert="horz" wrap="square" lIns="76200" tIns="38100" rIns="76200" bIns="38100" rtlCol="0" anchor="t">
            <a:noAutofit/>
          </a:bodyPr>
          <a:lstStyle/>
          <a:p>
            <a:pPr>
              <a:spcAft>
                <a:spcPts val="300"/>
              </a:spcAft>
            </a:pPr>
            <a:r>
              <a:rPr lang="en-GB" sz="1100" b="1">
                <a:solidFill>
                  <a:srgbClr val="4B47A8"/>
                </a:solidFill>
                <a:latin typeface="Aptos" panose="020B0004020202020204" pitchFamily="34" charset="0"/>
              </a:rPr>
              <a:t>Parallel workers, one per partition</a:t>
            </a:r>
          </a:p>
        </p:txBody>
      </p:sp>
      <p:sp>
        <p:nvSpPr>
          <p:cNvPr id="14" name="TextBox 13">
            <a:extLst>
              <a:ext uri="{FF2B5EF4-FFF2-40B4-BE49-F238E27FC236}">
                <a16:creationId xmlns:a16="http://schemas.microsoft.com/office/drawing/2014/main" id="{23CEB533-723E-C8D2-DE51-862CB7E7C686}"/>
              </a:ext>
            </a:extLst>
          </p:cNvPr>
          <p:cNvSpPr txBox="1"/>
          <p:nvPr/>
        </p:nvSpPr>
        <p:spPr>
          <a:xfrm>
            <a:off x="4483100" y="1752600"/>
            <a:ext cx="1905000" cy="369332"/>
          </a:xfrm>
          <a:prstGeom prst="rect">
            <a:avLst/>
          </a:prstGeom>
          <a:noFill/>
        </p:spPr>
        <p:txBody>
          <a:bodyPr vert="horz" wrap="square" lIns="76200" tIns="38100" rIns="76200" bIns="38100" rtlCol="0" anchor="ctr">
            <a:noAutofit/>
          </a:bodyPr>
          <a:lstStyle/>
          <a:p>
            <a:pPr>
              <a:spcAft>
                <a:spcPts val="300"/>
              </a:spcAft>
            </a:pPr>
            <a:r>
              <a:rPr lang="en-GB" sz="1000" b="1">
                <a:solidFill>
                  <a:srgbClr val="6666CC"/>
                </a:solidFill>
                <a:latin typeface="Century Gothic" panose="020B0502020202020204" pitchFamily="34" charset="0"/>
              </a:rPr>
              <a:t>Level 1</a:t>
            </a:r>
          </a:p>
          <a:p>
            <a:pPr>
              <a:spcAft>
                <a:spcPts val="300"/>
              </a:spcAft>
            </a:pPr>
            <a:r>
              <a:rPr lang="en-GB" sz="900">
                <a:solidFill>
                  <a:srgbClr val="5E6170"/>
                </a:solidFill>
                <a:latin typeface="Century Gothic" panose="020B0502020202020204" pitchFamily="34" charset="0"/>
              </a:rPr>
              <a:t>Accounts, products</a:t>
            </a:r>
          </a:p>
        </p:txBody>
      </p:sp>
      <p:sp>
        <p:nvSpPr>
          <p:cNvPr id="15" name="Rectangle: Rounded Corners 14">
            <a:extLst>
              <a:ext uri="{FF2B5EF4-FFF2-40B4-BE49-F238E27FC236}">
                <a16:creationId xmlns:a16="http://schemas.microsoft.com/office/drawing/2014/main" id="{0822D7D0-3209-2C70-431E-9F97A0AA3FDD}"/>
              </a:ext>
            </a:extLst>
          </p:cNvPr>
          <p:cNvSpPr/>
          <p:nvPr/>
        </p:nvSpPr>
        <p:spPr>
          <a:xfrm>
            <a:off x="6477000" y="1828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1</a:t>
            </a:r>
          </a:p>
        </p:txBody>
      </p:sp>
      <p:sp>
        <p:nvSpPr>
          <p:cNvPr id="16" name="Rectangle: Rounded Corners 15">
            <a:extLst>
              <a:ext uri="{FF2B5EF4-FFF2-40B4-BE49-F238E27FC236}">
                <a16:creationId xmlns:a16="http://schemas.microsoft.com/office/drawing/2014/main" id="{ABC0E1B0-2A92-15A1-0447-8F150758912B}"/>
              </a:ext>
            </a:extLst>
          </p:cNvPr>
          <p:cNvSpPr/>
          <p:nvPr/>
        </p:nvSpPr>
        <p:spPr>
          <a:xfrm>
            <a:off x="7264400" y="1828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2</a:t>
            </a:r>
          </a:p>
        </p:txBody>
      </p:sp>
      <p:sp>
        <p:nvSpPr>
          <p:cNvPr id="17" name="Rectangle: Rounded Corners 16">
            <a:extLst>
              <a:ext uri="{FF2B5EF4-FFF2-40B4-BE49-F238E27FC236}">
                <a16:creationId xmlns:a16="http://schemas.microsoft.com/office/drawing/2014/main" id="{319351CC-25EE-B8F4-97B5-0D59A09A3610}"/>
              </a:ext>
            </a:extLst>
          </p:cNvPr>
          <p:cNvSpPr/>
          <p:nvPr/>
        </p:nvSpPr>
        <p:spPr>
          <a:xfrm>
            <a:off x="8051800" y="1828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3</a:t>
            </a:r>
          </a:p>
        </p:txBody>
      </p:sp>
      <p:sp>
        <p:nvSpPr>
          <p:cNvPr id="18" name="Rectangle: Rounded Corners 17">
            <a:extLst>
              <a:ext uri="{FF2B5EF4-FFF2-40B4-BE49-F238E27FC236}">
                <a16:creationId xmlns:a16="http://schemas.microsoft.com/office/drawing/2014/main" id="{B9CDA4CA-8A1E-A1AC-C628-A1ACF33CB700}"/>
              </a:ext>
            </a:extLst>
          </p:cNvPr>
          <p:cNvSpPr/>
          <p:nvPr/>
        </p:nvSpPr>
        <p:spPr>
          <a:xfrm>
            <a:off x="8839200" y="1828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4</a:t>
            </a:r>
          </a:p>
        </p:txBody>
      </p:sp>
      <p:sp>
        <p:nvSpPr>
          <p:cNvPr id="19" name="TextBox 18">
            <a:extLst>
              <a:ext uri="{FF2B5EF4-FFF2-40B4-BE49-F238E27FC236}">
                <a16:creationId xmlns:a16="http://schemas.microsoft.com/office/drawing/2014/main" id="{983031D9-7ECA-D94D-5E7B-FC98E2F7D046}"/>
              </a:ext>
            </a:extLst>
          </p:cNvPr>
          <p:cNvSpPr txBox="1"/>
          <p:nvPr/>
        </p:nvSpPr>
        <p:spPr>
          <a:xfrm>
            <a:off x="4483100" y="2260600"/>
            <a:ext cx="1905000" cy="369332"/>
          </a:xfrm>
          <a:prstGeom prst="rect">
            <a:avLst/>
          </a:prstGeom>
          <a:noFill/>
        </p:spPr>
        <p:txBody>
          <a:bodyPr vert="horz" wrap="square" lIns="76200" tIns="38100" rIns="76200" bIns="38100" rtlCol="0" anchor="ctr">
            <a:noAutofit/>
          </a:bodyPr>
          <a:lstStyle/>
          <a:p>
            <a:pPr>
              <a:spcAft>
                <a:spcPts val="300"/>
              </a:spcAft>
            </a:pPr>
            <a:r>
              <a:rPr lang="en-GB" sz="1000" b="1">
                <a:solidFill>
                  <a:srgbClr val="6666CC"/>
                </a:solidFill>
                <a:latin typeface="Century Gothic" panose="020B0502020202020204" pitchFamily="34" charset="0"/>
              </a:rPr>
              <a:t>Level 2</a:t>
            </a:r>
          </a:p>
          <a:p>
            <a:pPr>
              <a:spcAft>
                <a:spcPts val="300"/>
              </a:spcAft>
            </a:pPr>
            <a:r>
              <a:rPr lang="en-GB" sz="900">
                <a:solidFill>
                  <a:srgbClr val="5E6170"/>
                </a:solidFill>
                <a:latin typeface="Century Gothic" panose="020B0502020202020204" pitchFamily="34" charset="0"/>
              </a:rPr>
              <a:t>Contacts, opportunities</a:t>
            </a:r>
          </a:p>
        </p:txBody>
      </p:sp>
      <p:sp>
        <p:nvSpPr>
          <p:cNvPr id="20" name="Rectangle: Rounded Corners 19">
            <a:extLst>
              <a:ext uri="{FF2B5EF4-FFF2-40B4-BE49-F238E27FC236}">
                <a16:creationId xmlns:a16="http://schemas.microsoft.com/office/drawing/2014/main" id="{1829498C-7A39-06FA-F3DF-F6A0875B1E52}"/>
              </a:ext>
            </a:extLst>
          </p:cNvPr>
          <p:cNvSpPr/>
          <p:nvPr/>
        </p:nvSpPr>
        <p:spPr>
          <a:xfrm>
            <a:off x="6477000" y="2336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1</a:t>
            </a:r>
          </a:p>
        </p:txBody>
      </p:sp>
      <p:sp>
        <p:nvSpPr>
          <p:cNvPr id="21" name="Rectangle: Rounded Corners 20">
            <a:extLst>
              <a:ext uri="{FF2B5EF4-FFF2-40B4-BE49-F238E27FC236}">
                <a16:creationId xmlns:a16="http://schemas.microsoft.com/office/drawing/2014/main" id="{A26C1A6E-BEF7-EBEA-3220-AA3D7FC159CA}"/>
              </a:ext>
            </a:extLst>
          </p:cNvPr>
          <p:cNvSpPr/>
          <p:nvPr/>
        </p:nvSpPr>
        <p:spPr>
          <a:xfrm>
            <a:off x="7264400" y="2336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2</a:t>
            </a:r>
          </a:p>
        </p:txBody>
      </p:sp>
      <p:sp>
        <p:nvSpPr>
          <p:cNvPr id="22" name="Rectangle: Rounded Corners 21">
            <a:extLst>
              <a:ext uri="{FF2B5EF4-FFF2-40B4-BE49-F238E27FC236}">
                <a16:creationId xmlns:a16="http://schemas.microsoft.com/office/drawing/2014/main" id="{0AFCEBC5-3B14-49AE-1457-907B272EA8C1}"/>
              </a:ext>
            </a:extLst>
          </p:cNvPr>
          <p:cNvSpPr/>
          <p:nvPr/>
        </p:nvSpPr>
        <p:spPr>
          <a:xfrm>
            <a:off x="8051800" y="2336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3</a:t>
            </a:r>
          </a:p>
        </p:txBody>
      </p:sp>
      <p:sp>
        <p:nvSpPr>
          <p:cNvPr id="23" name="Rectangle: Rounded Corners 22">
            <a:extLst>
              <a:ext uri="{FF2B5EF4-FFF2-40B4-BE49-F238E27FC236}">
                <a16:creationId xmlns:a16="http://schemas.microsoft.com/office/drawing/2014/main" id="{665606D5-4E67-F988-1AF4-2D63E3774389}"/>
              </a:ext>
            </a:extLst>
          </p:cNvPr>
          <p:cNvSpPr/>
          <p:nvPr/>
        </p:nvSpPr>
        <p:spPr>
          <a:xfrm>
            <a:off x="8839200" y="2336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4</a:t>
            </a:r>
          </a:p>
        </p:txBody>
      </p:sp>
      <p:sp>
        <p:nvSpPr>
          <p:cNvPr id="24" name="TextBox 23">
            <a:extLst>
              <a:ext uri="{FF2B5EF4-FFF2-40B4-BE49-F238E27FC236}">
                <a16:creationId xmlns:a16="http://schemas.microsoft.com/office/drawing/2014/main" id="{79DE870B-3175-A401-74EE-5D0A167D985C}"/>
              </a:ext>
            </a:extLst>
          </p:cNvPr>
          <p:cNvSpPr txBox="1"/>
          <p:nvPr/>
        </p:nvSpPr>
        <p:spPr>
          <a:xfrm>
            <a:off x="4483100" y="2768600"/>
            <a:ext cx="1905000" cy="369332"/>
          </a:xfrm>
          <a:prstGeom prst="rect">
            <a:avLst/>
          </a:prstGeom>
          <a:noFill/>
        </p:spPr>
        <p:txBody>
          <a:bodyPr vert="horz" wrap="square" lIns="76200" tIns="38100" rIns="76200" bIns="38100" rtlCol="0" anchor="ctr">
            <a:noAutofit/>
          </a:bodyPr>
          <a:lstStyle/>
          <a:p>
            <a:pPr>
              <a:spcAft>
                <a:spcPts val="300"/>
              </a:spcAft>
            </a:pPr>
            <a:r>
              <a:rPr lang="en-GB" sz="1000" b="1">
                <a:solidFill>
                  <a:srgbClr val="6666CC"/>
                </a:solidFill>
                <a:latin typeface="Century Gothic" panose="020B0502020202020204" pitchFamily="34" charset="0"/>
              </a:rPr>
              <a:t>Level 3</a:t>
            </a:r>
          </a:p>
          <a:p>
            <a:pPr>
              <a:spcAft>
                <a:spcPts val="300"/>
              </a:spcAft>
            </a:pPr>
            <a:r>
              <a:rPr lang="en-GB" sz="900">
                <a:solidFill>
                  <a:srgbClr val="5E6170"/>
                </a:solidFill>
                <a:latin typeface="Century Gothic" panose="020B0502020202020204" pitchFamily="34" charset="0"/>
              </a:rPr>
              <a:t>Subscriptions, lines</a:t>
            </a:r>
          </a:p>
        </p:txBody>
      </p:sp>
      <p:sp>
        <p:nvSpPr>
          <p:cNvPr id="25" name="Rectangle: Rounded Corners 24">
            <a:extLst>
              <a:ext uri="{FF2B5EF4-FFF2-40B4-BE49-F238E27FC236}">
                <a16:creationId xmlns:a16="http://schemas.microsoft.com/office/drawing/2014/main" id="{F1BE8589-C43A-4632-EBAC-10EAD91ACF3B}"/>
              </a:ext>
            </a:extLst>
          </p:cNvPr>
          <p:cNvSpPr/>
          <p:nvPr/>
        </p:nvSpPr>
        <p:spPr>
          <a:xfrm>
            <a:off x="6477000" y="2844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1</a:t>
            </a:r>
          </a:p>
        </p:txBody>
      </p:sp>
      <p:sp>
        <p:nvSpPr>
          <p:cNvPr id="26" name="Rectangle: Rounded Corners 25">
            <a:extLst>
              <a:ext uri="{FF2B5EF4-FFF2-40B4-BE49-F238E27FC236}">
                <a16:creationId xmlns:a16="http://schemas.microsoft.com/office/drawing/2014/main" id="{A97C5114-D209-FAAF-0A90-45CD47E55256}"/>
              </a:ext>
            </a:extLst>
          </p:cNvPr>
          <p:cNvSpPr/>
          <p:nvPr/>
        </p:nvSpPr>
        <p:spPr>
          <a:xfrm>
            <a:off x="7264400" y="2844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2</a:t>
            </a:r>
          </a:p>
        </p:txBody>
      </p:sp>
      <p:sp>
        <p:nvSpPr>
          <p:cNvPr id="27" name="Rectangle: Rounded Corners 26">
            <a:extLst>
              <a:ext uri="{FF2B5EF4-FFF2-40B4-BE49-F238E27FC236}">
                <a16:creationId xmlns:a16="http://schemas.microsoft.com/office/drawing/2014/main" id="{8583EA72-D15D-B6F2-19FB-B3A8B37897B9}"/>
              </a:ext>
            </a:extLst>
          </p:cNvPr>
          <p:cNvSpPr/>
          <p:nvPr/>
        </p:nvSpPr>
        <p:spPr>
          <a:xfrm>
            <a:off x="8051800" y="2844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3</a:t>
            </a:r>
          </a:p>
        </p:txBody>
      </p:sp>
      <p:sp>
        <p:nvSpPr>
          <p:cNvPr id="28" name="Rectangle: Rounded Corners 27">
            <a:extLst>
              <a:ext uri="{FF2B5EF4-FFF2-40B4-BE49-F238E27FC236}">
                <a16:creationId xmlns:a16="http://schemas.microsoft.com/office/drawing/2014/main" id="{81ABBADB-536A-3384-6C0A-D80E48B12DD3}"/>
              </a:ext>
            </a:extLst>
          </p:cNvPr>
          <p:cNvSpPr/>
          <p:nvPr/>
        </p:nvSpPr>
        <p:spPr>
          <a:xfrm>
            <a:off x="8839200" y="2844800"/>
            <a:ext cx="711200" cy="304800"/>
          </a:xfrm>
          <a:prstGeom prst="roundRect">
            <a:avLst>
              <a:gd name="adj" fmla="val 30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pPr algn="ctr">
              <a:spcAft>
                <a:spcPts val="300"/>
              </a:spcAft>
            </a:pPr>
            <a:r>
              <a:rPr lang="en-GB" sz="850" b="1">
                <a:solidFill>
                  <a:srgbClr val="006450"/>
                </a:solidFill>
                <a:latin typeface="Century Gothic" panose="020B0502020202020204" pitchFamily="34" charset="0"/>
              </a:rPr>
              <a:t>Worker 4</a:t>
            </a:r>
          </a:p>
        </p:txBody>
      </p:sp>
      <p:sp>
        <p:nvSpPr>
          <p:cNvPr id="29" name="Arrow: Right 28">
            <a:extLst>
              <a:ext uri="{FF2B5EF4-FFF2-40B4-BE49-F238E27FC236}">
                <a16:creationId xmlns:a16="http://schemas.microsoft.com/office/drawing/2014/main" id="{BDBE0224-F61D-2E70-A619-38FC8A49961A}"/>
              </a:ext>
            </a:extLst>
          </p:cNvPr>
          <p:cNvSpPr/>
          <p:nvPr/>
        </p:nvSpPr>
        <p:spPr>
          <a:xfrm>
            <a:off x="9791700" y="22860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Rounded Corners 29">
            <a:extLst>
              <a:ext uri="{FF2B5EF4-FFF2-40B4-BE49-F238E27FC236}">
                <a16:creationId xmlns:a16="http://schemas.microsoft.com/office/drawing/2014/main" id="{7AF52C7B-6145-0E41-5F10-3883BED726D8}"/>
              </a:ext>
            </a:extLst>
          </p:cNvPr>
          <p:cNvSpPr/>
          <p:nvPr/>
        </p:nvSpPr>
        <p:spPr>
          <a:xfrm>
            <a:off x="10045700" y="1422400"/>
            <a:ext cx="1739900" cy="1905000"/>
          </a:xfrm>
          <a:prstGeom prst="roundRect">
            <a:avLst>
              <a:gd name="adj" fmla="val 8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E3768D29-4458-02ED-BECB-4B8688EC659B}"/>
              </a:ext>
            </a:extLst>
          </p:cNvPr>
          <p:cNvSpPr txBox="1"/>
          <p:nvPr/>
        </p:nvSpPr>
        <p:spPr>
          <a:xfrm>
            <a:off x="10096500" y="1574800"/>
            <a:ext cx="1638300" cy="369332"/>
          </a:xfrm>
          <a:prstGeom prst="rect">
            <a:avLst/>
          </a:prstGeom>
          <a:noFill/>
        </p:spPr>
        <p:txBody>
          <a:bodyPr vert="horz" wrap="square" lIns="76200" tIns="38100" rIns="76200" bIns="38100" rtlCol="0" anchor="t">
            <a:noAutofit/>
          </a:bodyPr>
          <a:lstStyle/>
          <a:p>
            <a:pPr algn="ctr">
              <a:spcAft>
                <a:spcPts val="300"/>
              </a:spcAft>
            </a:pPr>
            <a:r>
              <a:rPr lang="en-GB" sz="1200" b="1">
                <a:solidFill>
                  <a:srgbClr val="006450"/>
                </a:solidFill>
                <a:latin typeface="Aptos" panose="020B0004020202020204" pitchFamily="34" charset="0"/>
              </a:rPr>
              <a:t>Cloud database</a:t>
            </a:r>
          </a:p>
          <a:p>
            <a:pPr algn="ctr">
              <a:spcAft>
                <a:spcPts val="300"/>
              </a:spcAft>
            </a:pPr>
            <a:r>
              <a:rPr lang="en-GB" sz="950">
                <a:solidFill>
                  <a:srgbClr val="1F1F2E"/>
                </a:solidFill>
                <a:latin typeface="Aptos" panose="020B0004020202020204" pitchFamily="34" charset="0"/>
              </a:rPr>
              <a:t>Bulk load (COPY)</a:t>
            </a:r>
          </a:p>
          <a:p>
            <a:pPr algn="ctr">
              <a:spcAft>
                <a:spcPts val="300"/>
              </a:spcAft>
            </a:pPr>
            <a:r>
              <a:rPr lang="en-GB" sz="950">
                <a:solidFill>
                  <a:srgbClr val="1F1F2E"/>
                </a:solidFill>
                <a:latin typeface="Aptos" panose="020B0004020202020204" pitchFamily="34" charset="0"/>
              </a:rPr>
              <a:t>Indexes after load</a:t>
            </a:r>
          </a:p>
        </p:txBody>
      </p:sp>
      <p:sp>
        <p:nvSpPr>
          <p:cNvPr id="32" name="TextBox 31">
            <a:extLst>
              <a:ext uri="{FF2B5EF4-FFF2-40B4-BE49-F238E27FC236}">
                <a16:creationId xmlns:a16="http://schemas.microsoft.com/office/drawing/2014/main" id="{DFDB9E60-DD80-CBE5-14DD-6DB740E3C60B}"/>
              </a:ext>
            </a:extLst>
          </p:cNvPr>
          <p:cNvSpPr txBox="1"/>
          <p:nvPr/>
        </p:nvSpPr>
        <p:spPr>
          <a:xfrm>
            <a:off x="393700" y="3403600"/>
            <a:ext cx="11391900" cy="369332"/>
          </a:xfrm>
          <a:prstGeom prst="rect">
            <a:avLst/>
          </a:prstGeom>
          <a:noFill/>
        </p:spPr>
        <p:txBody>
          <a:bodyPr vert="horz" wrap="square" lIns="76200" tIns="38100" rIns="76200" bIns="38100" rtlCol="0" anchor="t">
            <a:noAutofit/>
          </a:bodyPr>
          <a:lstStyle/>
          <a:p>
            <a:pPr>
              <a:spcAft>
                <a:spcPts val="300"/>
              </a:spcAft>
            </a:pPr>
            <a:r>
              <a:rPr lang="en-GB" sz="1000" dirty="0">
                <a:solidFill>
                  <a:srgbClr val="5E6170"/>
                </a:solidFill>
                <a:latin typeface="Century Gothic" panose="020B0502020202020204" pitchFamily="34" charset="0"/>
              </a:rPr>
              <a:t>Levels run in sequence, so parents load first; workers within a level run in parallel.</a:t>
            </a:r>
          </a:p>
        </p:txBody>
      </p:sp>
      <p:sp>
        <p:nvSpPr>
          <p:cNvPr id="33" name="Rectangle: Rounded Corners 32">
            <a:extLst>
              <a:ext uri="{FF2B5EF4-FFF2-40B4-BE49-F238E27FC236}">
                <a16:creationId xmlns:a16="http://schemas.microsoft.com/office/drawing/2014/main" id="{F7D9254F-24B1-9C8B-FBD3-B15222D0D57B}"/>
              </a:ext>
            </a:extLst>
          </p:cNvPr>
          <p:cNvSpPr/>
          <p:nvPr/>
        </p:nvSpPr>
        <p:spPr>
          <a:xfrm>
            <a:off x="39370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A9F957DA-863E-D412-60CF-64B5A6F02EE7}"/>
              </a:ext>
            </a:extLst>
          </p:cNvPr>
          <p:cNvSpPr/>
          <p:nvPr/>
        </p:nvSpPr>
        <p:spPr>
          <a:xfrm>
            <a:off x="49530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1</a:t>
            </a:r>
          </a:p>
        </p:txBody>
      </p:sp>
      <p:sp>
        <p:nvSpPr>
          <p:cNvPr id="35" name="TextBox 34">
            <a:extLst>
              <a:ext uri="{FF2B5EF4-FFF2-40B4-BE49-F238E27FC236}">
                <a16:creationId xmlns:a16="http://schemas.microsoft.com/office/drawing/2014/main" id="{A463DF35-3D92-9F18-9602-DDE191ACAE29}"/>
              </a:ext>
            </a:extLst>
          </p:cNvPr>
          <p:cNvSpPr txBox="1"/>
          <p:nvPr/>
        </p:nvSpPr>
        <p:spPr>
          <a:xfrm>
            <a:off x="82550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Plan</a:t>
            </a:r>
          </a:p>
        </p:txBody>
      </p:sp>
      <p:sp>
        <p:nvSpPr>
          <p:cNvPr id="36" name="TextBox 35">
            <a:extLst>
              <a:ext uri="{FF2B5EF4-FFF2-40B4-BE49-F238E27FC236}">
                <a16:creationId xmlns:a16="http://schemas.microsoft.com/office/drawing/2014/main" id="{C83EC959-BAE1-A8F4-2AD9-63DF974482F5}"/>
              </a:ext>
            </a:extLst>
          </p:cNvPr>
          <p:cNvSpPr txBox="1"/>
          <p:nvPr/>
        </p:nvSpPr>
        <p:spPr>
          <a:xfrm>
            <a:off x="44450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Dependency order; large objects split by ID range or date.</a:t>
            </a:r>
          </a:p>
        </p:txBody>
      </p:sp>
      <p:sp>
        <p:nvSpPr>
          <p:cNvPr id="37" name="Rectangle: Rounded Corners 36">
            <a:extLst>
              <a:ext uri="{FF2B5EF4-FFF2-40B4-BE49-F238E27FC236}">
                <a16:creationId xmlns:a16="http://schemas.microsoft.com/office/drawing/2014/main" id="{0BD7733D-7D49-3111-28B0-E576F0E29B4D}"/>
              </a:ext>
            </a:extLst>
          </p:cNvPr>
          <p:cNvSpPr/>
          <p:nvPr/>
        </p:nvSpPr>
        <p:spPr>
          <a:xfrm>
            <a:off x="232156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Rounded Corners 37">
            <a:extLst>
              <a:ext uri="{FF2B5EF4-FFF2-40B4-BE49-F238E27FC236}">
                <a16:creationId xmlns:a16="http://schemas.microsoft.com/office/drawing/2014/main" id="{23CA9AE5-C94B-4C05-0F07-C14F2F56C698}"/>
              </a:ext>
            </a:extLst>
          </p:cNvPr>
          <p:cNvSpPr/>
          <p:nvPr/>
        </p:nvSpPr>
        <p:spPr>
          <a:xfrm>
            <a:off x="242316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2</a:t>
            </a:r>
          </a:p>
        </p:txBody>
      </p:sp>
      <p:sp>
        <p:nvSpPr>
          <p:cNvPr id="39" name="TextBox 38">
            <a:extLst>
              <a:ext uri="{FF2B5EF4-FFF2-40B4-BE49-F238E27FC236}">
                <a16:creationId xmlns:a16="http://schemas.microsoft.com/office/drawing/2014/main" id="{4E407F49-8FCE-08AD-F6B0-7E9C49AB458A}"/>
              </a:ext>
            </a:extLst>
          </p:cNvPr>
          <p:cNvSpPr txBox="1"/>
          <p:nvPr/>
        </p:nvSpPr>
        <p:spPr>
          <a:xfrm>
            <a:off x="275336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Extract</a:t>
            </a:r>
          </a:p>
        </p:txBody>
      </p:sp>
      <p:sp>
        <p:nvSpPr>
          <p:cNvPr id="40" name="TextBox 39">
            <a:extLst>
              <a:ext uri="{FF2B5EF4-FFF2-40B4-BE49-F238E27FC236}">
                <a16:creationId xmlns:a16="http://schemas.microsoft.com/office/drawing/2014/main" id="{21594958-BBA6-77E6-5050-0906241F5433}"/>
              </a:ext>
            </a:extLst>
          </p:cNvPr>
          <p:cNvSpPr txBox="1"/>
          <p:nvPr/>
        </p:nvSpPr>
        <p:spPr>
          <a:xfrm>
            <a:off x="237236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Objects extracted in parallel via Bulk API, within API limits.</a:t>
            </a:r>
          </a:p>
        </p:txBody>
      </p:sp>
      <p:sp>
        <p:nvSpPr>
          <p:cNvPr id="41" name="Rectangle: Rounded Corners 40">
            <a:extLst>
              <a:ext uri="{FF2B5EF4-FFF2-40B4-BE49-F238E27FC236}">
                <a16:creationId xmlns:a16="http://schemas.microsoft.com/office/drawing/2014/main" id="{C4835380-C4C1-03CC-2066-B5CDBA8B7087}"/>
              </a:ext>
            </a:extLst>
          </p:cNvPr>
          <p:cNvSpPr/>
          <p:nvPr/>
        </p:nvSpPr>
        <p:spPr>
          <a:xfrm>
            <a:off x="424942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Rounded Corners 41">
            <a:extLst>
              <a:ext uri="{FF2B5EF4-FFF2-40B4-BE49-F238E27FC236}">
                <a16:creationId xmlns:a16="http://schemas.microsoft.com/office/drawing/2014/main" id="{7F2A546C-7C50-5509-C0BF-0CCB172DF618}"/>
              </a:ext>
            </a:extLst>
          </p:cNvPr>
          <p:cNvSpPr/>
          <p:nvPr/>
        </p:nvSpPr>
        <p:spPr>
          <a:xfrm>
            <a:off x="435102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3</a:t>
            </a:r>
          </a:p>
        </p:txBody>
      </p:sp>
      <p:sp>
        <p:nvSpPr>
          <p:cNvPr id="43" name="TextBox 42">
            <a:extLst>
              <a:ext uri="{FF2B5EF4-FFF2-40B4-BE49-F238E27FC236}">
                <a16:creationId xmlns:a16="http://schemas.microsoft.com/office/drawing/2014/main" id="{C9214B59-70E1-2A7D-1A9D-D7DFBA608B9C}"/>
              </a:ext>
            </a:extLst>
          </p:cNvPr>
          <p:cNvSpPr txBox="1"/>
          <p:nvPr/>
        </p:nvSpPr>
        <p:spPr>
          <a:xfrm>
            <a:off x="468122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Load</a:t>
            </a:r>
          </a:p>
        </p:txBody>
      </p:sp>
      <p:sp>
        <p:nvSpPr>
          <p:cNvPr id="44" name="TextBox 43">
            <a:extLst>
              <a:ext uri="{FF2B5EF4-FFF2-40B4-BE49-F238E27FC236}">
                <a16:creationId xmlns:a16="http://schemas.microsoft.com/office/drawing/2014/main" id="{B31EAB59-7F3A-BCC7-3B98-C0AD2709EF19}"/>
              </a:ext>
            </a:extLst>
          </p:cNvPr>
          <p:cNvSpPr txBox="1"/>
          <p:nvPr/>
        </p:nvSpPr>
        <p:spPr>
          <a:xfrm>
            <a:off x="430022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One worker per partition, bulk load, rules deferred.</a:t>
            </a:r>
          </a:p>
        </p:txBody>
      </p:sp>
      <p:sp>
        <p:nvSpPr>
          <p:cNvPr id="45" name="Rectangle: Rounded Corners 44">
            <a:extLst>
              <a:ext uri="{FF2B5EF4-FFF2-40B4-BE49-F238E27FC236}">
                <a16:creationId xmlns:a16="http://schemas.microsoft.com/office/drawing/2014/main" id="{49288254-3363-9614-7F55-BDD4AC4BF6A3}"/>
              </a:ext>
            </a:extLst>
          </p:cNvPr>
          <p:cNvSpPr/>
          <p:nvPr/>
        </p:nvSpPr>
        <p:spPr>
          <a:xfrm>
            <a:off x="617728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Rounded Corners 45">
            <a:extLst>
              <a:ext uri="{FF2B5EF4-FFF2-40B4-BE49-F238E27FC236}">
                <a16:creationId xmlns:a16="http://schemas.microsoft.com/office/drawing/2014/main" id="{B7315F7A-5F60-878E-5CC5-F20E12A12323}"/>
              </a:ext>
            </a:extLst>
          </p:cNvPr>
          <p:cNvSpPr/>
          <p:nvPr/>
        </p:nvSpPr>
        <p:spPr>
          <a:xfrm>
            <a:off x="627888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4</a:t>
            </a:r>
          </a:p>
        </p:txBody>
      </p:sp>
      <p:sp>
        <p:nvSpPr>
          <p:cNvPr id="47" name="TextBox 46">
            <a:extLst>
              <a:ext uri="{FF2B5EF4-FFF2-40B4-BE49-F238E27FC236}">
                <a16:creationId xmlns:a16="http://schemas.microsoft.com/office/drawing/2014/main" id="{7E386C5A-39FD-BE78-CC48-54E2DFBD5A3C}"/>
              </a:ext>
            </a:extLst>
          </p:cNvPr>
          <p:cNvSpPr txBox="1"/>
          <p:nvPr/>
        </p:nvSpPr>
        <p:spPr>
          <a:xfrm>
            <a:off x="660908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Keep in sync</a:t>
            </a:r>
          </a:p>
        </p:txBody>
      </p:sp>
      <p:sp>
        <p:nvSpPr>
          <p:cNvPr id="48" name="TextBox 47">
            <a:extLst>
              <a:ext uri="{FF2B5EF4-FFF2-40B4-BE49-F238E27FC236}">
                <a16:creationId xmlns:a16="http://schemas.microsoft.com/office/drawing/2014/main" id="{34BB226E-136F-D3E4-F2B8-250CCBF910EF}"/>
              </a:ext>
            </a:extLst>
          </p:cNvPr>
          <p:cNvSpPr txBox="1"/>
          <p:nvPr/>
        </p:nvSpPr>
        <p:spPr>
          <a:xfrm>
            <a:off x="622808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Change data capture until cutover; final delta in a short freeze.</a:t>
            </a:r>
          </a:p>
        </p:txBody>
      </p:sp>
      <p:sp>
        <p:nvSpPr>
          <p:cNvPr id="49" name="Rectangle: Rounded Corners 48">
            <a:extLst>
              <a:ext uri="{FF2B5EF4-FFF2-40B4-BE49-F238E27FC236}">
                <a16:creationId xmlns:a16="http://schemas.microsoft.com/office/drawing/2014/main" id="{E9E22AA6-5CC2-9081-D2BB-60D12B9C2DF9}"/>
              </a:ext>
            </a:extLst>
          </p:cNvPr>
          <p:cNvSpPr/>
          <p:nvPr/>
        </p:nvSpPr>
        <p:spPr>
          <a:xfrm>
            <a:off x="810514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Rounded Corners 49">
            <a:extLst>
              <a:ext uri="{FF2B5EF4-FFF2-40B4-BE49-F238E27FC236}">
                <a16:creationId xmlns:a16="http://schemas.microsoft.com/office/drawing/2014/main" id="{EEDB92D4-24F5-84A2-E1F7-EF3C0E96A48A}"/>
              </a:ext>
            </a:extLst>
          </p:cNvPr>
          <p:cNvSpPr/>
          <p:nvPr/>
        </p:nvSpPr>
        <p:spPr>
          <a:xfrm>
            <a:off x="820674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5</a:t>
            </a:r>
          </a:p>
        </p:txBody>
      </p:sp>
      <p:sp>
        <p:nvSpPr>
          <p:cNvPr id="51" name="TextBox 50">
            <a:extLst>
              <a:ext uri="{FF2B5EF4-FFF2-40B4-BE49-F238E27FC236}">
                <a16:creationId xmlns:a16="http://schemas.microsoft.com/office/drawing/2014/main" id="{18916A1D-C625-B2A8-79AF-AC03772A0922}"/>
              </a:ext>
            </a:extLst>
          </p:cNvPr>
          <p:cNvSpPr txBox="1"/>
          <p:nvPr/>
        </p:nvSpPr>
        <p:spPr>
          <a:xfrm>
            <a:off x="853694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Reconcile</a:t>
            </a:r>
          </a:p>
        </p:txBody>
      </p:sp>
      <p:sp>
        <p:nvSpPr>
          <p:cNvPr id="52" name="TextBox 51">
            <a:extLst>
              <a:ext uri="{FF2B5EF4-FFF2-40B4-BE49-F238E27FC236}">
                <a16:creationId xmlns:a16="http://schemas.microsoft.com/office/drawing/2014/main" id="{BCDD8782-AD9B-8097-E519-1995979FBB35}"/>
              </a:ext>
            </a:extLst>
          </p:cNvPr>
          <p:cNvSpPr txBox="1"/>
          <p:nvPr/>
        </p:nvSpPr>
        <p:spPr>
          <a:xfrm>
            <a:off x="815594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Counts, checksums and samples per partition; values verified.</a:t>
            </a:r>
          </a:p>
        </p:txBody>
      </p:sp>
      <p:sp>
        <p:nvSpPr>
          <p:cNvPr id="53" name="Rectangle: Rounded Corners 52">
            <a:extLst>
              <a:ext uri="{FF2B5EF4-FFF2-40B4-BE49-F238E27FC236}">
                <a16:creationId xmlns:a16="http://schemas.microsoft.com/office/drawing/2014/main" id="{2A4F9A37-13C2-BF1A-610A-B2B8B9CBA070}"/>
              </a:ext>
            </a:extLst>
          </p:cNvPr>
          <p:cNvSpPr/>
          <p:nvPr/>
        </p:nvSpPr>
        <p:spPr>
          <a:xfrm>
            <a:off x="10033000" y="3810000"/>
            <a:ext cx="1752600" cy="1320800"/>
          </a:xfrm>
          <a:prstGeom prst="roundRect">
            <a:avLst>
              <a:gd name="adj" fmla="val 6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Rounded Corners 53">
            <a:extLst>
              <a:ext uri="{FF2B5EF4-FFF2-40B4-BE49-F238E27FC236}">
                <a16:creationId xmlns:a16="http://schemas.microsoft.com/office/drawing/2014/main" id="{B014CC82-B3E7-B04F-C0D7-5B84A9F0DD9C}"/>
              </a:ext>
            </a:extLst>
          </p:cNvPr>
          <p:cNvSpPr/>
          <p:nvPr/>
        </p:nvSpPr>
        <p:spPr>
          <a:xfrm>
            <a:off x="10134600" y="3911600"/>
            <a:ext cx="304800" cy="304800"/>
          </a:xfrm>
          <a:prstGeom prst="roundRect">
            <a:avLst>
              <a:gd name="adj" fmla="val 50000"/>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tIns="38100" rIns="76200" bIns="38100" rtlCol="0" anchor="ctr"/>
          <a:lstStyle/>
          <a:p>
            <a:pPr algn="ctr">
              <a:spcAft>
                <a:spcPts val="300"/>
              </a:spcAft>
            </a:pPr>
            <a:r>
              <a:rPr lang="en-GB" sz="1050" b="1">
                <a:solidFill>
                  <a:srgbClr val="FFFFFF"/>
                </a:solidFill>
                <a:latin typeface="Aptos" panose="020B0004020202020204" pitchFamily="34" charset="0"/>
              </a:rPr>
              <a:t>6</a:t>
            </a:r>
          </a:p>
        </p:txBody>
      </p:sp>
      <p:sp>
        <p:nvSpPr>
          <p:cNvPr id="55" name="TextBox 54">
            <a:extLst>
              <a:ext uri="{FF2B5EF4-FFF2-40B4-BE49-F238E27FC236}">
                <a16:creationId xmlns:a16="http://schemas.microsoft.com/office/drawing/2014/main" id="{064321AC-2C9B-6D60-A451-FEE21280DE49}"/>
              </a:ext>
            </a:extLst>
          </p:cNvPr>
          <p:cNvSpPr txBox="1"/>
          <p:nvPr/>
        </p:nvSpPr>
        <p:spPr>
          <a:xfrm>
            <a:off x="10464800" y="3898900"/>
            <a:ext cx="1270000" cy="369332"/>
          </a:xfrm>
          <a:prstGeom prst="rect">
            <a:avLst/>
          </a:prstGeom>
          <a:noFill/>
        </p:spPr>
        <p:txBody>
          <a:bodyPr vert="horz" wrap="square" lIns="76200" tIns="38100" rIns="76200" bIns="38100" rtlCol="0" anchor="ctr">
            <a:noAutofit/>
          </a:bodyPr>
          <a:lstStyle/>
          <a:p>
            <a:pPr>
              <a:spcAft>
                <a:spcPts val="300"/>
              </a:spcAft>
            </a:pPr>
            <a:r>
              <a:rPr lang="en-GB" sz="1250" b="1">
                <a:solidFill>
                  <a:srgbClr val="4B47A8"/>
                </a:solidFill>
                <a:latin typeface="Aptos" panose="020B0004020202020204" pitchFamily="34" charset="0"/>
              </a:rPr>
              <a:t>Files</a:t>
            </a:r>
          </a:p>
        </p:txBody>
      </p:sp>
      <p:sp>
        <p:nvSpPr>
          <p:cNvPr id="56" name="TextBox 55">
            <a:extLst>
              <a:ext uri="{FF2B5EF4-FFF2-40B4-BE49-F238E27FC236}">
                <a16:creationId xmlns:a16="http://schemas.microsoft.com/office/drawing/2014/main" id="{BED2670A-2222-B3AA-5D5E-D42DBEC92466}"/>
              </a:ext>
            </a:extLst>
          </p:cNvPr>
          <p:cNvSpPr txBox="1"/>
          <p:nvPr/>
        </p:nvSpPr>
        <p:spPr>
          <a:xfrm>
            <a:off x="10083800" y="4318000"/>
            <a:ext cx="16510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1F1F2E"/>
                </a:solidFill>
                <a:latin typeface="Century Gothic" panose="020B0502020202020204" pitchFamily="34" charset="0"/>
              </a:rPr>
              <a:t>Attachments moved separately to cloud storage.</a:t>
            </a:r>
          </a:p>
        </p:txBody>
      </p:sp>
      <p:sp>
        <p:nvSpPr>
          <p:cNvPr id="57" name="TextBox 56">
            <a:extLst>
              <a:ext uri="{FF2B5EF4-FFF2-40B4-BE49-F238E27FC236}">
                <a16:creationId xmlns:a16="http://schemas.microsoft.com/office/drawing/2014/main" id="{1895B3D6-952F-3C3E-5379-F6CB6F1188BC}"/>
              </a:ext>
            </a:extLst>
          </p:cNvPr>
          <p:cNvSpPr txBox="1"/>
          <p:nvPr/>
        </p:nvSpPr>
        <p:spPr>
          <a:xfrm>
            <a:off x="393700" y="5257800"/>
            <a:ext cx="11391900" cy="369332"/>
          </a:xfrm>
          <a:prstGeom prst="rect">
            <a:avLst/>
          </a:prstGeom>
          <a:noFill/>
        </p:spPr>
        <p:txBody>
          <a:bodyPr vert="horz" wrap="square" lIns="76200" tIns="38100" rIns="76200" bIns="38100" rtlCol="0" anchor="t">
            <a:noAutofit/>
          </a:bodyPr>
          <a:lstStyle/>
          <a:p>
            <a:pPr>
              <a:spcAft>
                <a:spcPts val="300"/>
              </a:spcAft>
            </a:pPr>
            <a:r>
              <a:rPr lang="en-GB" sz="1000">
                <a:solidFill>
                  <a:srgbClr val="5E6170"/>
                </a:solidFill>
                <a:latin typeface="Century Gothic" panose="020B0502020202020204" pitchFamily="34" charset="0"/>
              </a:rPr>
              <a:t>Partitions and workers are sized during assessment.</a:t>
            </a:r>
          </a:p>
        </p:txBody>
      </p:sp>
    </p:spTree>
    <p:extLst>
      <p:ext uri="{BB962C8B-B14F-4D97-AF65-F5344CB8AC3E}">
        <p14:creationId xmlns:p14="http://schemas.microsoft.com/office/powerpoint/2010/main" val="3007829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5F61-1962-3197-E89A-7A1528A64F36}"/>
              </a:ext>
            </a:extLst>
          </p:cNvPr>
          <p:cNvSpPr>
            <a:spLocks noGrp="1"/>
          </p:cNvSpPr>
          <p:nvPr>
            <p:ph type="ctrTitle"/>
          </p:nvPr>
        </p:nvSpPr>
        <p:spPr>
          <a:xfrm>
            <a:off x="393700" y="203200"/>
            <a:ext cx="11391900" cy="508000"/>
          </a:xfrm>
        </p:spPr>
        <p:txBody>
          <a:bodyPr anchor="ctr">
            <a:normAutofit/>
          </a:bodyPr>
          <a:lstStyle/>
          <a:p>
            <a:r>
              <a:rPr lang="en-GB" sz="2400">
                <a:solidFill>
                  <a:srgbClr val="6666CC"/>
                </a:solidFill>
                <a:latin typeface="Aptos" panose="020B0004020202020204" pitchFamily="34" charset="0"/>
              </a:rPr>
              <a:t>Target architecture: one platform for every module</a:t>
            </a:r>
          </a:p>
        </p:txBody>
      </p:sp>
      <p:cxnSp>
        <p:nvCxnSpPr>
          <p:cNvPr id="4" name="Straight Connector 3">
            <a:extLst>
              <a:ext uri="{FF2B5EF4-FFF2-40B4-BE49-F238E27FC236}">
                <a16:creationId xmlns:a16="http://schemas.microsoft.com/office/drawing/2014/main" id="{77B514B4-261D-7FD8-8A9B-8450E8A8EFE1}"/>
              </a:ext>
            </a:extLst>
          </p:cNvPr>
          <p:cNvCxnSpPr/>
          <p:nvPr/>
        </p:nvCxnSpPr>
        <p:spPr>
          <a:xfrm>
            <a:off x="457200" y="736600"/>
            <a:ext cx="11277600" cy="0"/>
          </a:xfrm>
          <a:prstGeom prst="line">
            <a:avLst/>
          </a:prstGeom>
          <a:ln w="12700">
            <a:solidFill>
              <a:srgbClr val="A79FE8"/>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D25A6A3-3DA3-8686-7B89-AB8530A95AAA}"/>
              </a:ext>
            </a:extLst>
          </p:cNvPr>
          <p:cNvSpPr txBox="1"/>
          <p:nvPr/>
        </p:nvSpPr>
        <p:spPr>
          <a:xfrm>
            <a:off x="393700" y="787400"/>
            <a:ext cx="11391900" cy="369332"/>
          </a:xfrm>
          <a:prstGeom prst="rect">
            <a:avLst/>
          </a:prstGeom>
          <a:noFill/>
        </p:spPr>
        <p:txBody>
          <a:bodyPr vert="horz" wrap="square" lIns="76200" tIns="38100" rIns="76200" bIns="38100" rtlCol="0" anchor="t">
            <a:noAutofit/>
          </a:bodyPr>
          <a:lstStyle/>
          <a:p>
            <a:pPr>
              <a:spcAft>
                <a:spcPts val="300"/>
              </a:spcAft>
            </a:pPr>
            <a:r>
              <a:rPr lang="en-GB" sz="1200">
                <a:solidFill>
                  <a:srgbClr val="5E6170"/>
                </a:solidFill>
                <a:latin typeface="Century Gothic" panose="020B0502020202020204" pitchFamily="34" charset="0"/>
              </a:rPr>
              <a:t>Each Salesforce module becomes a domain on one Azure platform. Salesforce stays live until each domain moves.</a:t>
            </a:r>
            <a:endParaRPr lang="en-GB" sz="1200" dirty="0">
              <a:solidFill>
                <a:srgbClr val="5E6170"/>
              </a:solidFill>
              <a:latin typeface="Century Gothic" panose="020B0502020202020204" pitchFamily="34" charset="0"/>
            </a:endParaRPr>
          </a:p>
        </p:txBody>
      </p:sp>
      <p:sp>
        <p:nvSpPr>
          <p:cNvPr id="3" name="Rectangle: Rounded Corners 2">
            <a:extLst>
              <a:ext uri="{FF2B5EF4-FFF2-40B4-BE49-F238E27FC236}">
                <a16:creationId xmlns:a16="http://schemas.microsoft.com/office/drawing/2014/main" id="{6EBBA816-8544-3B07-84EF-11CBCD75749E}"/>
              </a:ext>
            </a:extLst>
          </p:cNvPr>
          <p:cNvSpPr/>
          <p:nvPr/>
        </p:nvSpPr>
        <p:spPr>
          <a:xfrm>
            <a:off x="393700" y="1371600"/>
            <a:ext cx="1778000" cy="2032000"/>
          </a:xfrm>
          <a:prstGeom prst="roundRect">
            <a:avLst>
              <a:gd name="adj" fmla="val 8000"/>
            </a:avLst>
          </a:prstGeom>
          <a:solidFill>
            <a:srgbClr val="F4F4F6"/>
          </a:solidFill>
          <a:ln w="12700">
            <a:solidFill>
              <a:srgbClr val="C9CB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7042B15A-BC12-39CE-2CE6-C1D0BA1A7EBD}"/>
              </a:ext>
            </a:extLst>
          </p:cNvPr>
          <p:cNvSpPr txBox="1"/>
          <p:nvPr/>
        </p:nvSpPr>
        <p:spPr>
          <a:xfrm>
            <a:off x="520700" y="1524000"/>
            <a:ext cx="1524000" cy="369332"/>
          </a:xfrm>
          <a:prstGeom prst="rect">
            <a:avLst/>
          </a:prstGeom>
          <a:noFill/>
        </p:spPr>
        <p:txBody>
          <a:bodyPr vert="horz" wrap="square" lIns="0" tIns="0" rIns="0" bIns="0" rtlCol="0">
            <a:noAutofit/>
          </a:bodyPr>
          <a:lstStyle/>
          <a:p>
            <a:pPr algn="ctr">
              <a:spcAft>
                <a:spcPts val="600"/>
              </a:spcAft>
            </a:pPr>
            <a:r>
              <a:rPr lang="en-GB" sz="1300" b="1">
                <a:solidFill>
                  <a:srgbClr val="1F1F2E"/>
                </a:solidFill>
                <a:latin typeface="Century Gothic" panose="020B0502020202020204" pitchFamily="34" charset="0"/>
              </a:rPr>
              <a:t>Who uses it</a:t>
            </a:r>
          </a:p>
          <a:p>
            <a:pPr algn="ctr">
              <a:spcAft>
                <a:spcPts val="300"/>
              </a:spcAft>
            </a:pPr>
            <a:r>
              <a:rPr lang="en-GB" sz="950">
                <a:solidFill>
                  <a:srgbClr val="5E6170"/>
                </a:solidFill>
                <a:latin typeface="Century Gothic" panose="020B0502020202020204" pitchFamily="34" charset="0"/>
              </a:rPr>
              <a:t>Staff: Entra ID sign-in</a:t>
            </a:r>
          </a:p>
          <a:p>
            <a:pPr algn="ctr">
              <a:spcAft>
                <a:spcPts val="300"/>
              </a:spcAft>
            </a:pPr>
            <a:r>
              <a:rPr lang="en-GB" sz="950">
                <a:solidFill>
                  <a:srgbClr val="5E6170"/>
                </a:solidFill>
                <a:latin typeface="Century Gothic" panose="020B0502020202020204" pitchFamily="34" charset="0"/>
              </a:rPr>
              <a:t>Portal users: External ID</a:t>
            </a:r>
          </a:p>
          <a:p>
            <a:pPr algn="ctr">
              <a:spcAft>
                <a:spcPts val="300"/>
              </a:spcAft>
            </a:pPr>
            <a:r>
              <a:rPr lang="en-GB" sz="950">
                <a:solidFill>
                  <a:srgbClr val="5E6170"/>
                </a:solidFill>
                <a:latin typeface="Century Gothic" panose="020B0502020202020204" pitchFamily="34" charset="0"/>
              </a:rPr>
              <a:t>Integrated systems: REST API, OAuth 2.0</a:t>
            </a:r>
          </a:p>
        </p:txBody>
      </p:sp>
      <p:sp>
        <p:nvSpPr>
          <p:cNvPr id="59" name="Arrow: Right 58">
            <a:extLst>
              <a:ext uri="{FF2B5EF4-FFF2-40B4-BE49-F238E27FC236}">
                <a16:creationId xmlns:a16="http://schemas.microsoft.com/office/drawing/2014/main" id="{036EAB0B-FBB6-F3EF-4EAA-2AB1AB3B5B59}"/>
              </a:ext>
            </a:extLst>
          </p:cNvPr>
          <p:cNvSpPr/>
          <p:nvPr/>
        </p:nvSpPr>
        <p:spPr>
          <a:xfrm>
            <a:off x="2222500" y="22987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Rounded Corners 59">
            <a:extLst>
              <a:ext uri="{FF2B5EF4-FFF2-40B4-BE49-F238E27FC236}">
                <a16:creationId xmlns:a16="http://schemas.microsoft.com/office/drawing/2014/main" id="{3F4550C7-0967-1756-0B7E-67AD7A8C55D6}"/>
              </a:ext>
            </a:extLst>
          </p:cNvPr>
          <p:cNvSpPr/>
          <p:nvPr/>
        </p:nvSpPr>
        <p:spPr>
          <a:xfrm>
            <a:off x="2476500" y="1371600"/>
            <a:ext cx="1778000" cy="20320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1" name="TextBox 60">
            <a:extLst>
              <a:ext uri="{FF2B5EF4-FFF2-40B4-BE49-F238E27FC236}">
                <a16:creationId xmlns:a16="http://schemas.microsoft.com/office/drawing/2014/main" id="{3D714C5E-1DF8-7644-1AD2-42E191B67270}"/>
              </a:ext>
            </a:extLst>
          </p:cNvPr>
          <p:cNvSpPr txBox="1"/>
          <p:nvPr/>
        </p:nvSpPr>
        <p:spPr>
          <a:xfrm>
            <a:off x="2603500" y="1524000"/>
            <a:ext cx="1524000" cy="369332"/>
          </a:xfrm>
          <a:prstGeom prst="rect">
            <a:avLst/>
          </a:prstGeom>
          <a:noFill/>
        </p:spPr>
        <p:txBody>
          <a:bodyPr vert="horz" wrap="square" lIns="0" tIns="0" rIns="0" bIns="0" rtlCol="0">
            <a:noAutofit/>
          </a:bodyPr>
          <a:lstStyle/>
          <a:p>
            <a:pPr algn="ctr">
              <a:spcAft>
                <a:spcPts val="600"/>
              </a:spcAft>
            </a:pPr>
            <a:r>
              <a:rPr lang="en-GB" sz="1300" b="1">
                <a:solidFill>
                  <a:srgbClr val="4B47A8"/>
                </a:solidFill>
                <a:latin typeface="Century Gothic" panose="020B0502020202020204" pitchFamily="34" charset="0"/>
              </a:rPr>
              <a:t>Front door</a:t>
            </a:r>
          </a:p>
          <a:p>
            <a:pPr algn="ctr">
              <a:spcAft>
                <a:spcPts val="300"/>
              </a:spcAft>
            </a:pPr>
            <a:r>
              <a:rPr lang="en-GB" sz="950">
                <a:solidFill>
                  <a:srgbClr val="1F1F2E"/>
                </a:solidFill>
                <a:latin typeface="Century Gothic" panose="020B0502020202020204" pitchFamily="34" charset="0"/>
              </a:rPr>
              <a:t>Front Door with firewall</a:t>
            </a:r>
          </a:p>
          <a:p>
            <a:pPr algn="ctr">
              <a:spcAft>
                <a:spcPts val="300"/>
              </a:spcAft>
            </a:pPr>
            <a:r>
              <a:rPr lang="en-GB" sz="950">
                <a:solidFill>
                  <a:srgbClr val="1F1F2E"/>
                </a:solidFill>
                <a:latin typeface="Century Gothic" panose="020B0502020202020204" pitchFamily="34" charset="0"/>
              </a:rPr>
              <a:t>API Management with a Salesforce-compatible API, so integrations keep working</a:t>
            </a:r>
          </a:p>
        </p:txBody>
      </p:sp>
      <p:sp>
        <p:nvSpPr>
          <p:cNvPr id="62" name="Arrow: Right 61">
            <a:extLst>
              <a:ext uri="{FF2B5EF4-FFF2-40B4-BE49-F238E27FC236}">
                <a16:creationId xmlns:a16="http://schemas.microsoft.com/office/drawing/2014/main" id="{7D2A5C2A-A244-D1B2-DD17-00FAF385AE6F}"/>
              </a:ext>
            </a:extLst>
          </p:cNvPr>
          <p:cNvSpPr/>
          <p:nvPr/>
        </p:nvSpPr>
        <p:spPr>
          <a:xfrm>
            <a:off x="4305300" y="22987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Rounded Corners 62">
            <a:extLst>
              <a:ext uri="{FF2B5EF4-FFF2-40B4-BE49-F238E27FC236}">
                <a16:creationId xmlns:a16="http://schemas.microsoft.com/office/drawing/2014/main" id="{E82887C8-966F-BC0B-9981-4CE522BC45F9}"/>
              </a:ext>
            </a:extLst>
          </p:cNvPr>
          <p:cNvSpPr/>
          <p:nvPr/>
        </p:nvSpPr>
        <p:spPr>
          <a:xfrm>
            <a:off x="4559300" y="1371600"/>
            <a:ext cx="5080000" cy="2032000"/>
          </a:xfrm>
          <a:prstGeom prst="roundRect">
            <a:avLst>
              <a:gd name="adj" fmla="val 8000"/>
            </a:avLst>
          </a:prstGeom>
          <a:solidFill>
            <a:srgbClr val="FFFFFF"/>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08EDEC92-F4B7-1F17-25EC-82BC3397BD40}"/>
              </a:ext>
            </a:extLst>
          </p:cNvPr>
          <p:cNvSpPr txBox="1"/>
          <p:nvPr/>
        </p:nvSpPr>
        <p:spPr>
          <a:xfrm>
            <a:off x="4711700" y="1485900"/>
            <a:ext cx="4826000" cy="369332"/>
          </a:xfrm>
          <a:prstGeom prst="rect">
            <a:avLst/>
          </a:prstGeom>
          <a:noFill/>
        </p:spPr>
        <p:txBody>
          <a:bodyPr vert="horz" wrap="square" lIns="0" tIns="0" rIns="0" bIns="0" rtlCol="0">
            <a:noAutofit/>
          </a:bodyPr>
          <a:lstStyle/>
          <a:p>
            <a:r>
              <a:rPr lang="en-GB" sz="1100" b="1">
                <a:solidFill>
                  <a:srgbClr val="4B47A8"/>
                </a:solidFill>
                <a:latin typeface="Century Gothic" panose="020B0502020202020204" pitchFamily="34" charset="0"/>
              </a:rPr>
              <a:t>Business domains on one platform (Azure Container Apps)</a:t>
            </a:r>
          </a:p>
        </p:txBody>
      </p:sp>
      <p:sp>
        <p:nvSpPr>
          <p:cNvPr id="65" name="Rectangle: Rounded Corners 64">
            <a:extLst>
              <a:ext uri="{FF2B5EF4-FFF2-40B4-BE49-F238E27FC236}">
                <a16:creationId xmlns:a16="http://schemas.microsoft.com/office/drawing/2014/main" id="{790E4F83-4B86-1C75-7836-35F1894B721D}"/>
              </a:ext>
            </a:extLst>
          </p:cNvPr>
          <p:cNvSpPr/>
          <p:nvPr/>
        </p:nvSpPr>
        <p:spPr>
          <a:xfrm>
            <a:off x="4711700" y="1803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TextBox 65">
            <a:extLst>
              <a:ext uri="{FF2B5EF4-FFF2-40B4-BE49-F238E27FC236}">
                <a16:creationId xmlns:a16="http://schemas.microsoft.com/office/drawing/2014/main" id="{529962E2-BC0E-3CD7-A7D5-94F6DBD6F3E2}"/>
              </a:ext>
            </a:extLst>
          </p:cNvPr>
          <p:cNvSpPr txBox="1"/>
          <p:nvPr/>
        </p:nvSpPr>
        <p:spPr>
          <a:xfrm>
            <a:off x="4762500" y="1917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Core customer</a:t>
            </a:r>
          </a:p>
          <a:p>
            <a:pPr algn="ctr"/>
            <a:r>
              <a:rPr lang="en-GB" sz="850">
                <a:solidFill>
                  <a:srgbClr val="5E6170"/>
                </a:solidFill>
                <a:latin typeface="Century Gothic" panose="020B0502020202020204" pitchFamily="34" charset="0"/>
              </a:rPr>
              <a:t>shared by every module</a:t>
            </a:r>
          </a:p>
        </p:txBody>
      </p:sp>
      <p:sp>
        <p:nvSpPr>
          <p:cNvPr id="67" name="Rectangle: Rounded Corners 66">
            <a:extLst>
              <a:ext uri="{FF2B5EF4-FFF2-40B4-BE49-F238E27FC236}">
                <a16:creationId xmlns:a16="http://schemas.microsoft.com/office/drawing/2014/main" id="{8D0B5D3D-75C2-B1D2-C553-43C05CD3CD6B}"/>
              </a:ext>
            </a:extLst>
          </p:cNvPr>
          <p:cNvSpPr/>
          <p:nvPr/>
        </p:nvSpPr>
        <p:spPr>
          <a:xfrm>
            <a:off x="6324600" y="1803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a:extLst>
              <a:ext uri="{FF2B5EF4-FFF2-40B4-BE49-F238E27FC236}">
                <a16:creationId xmlns:a16="http://schemas.microsoft.com/office/drawing/2014/main" id="{AB1687A8-DCFC-739E-BB8F-753663C9C340}"/>
              </a:ext>
            </a:extLst>
          </p:cNvPr>
          <p:cNvSpPr txBox="1"/>
          <p:nvPr/>
        </p:nvSpPr>
        <p:spPr>
          <a:xfrm>
            <a:off x="6375400" y="1917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Sales</a:t>
            </a:r>
          </a:p>
          <a:p>
            <a:pPr algn="ctr"/>
            <a:r>
              <a:rPr lang="en-GB" sz="850">
                <a:solidFill>
                  <a:srgbClr val="5E6170"/>
                </a:solidFill>
                <a:latin typeface="Century Gothic" panose="020B0502020202020204" pitchFamily="34" charset="0"/>
              </a:rPr>
              <a:t>Sales Cloud</a:t>
            </a:r>
          </a:p>
        </p:txBody>
      </p:sp>
      <p:sp>
        <p:nvSpPr>
          <p:cNvPr id="69" name="Rectangle: Rounded Corners 68">
            <a:extLst>
              <a:ext uri="{FF2B5EF4-FFF2-40B4-BE49-F238E27FC236}">
                <a16:creationId xmlns:a16="http://schemas.microsoft.com/office/drawing/2014/main" id="{CCEDD92E-37B5-8B0D-C308-2DA612A7051E}"/>
              </a:ext>
            </a:extLst>
          </p:cNvPr>
          <p:cNvSpPr/>
          <p:nvPr/>
        </p:nvSpPr>
        <p:spPr>
          <a:xfrm>
            <a:off x="7937500" y="1803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0" name="TextBox 69">
            <a:extLst>
              <a:ext uri="{FF2B5EF4-FFF2-40B4-BE49-F238E27FC236}">
                <a16:creationId xmlns:a16="http://schemas.microsoft.com/office/drawing/2014/main" id="{4BE0E85A-3BA9-0B1F-E319-972182ED275F}"/>
              </a:ext>
            </a:extLst>
          </p:cNvPr>
          <p:cNvSpPr txBox="1"/>
          <p:nvPr/>
        </p:nvSpPr>
        <p:spPr>
          <a:xfrm>
            <a:off x="7988300" y="1917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Service</a:t>
            </a:r>
          </a:p>
          <a:p>
            <a:pPr algn="ctr"/>
            <a:r>
              <a:rPr lang="en-GB" sz="850">
                <a:solidFill>
                  <a:srgbClr val="5E6170"/>
                </a:solidFill>
                <a:latin typeface="Century Gothic" panose="020B0502020202020204" pitchFamily="34" charset="0"/>
              </a:rPr>
              <a:t>Service Cloud</a:t>
            </a:r>
          </a:p>
        </p:txBody>
      </p:sp>
      <p:sp>
        <p:nvSpPr>
          <p:cNvPr id="71" name="Rectangle: Rounded Corners 70">
            <a:extLst>
              <a:ext uri="{FF2B5EF4-FFF2-40B4-BE49-F238E27FC236}">
                <a16:creationId xmlns:a16="http://schemas.microsoft.com/office/drawing/2014/main" id="{B591C34D-CBCE-7CF0-3F53-56D58FF7A202}"/>
              </a:ext>
            </a:extLst>
          </p:cNvPr>
          <p:cNvSpPr/>
          <p:nvPr/>
        </p:nvSpPr>
        <p:spPr>
          <a:xfrm>
            <a:off x="4711700" y="2565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TextBox 71">
            <a:extLst>
              <a:ext uri="{FF2B5EF4-FFF2-40B4-BE49-F238E27FC236}">
                <a16:creationId xmlns:a16="http://schemas.microsoft.com/office/drawing/2014/main" id="{72CA810D-ED54-5EA8-ED03-323AE5FCE968}"/>
              </a:ext>
            </a:extLst>
          </p:cNvPr>
          <p:cNvSpPr txBox="1"/>
          <p:nvPr/>
        </p:nvSpPr>
        <p:spPr>
          <a:xfrm>
            <a:off x="4762500" y="2679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Subscriptions</a:t>
            </a:r>
          </a:p>
          <a:p>
            <a:pPr algn="ctr"/>
            <a:r>
              <a:rPr lang="en-GB" sz="850">
                <a:solidFill>
                  <a:srgbClr val="5E6170"/>
                </a:solidFill>
                <a:latin typeface="Century Gothic" panose="020B0502020202020204" pitchFamily="34" charset="0"/>
              </a:rPr>
              <a:t>first domain (demo)</a:t>
            </a:r>
          </a:p>
        </p:txBody>
      </p:sp>
      <p:sp>
        <p:nvSpPr>
          <p:cNvPr id="73" name="Rectangle: Rounded Corners 72">
            <a:extLst>
              <a:ext uri="{FF2B5EF4-FFF2-40B4-BE49-F238E27FC236}">
                <a16:creationId xmlns:a16="http://schemas.microsoft.com/office/drawing/2014/main" id="{65FC369F-9731-35E3-F42B-8843453087D7}"/>
              </a:ext>
            </a:extLst>
          </p:cNvPr>
          <p:cNvSpPr/>
          <p:nvPr/>
        </p:nvSpPr>
        <p:spPr>
          <a:xfrm>
            <a:off x="6324600" y="2565400"/>
            <a:ext cx="1485900" cy="635000"/>
          </a:xfrm>
          <a:prstGeom prst="roundRect">
            <a:avLst>
              <a:gd name="adj" fmla="val 15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4" name="TextBox 73">
            <a:extLst>
              <a:ext uri="{FF2B5EF4-FFF2-40B4-BE49-F238E27FC236}">
                <a16:creationId xmlns:a16="http://schemas.microsoft.com/office/drawing/2014/main" id="{058E4316-631F-5D1F-1B5C-36D710D67BFB}"/>
              </a:ext>
            </a:extLst>
          </p:cNvPr>
          <p:cNvSpPr txBox="1"/>
          <p:nvPr/>
        </p:nvSpPr>
        <p:spPr>
          <a:xfrm>
            <a:off x="6375400" y="2679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Activities</a:t>
            </a:r>
          </a:p>
          <a:p>
            <a:pPr algn="ctr"/>
            <a:r>
              <a:rPr lang="en-GB" sz="850">
                <a:solidFill>
                  <a:srgbClr val="5E6170"/>
                </a:solidFill>
                <a:latin typeface="Century Gothic" panose="020B0502020202020204" pitchFamily="34" charset="0"/>
              </a:rPr>
              <a:t>tasks and events</a:t>
            </a:r>
          </a:p>
        </p:txBody>
      </p:sp>
      <p:sp>
        <p:nvSpPr>
          <p:cNvPr id="75" name="Rectangle: Rounded Corners 74">
            <a:extLst>
              <a:ext uri="{FF2B5EF4-FFF2-40B4-BE49-F238E27FC236}">
                <a16:creationId xmlns:a16="http://schemas.microsoft.com/office/drawing/2014/main" id="{59A53CC1-CB27-33B7-3785-F2D34A901F3F}"/>
              </a:ext>
            </a:extLst>
          </p:cNvPr>
          <p:cNvSpPr/>
          <p:nvPr/>
        </p:nvSpPr>
        <p:spPr>
          <a:xfrm>
            <a:off x="7937500" y="2565400"/>
            <a:ext cx="1485900" cy="635000"/>
          </a:xfrm>
          <a:prstGeom prst="roundRect">
            <a:avLst>
              <a:gd name="adj" fmla="val 15000"/>
            </a:avLst>
          </a:prstGeom>
          <a:solidFill>
            <a:srgbClr val="FFFFFF"/>
          </a:solidFill>
          <a:ln w="12700">
            <a:solidFill>
              <a:srgbClr val="2CDCA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6" name="TextBox 75">
            <a:extLst>
              <a:ext uri="{FF2B5EF4-FFF2-40B4-BE49-F238E27FC236}">
                <a16:creationId xmlns:a16="http://schemas.microsoft.com/office/drawing/2014/main" id="{16BC33E2-7DBC-2C87-1D8A-771C9E5A2FC3}"/>
              </a:ext>
            </a:extLst>
          </p:cNvPr>
          <p:cNvSpPr txBox="1"/>
          <p:nvPr/>
        </p:nvSpPr>
        <p:spPr>
          <a:xfrm>
            <a:off x="7988300" y="2679700"/>
            <a:ext cx="1384300" cy="369332"/>
          </a:xfrm>
          <a:prstGeom prst="rect">
            <a:avLst/>
          </a:prstGeom>
          <a:noFill/>
        </p:spPr>
        <p:txBody>
          <a:bodyPr vert="horz" wrap="square" lIns="0" tIns="0" rIns="0" bIns="0" rtlCol="0">
            <a:noAutofit/>
          </a:bodyPr>
          <a:lstStyle/>
          <a:p>
            <a:pPr algn="ctr">
              <a:spcAft>
                <a:spcPts val="100"/>
              </a:spcAft>
            </a:pPr>
            <a:r>
              <a:rPr lang="en-GB" sz="1050" b="1">
                <a:solidFill>
                  <a:srgbClr val="006450"/>
                </a:solidFill>
                <a:latin typeface="Century Gothic" panose="020B0502020202020204" pitchFamily="34" charset="0"/>
              </a:rPr>
              <a:t>Next module</a:t>
            </a:r>
          </a:p>
          <a:p>
            <a:pPr algn="ctr"/>
            <a:r>
              <a:rPr lang="en-GB" sz="850">
                <a:solidFill>
                  <a:srgbClr val="5E6170"/>
                </a:solidFill>
                <a:latin typeface="Century Gothic" panose="020B0502020202020204" pitchFamily="34" charset="0"/>
              </a:rPr>
              <a:t>same template</a:t>
            </a:r>
          </a:p>
        </p:txBody>
      </p:sp>
      <p:sp>
        <p:nvSpPr>
          <p:cNvPr id="77" name="Arrow: Right 76">
            <a:extLst>
              <a:ext uri="{FF2B5EF4-FFF2-40B4-BE49-F238E27FC236}">
                <a16:creationId xmlns:a16="http://schemas.microsoft.com/office/drawing/2014/main" id="{52D70854-2175-8F70-318C-075DE41E76DB}"/>
              </a:ext>
            </a:extLst>
          </p:cNvPr>
          <p:cNvSpPr/>
          <p:nvPr/>
        </p:nvSpPr>
        <p:spPr>
          <a:xfrm>
            <a:off x="9690100" y="2298700"/>
            <a:ext cx="203200" cy="177800"/>
          </a:xfrm>
          <a:prstGeom prst="rightArrow">
            <a:avLst/>
          </a:prstGeom>
          <a:solidFill>
            <a:srgbClr val="2CDCA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8" name="Rectangle: Rounded Corners 77">
            <a:extLst>
              <a:ext uri="{FF2B5EF4-FFF2-40B4-BE49-F238E27FC236}">
                <a16:creationId xmlns:a16="http://schemas.microsoft.com/office/drawing/2014/main" id="{9D838D1F-ED64-FB43-A355-95ADBE381BBE}"/>
              </a:ext>
            </a:extLst>
          </p:cNvPr>
          <p:cNvSpPr/>
          <p:nvPr/>
        </p:nvSpPr>
        <p:spPr>
          <a:xfrm>
            <a:off x="9944100" y="1371600"/>
            <a:ext cx="1854200" cy="2032000"/>
          </a:xfrm>
          <a:prstGeom prst="roundRect">
            <a:avLst>
              <a:gd name="adj" fmla="val 8000"/>
            </a:avLst>
          </a:prstGeom>
          <a:solidFill>
            <a:srgbClr val="E6FAF3"/>
          </a:solidFill>
          <a:ln w="12700">
            <a:solidFill>
              <a:srgbClr val="2CDCA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TextBox 78">
            <a:extLst>
              <a:ext uri="{FF2B5EF4-FFF2-40B4-BE49-F238E27FC236}">
                <a16:creationId xmlns:a16="http://schemas.microsoft.com/office/drawing/2014/main" id="{2B5BFC0F-3886-6457-6348-C6365EF29584}"/>
              </a:ext>
            </a:extLst>
          </p:cNvPr>
          <p:cNvSpPr txBox="1"/>
          <p:nvPr/>
        </p:nvSpPr>
        <p:spPr>
          <a:xfrm>
            <a:off x="10071100" y="1524000"/>
            <a:ext cx="1600200" cy="369332"/>
          </a:xfrm>
          <a:prstGeom prst="rect">
            <a:avLst/>
          </a:prstGeom>
          <a:noFill/>
        </p:spPr>
        <p:txBody>
          <a:bodyPr vert="horz" wrap="square" lIns="0" tIns="0" rIns="0" bIns="0" rtlCol="0">
            <a:noAutofit/>
          </a:bodyPr>
          <a:lstStyle/>
          <a:p>
            <a:pPr algn="ctr">
              <a:spcAft>
                <a:spcPts val="600"/>
              </a:spcAft>
            </a:pPr>
            <a:r>
              <a:rPr lang="en-GB" sz="1300" b="1">
                <a:solidFill>
                  <a:srgbClr val="006450"/>
                </a:solidFill>
                <a:latin typeface="Century Gothic" panose="020B0502020202020204" pitchFamily="34" charset="0"/>
              </a:rPr>
              <a:t>Cloud database</a:t>
            </a:r>
          </a:p>
          <a:p>
            <a:pPr algn="ctr">
              <a:spcAft>
                <a:spcPts val="300"/>
              </a:spcAft>
            </a:pPr>
            <a:r>
              <a:rPr lang="en-GB" sz="950">
                <a:solidFill>
                  <a:srgbClr val="1F1F2E"/>
                </a:solidFill>
                <a:latin typeface="Century Gothic" panose="020B0502020202020204" pitchFamily="34" charset="0"/>
              </a:rPr>
              <a:t>PostgreSQL, one schema per domain</a:t>
            </a:r>
          </a:p>
          <a:p>
            <a:pPr algn="ctr">
              <a:spcAft>
                <a:spcPts val="300"/>
              </a:spcAft>
            </a:pPr>
            <a:r>
              <a:rPr lang="en-GB" sz="950">
                <a:solidFill>
                  <a:srgbClr val="1F1F2E"/>
                </a:solidFill>
                <a:latin typeface="Century Gothic" panose="020B0502020202020204" pitchFamily="34" charset="0"/>
              </a:rPr>
              <a:t>Rules, calculations and access enforced in the database</a:t>
            </a:r>
          </a:p>
          <a:p>
            <a:pPr algn="ctr">
              <a:spcAft>
                <a:spcPts val="300"/>
              </a:spcAft>
            </a:pPr>
            <a:r>
              <a:rPr lang="en-GB" sz="950">
                <a:solidFill>
                  <a:srgbClr val="1F1F2E"/>
                </a:solidFill>
                <a:latin typeface="Century Gothic" panose="020B0502020202020204" pitchFamily="34" charset="0"/>
              </a:rPr>
              <a:t>Zone-redundant, backups in a second region</a:t>
            </a:r>
          </a:p>
        </p:txBody>
      </p:sp>
      <p:sp>
        <p:nvSpPr>
          <p:cNvPr id="80" name="TextBox 79">
            <a:extLst>
              <a:ext uri="{FF2B5EF4-FFF2-40B4-BE49-F238E27FC236}">
                <a16:creationId xmlns:a16="http://schemas.microsoft.com/office/drawing/2014/main" id="{8190BEE1-EC88-34CB-982C-CDA72FA52CD7}"/>
              </a:ext>
            </a:extLst>
          </p:cNvPr>
          <p:cNvSpPr txBox="1"/>
          <p:nvPr/>
        </p:nvSpPr>
        <p:spPr>
          <a:xfrm>
            <a:off x="393700" y="3505200"/>
            <a:ext cx="11404600" cy="381000"/>
          </a:xfrm>
          <a:prstGeom prst="rect">
            <a:avLst/>
          </a:prstGeom>
          <a:noFill/>
        </p:spPr>
        <p:txBody>
          <a:bodyPr vert="horz" wrap="square" lIns="0" tIns="0" rIns="0" bIns="0" rtlCol="0">
            <a:noAutofit/>
          </a:bodyPr>
          <a:lstStyle/>
          <a:p>
            <a:r>
              <a:rPr lang="en-GB" sz="950">
                <a:solidFill>
                  <a:srgbClr val="5E6170"/>
                </a:solidFill>
                <a:latin typeface="Century Gothic" panose="020B0502020202020204" pitchFamily="34" charset="0"/>
              </a:rPr>
              <a:t>Domains share only the core customer data and talk through events. While a module is still on Salesforce, its changes flow in through the change feed; each record has one master at any time.</a:t>
            </a:r>
          </a:p>
        </p:txBody>
      </p:sp>
      <p:sp>
        <p:nvSpPr>
          <p:cNvPr id="81" name="Rectangle: Rounded Corners 80">
            <a:extLst>
              <a:ext uri="{FF2B5EF4-FFF2-40B4-BE49-F238E27FC236}">
                <a16:creationId xmlns:a16="http://schemas.microsoft.com/office/drawing/2014/main" id="{312B5298-710C-70E4-A272-AADC578D2233}"/>
              </a:ext>
            </a:extLst>
          </p:cNvPr>
          <p:cNvSpPr/>
          <p:nvPr/>
        </p:nvSpPr>
        <p:spPr>
          <a:xfrm>
            <a:off x="39370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Oval 81">
            <a:extLst>
              <a:ext uri="{FF2B5EF4-FFF2-40B4-BE49-F238E27FC236}">
                <a16:creationId xmlns:a16="http://schemas.microsoft.com/office/drawing/2014/main" id="{CE5D35FB-604C-991A-DF4A-39BE88B539F0}"/>
              </a:ext>
            </a:extLst>
          </p:cNvPr>
          <p:cNvSpPr/>
          <p:nvPr/>
        </p:nvSpPr>
        <p:spPr>
          <a:xfrm>
            <a:off x="52070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1</a:t>
            </a:r>
          </a:p>
        </p:txBody>
      </p:sp>
      <p:sp>
        <p:nvSpPr>
          <p:cNvPr id="83" name="TextBox 82">
            <a:extLst>
              <a:ext uri="{FF2B5EF4-FFF2-40B4-BE49-F238E27FC236}">
                <a16:creationId xmlns:a16="http://schemas.microsoft.com/office/drawing/2014/main" id="{BAFACE71-318C-F795-27BF-137412B6C787}"/>
              </a:ext>
            </a:extLst>
          </p:cNvPr>
          <p:cNvSpPr txBox="1"/>
          <p:nvPr/>
        </p:nvSpPr>
        <p:spPr>
          <a:xfrm>
            <a:off x="90170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Modular</a:t>
            </a:r>
          </a:p>
        </p:txBody>
      </p:sp>
      <p:sp>
        <p:nvSpPr>
          <p:cNvPr id="84" name="TextBox 83">
            <a:extLst>
              <a:ext uri="{FF2B5EF4-FFF2-40B4-BE49-F238E27FC236}">
                <a16:creationId xmlns:a16="http://schemas.microsoft.com/office/drawing/2014/main" id="{0F3FB757-09CF-CEA1-9DEF-23036E4F5E5B}"/>
              </a:ext>
            </a:extLst>
          </p:cNvPr>
          <p:cNvSpPr txBox="1"/>
          <p:nvPr/>
        </p:nvSpPr>
        <p:spPr>
          <a:xfrm>
            <a:off x="52070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Each module is a domain with its own schema, API and events. The next one uses the same template.</a:t>
            </a:r>
          </a:p>
        </p:txBody>
      </p:sp>
      <p:sp>
        <p:nvSpPr>
          <p:cNvPr id="85" name="Rectangle: Rounded Corners 84">
            <a:extLst>
              <a:ext uri="{FF2B5EF4-FFF2-40B4-BE49-F238E27FC236}">
                <a16:creationId xmlns:a16="http://schemas.microsoft.com/office/drawing/2014/main" id="{CEE99913-043E-0B7E-41D0-219DAD8DEE7E}"/>
              </a:ext>
            </a:extLst>
          </p:cNvPr>
          <p:cNvSpPr/>
          <p:nvPr/>
        </p:nvSpPr>
        <p:spPr>
          <a:xfrm>
            <a:off x="271145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6" name="Oval 85">
            <a:extLst>
              <a:ext uri="{FF2B5EF4-FFF2-40B4-BE49-F238E27FC236}">
                <a16:creationId xmlns:a16="http://schemas.microsoft.com/office/drawing/2014/main" id="{1CCB2756-581C-EEE6-7F46-7516FDB24B3D}"/>
              </a:ext>
            </a:extLst>
          </p:cNvPr>
          <p:cNvSpPr/>
          <p:nvPr/>
        </p:nvSpPr>
        <p:spPr>
          <a:xfrm>
            <a:off x="283845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2</a:t>
            </a:r>
          </a:p>
        </p:txBody>
      </p:sp>
      <p:sp>
        <p:nvSpPr>
          <p:cNvPr id="87" name="TextBox 86">
            <a:extLst>
              <a:ext uri="{FF2B5EF4-FFF2-40B4-BE49-F238E27FC236}">
                <a16:creationId xmlns:a16="http://schemas.microsoft.com/office/drawing/2014/main" id="{22EA5E20-6295-74AB-A67B-3237F1DC2DE1}"/>
              </a:ext>
            </a:extLst>
          </p:cNvPr>
          <p:cNvSpPr txBox="1"/>
          <p:nvPr/>
        </p:nvSpPr>
        <p:spPr>
          <a:xfrm>
            <a:off x="321945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Dependencies</a:t>
            </a:r>
          </a:p>
        </p:txBody>
      </p:sp>
      <p:sp>
        <p:nvSpPr>
          <p:cNvPr id="88" name="TextBox 87">
            <a:extLst>
              <a:ext uri="{FF2B5EF4-FFF2-40B4-BE49-F238E27FC236}">
                <a16:creationId xmlns:a16="http://schemas.microsoft.com/office/drawing/2014/main" id="{1F1AD960-3E14-D2F5-DB99-AD7EA6F314BE}"/>
              </a:ext>
            </a:extLst>
          </p:cNvPr>
          <p:cNvSpPr txBox="1"/>
          <p:nvPr/>
        </p:nvSpPr>
        <p:spPr>
          <a:xfrm>
            <a:off x="283845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Shared core data; other links through read views and events. One master per record during the move.</a:t>
            </a:r>
          </a:p>
        </p:txBody>
      </p:sp>
      <p:sp>
        <p:nvSpPr>
          <p:cNvPr id="89" name="Rectangle: Rounded Corners 88">
            <a:extLst>
              <a:ext uri="{FF2B5EF4-FFF2-40B4-BE49-F238E27FC236}">
                <a16:creationId xmlns:a16="http://schemas.microsoft.com/office/drawing/2014/main" id="{DBE0A536-8A32-2593-CB64-5A846229A0E4}"/>
              </a:ext>
            </a:extLst>
          </p:cNvPr>
          <p:cNvSpPr/>
          <p:nvPr/>
        </p:nvSpPr>
        <p:spPr>
          <a:xfrm>
            <a:off x="502920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Oval 89">
            <a:extLst>
              <a:ext uri="{FF2B5EF4-FFF2-40B4-BE49-F238E27FC236}">
                <a16:creationId xmlns:a16="http://schemas.microsoft.com/office/drawing/2014/main" id="{434CB876-9E05-D74C-AA3D-1F9E3F70910E}"/>
              </a:ext>
            </a:extLst>
          </p:cNvPr>
          <p:cNvSpPr/>
          <p:nvPr/>
        </p:nvSpPr>
        <p:spPr>
          <a:xfrm>
            <a:off x="515620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3</a:t>
            </a:r>
          </a:p>
        </p:txBody>
      </p:sp>
      <p:sp>
        <p:nvSpPr>
          <p:cNvPr id="91" name="TextBox 90">
            <a:extLst>
              <a:ext uri="{FF2B5EF4-FFF2-40B4-BE49-F238E27FC236}">
                <a16:creationId xmlns:a16="http://schemas.microsoft.com/office/drawing/2014/main" id="{3473280C-4FC0-D661-72BE-5EE64DD41A34}"/>
              </a:ext>
            </a:extLst>
          </p:cNvPr>
          <p:cNvSpPr txBox="1"/>
          <p:nvPr/>
        </p:nvSpPr>
        <p:spPr>
          <a:xfrm>
            <a:off x="553720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Secure</a:t>
            </a:r>
          </a:p>
        </p:txBody>
      </p:sp>
      <p:sp>
        <p:nvSpPr>
          <p:cNvPr id="92" name="TextBox 91">
            <a:extLst>
              <a:ext uri="{FF2B5EF4-FFF2-40B4-BE49-F238E27FC236}">
                <a16:creationId xmlns:a16="http://schemas.microsoft.com/office/drawing/2014/main" id="{E7DEC7EF-1199-7EAB-437B-03A05ADE862B}"/>
              </a:ext>
            </a:extLst>
          </p:cNvPr>
          <p:cNvSpPr txBox="1"/>
          <p:nvPr/>
        </p:nvSpPr>
        <p:spPr>
          <a:xfrm>
            <a:off x="515620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Company sign-in, one access model enforced in the database, private network, keys in Key Vault.</a:t>
            </a:r>
          </a:p>
        </p:txBody>
      </p:sp>
      <p:sp>
        <p:nvSpPr>
          <p:cNvPr id="93" name="Rectangle: Rounded Corners 92">
            <a:extLst>
              <a:ext uri="{FF2B5EF4-FFF2-40B4-BE49-F238E27FC236}">
                <a16:creationId xmlns:a16="http://schemas.microsoft.com/office/drawing/2014/main" id="{C7FC6680-2BA6-628B-2A1A-3B557757B6FB}"/>
              </a:ext>
            </a:extLst>
          </p:cNvPr>
          <p:cNvSpPr/>
          <p:nvPr/>
        </p:nvSpPr>
        <p:spPr>
          <a:xfrm>
            <a:off x="734695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Oval 93">
            <a:extLst>
              <a:ext uri="{FF2B5EF4-FFF2-40B4-BE49-F238E27FC236}">
                <a16:creationId xmlns:a16="http://schemas.microsoft.com/office/drawing/2014/main" id="{66C8C448-4ED7-8D88-0BF4-F46FE42A8550}"/>
              </a:ext>
            </a:extLst>
          </p:cNvPr>
          <p:cNvSpPr/>
          <p:nvPr/>
        </p:nvSpPr>
        <p:spPr>
          <a:xfrm>
            <a:off x="747395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4</a:t>
            </a:r>
          </a:p>
        </p:txBody>
      </p:sp>
      <p:sp>
        <p:nvSpPr>
          <p:cNvPr id="95" name="TextBox 94">
            <a:extLst>
              <a:ext uri="{FF2B5EF4-FFF2-40B4-BE49-F238E27FC236}">
                <a16:creationId xmlns:a16="http://schemas.microsoft.com/office/drawing/2014/main" id="{100D0195-0387-FBF6-526E-A3C81DC65C25}"/>
              </a:ext>
            </a:extLst>
          </p:cNvPr>
          <p:cNvSpPr txBox="1"/>
          <p:nvPr/>
        </p:nvSpPr>
        <p:spPr>
          <a:xfrm>
            <a:off x="785495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Resilient</a:t>
            </a:r>
          </a:p>
        </p:txBody>
      </p:sp>
      <p:sp>
        <p:nvSpPr>
          <p:cNvPr id="96" name="TextBox 95">
            <a:extLst>
              <a:ext uri="{FF2B5EF4-FFF2-40B4-BE49-F238E27FC236}">
                <a16:creationId xmlns:a16="http://schemas.microsoft.com/office/drawing/2014/main" id="{5669EA27-9F5F-C881-E4B9-A65477D18665}"/>
              </a:ext>
            </a:extLst>
          </p:cNvPr>
          <p:cNvSpPr txBox="1"/>
          <p:nvPr/>
        </p:nvSpPr>
        <p:spPr>
          <a:xfrm>
            <a:off x="747395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Runs across three availability zones; release with instant rollback; backups in a paired region.</a:t>
            </a:r>
          </a:p>
        </p:txBody>
      </p:sp>
      <p:sp>
        <p:nvSpPr>
          <p:cNvPr id="97" name="Rectangle: Rounded Corners 96">
            <a:extLst>
              <a:ext uri="{FF2B5EF4-FFF2-40B4-BE49-F238E27FC236}">
                <a16:creationId xmlns:a16="http://schemas.microsoft.com/office/drawing/2014/main" id="{00F8FF9E-4CEE-6B93-D699-E26C806A7A02}"/>
              </a:ext>
            </a:extLst>
          </p:cNvPr>
          <p:cNvSpPr/>
          <p:nvPr/>
        </p:nvSpPr>
        <p:spPr>
          <a:xfrm>
            <a:off x="9664700" y="4038600"/>
            <a:ext cx="2133600" cy="1320800"/>
          </a:xfrm>
          <a:prstGeom prst="roundRect">
            <a:avLst>
              <a:gd name="adj" fmla="val 8000"/>
            </a:avLst>
          </a:prstGeom>
          <a:solidFill>
            <a:srgbClr val="F3F1FC"/>
          </a:solidFill>
          <a:ln w="12700">
            <a:solidFill>
              <a:srgbClr val="A79F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8" name="Oval 97">
            <a:extLst>
              <a:ext uri="{FF2B5EF4-FFF2-40B4-BE49-F238E27FC236}">
                <a16:creationId xmlns:a16="http://schemas.microsoft.com/office/drawing/2014/main" id="{5AB2C326-9AD4-37E6-B3B3-1127182C3DF0}"/>
              </a:ext>
            </a:extLst>
          </p:cNvPr>
          <p:cNvSpPr/>
          <p:nvPr/>
        </p:nvSpPr>
        <p:spPr>
          <a:xfrm>
            <a:off x="9791700" y="4165600"/>
            <a:ext cx="279400" cy="279400"/>
          </a:xfrm>
          <a:prstGeom prst="ellipse">
            <a:avLst/>
          </a:prstGeom>
          <a:solidFill>
            <a:srgbClr val="6666C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1000" b="1">
                <a:solidFill>
                  <a:srgbClr val="FFFFFF"/>
                </a:solidFill>
                <a:latin typeface="Century Gothic" panose="020B0502020202020204" pitchFamily="34" charset="0"/>
              </a:rPr>
              <a:t>5</a:t>
            </a:r>
          </a:p>
        </p:txBody>
      </p:sp>
      <p:sp>
        <p:nvSpPr>
          <p:cNvPr id="99" name="TextBox 98">
            <a:extLst>
              <a:ext uri="{FF2B5EF4-FFF2-40B4-BE49-F238E27FC236}">
                <a16:creationId xmlns:a16="http://schemas.microsoft.com/office/drawing/2014/main" id="{0DB7F29E-8ED3-FCDA-4AAF-BCC32A7EDE4B}"/>
              </a:ext>
            </a:extLst>
          </p:cNvPr>
          <p:cNvSpPr txBox="1"/>
          <p:nvPr/>
        </p:nvSpPr>
        <p:spPr>
          <a:xfrm>
            <a:off x="10172700" y="4203700"/>
            <a:ext cx="1524000" cy="369332"/>
          </a:xfrm>
          <a:prstGeom prst="rect">
            <a:avLst/>
          </a:prstGeom>
          <a:noFill/>
        </p:spPr>
        <p:txBody>
          <a:bodyPr vert="horz" wrap="square" lIns="0" tIns="0" rIns="0" bIns="0" rtlCol="0">
            <a:noAutofit/>
          </a:bodyPr>
          <a:lstStyle/>
          <a:p>
            <a:r>
              <a:rPr lang="en-GB" sz="1200" b="1">
                <a:solidFill>
                  <a:srgbClr val="4B47A8"/>
                </a:solidFill>
                <a:latin typeface="Century Gothic" panose="020B0502020202020204" pitchFamily="34" charset="0"/>
              </a:rPr>
              <a:t>Portable</a:t>
            </a:r>
          </a:p>
        </p:txBody>
      </p:sp>
      <p:sp>
        <p:nvSpPr>
          <p:cNvPr id="100" name="TextBox 99">
            <a:extLst>
              <a:ext uri="{FF2B5EF4-FFF2-40B4-BE49-F238E27FC236}">
                <a16:creationId xmlns:a16="http://schemas.microsoft.com/office/drawing/2014/main" id="{D836AF17-3F67-046D-5337-37001AA6C83A}"/>
              </a:ext>
            </a:extLst>
          </p:cNvPr>
          <p:cNvSpPr txBox="1"/>
          <p:nvPr/>
        </p:nvSpPr>
        <p:spPr>
          <a:xfrm>
            <a:off x="9791700" y="4546600"/>
            <a:ext cx="1879600" cy="369332"/>
          </a:xfrm>
          <a:prstGeom prst="rect">
            <a:avLst/>
          </a:prstGeom>
          <a:noFill/>
        </p:spPr>
        <p:txBody>
          <a:bodyPr vert="horz" wrap="square" lIns="0" tIns="0" rIns="0" bIns="0" rtlCol="0">
            <a:noAutofit/>
          </a:bodyPr>
          <a:lstStyle/>
          <a:p>
            <a:r>
              <a:rPr lang="en-GB" sz="950">
                <a:solidFill>
                  <a:srgbClr val="1F1F2E"/>
                </a:solidFill>
                <a:latin typeface="Century Gothic" panose="020B0502020202020204" pitchFamily="34" charset="0"/>
              </a:rPr>
              <a:t>Open standards: PostgreSQL, containers, OpenAPI, CloudEvents. No new lock-in.</a:t>
            </a:r>
          </a:p>
        </p:txBody>
      </p:sp>
      <p:sp>
        <p:nvSpPr>
          <p:cNvPr id="101" name="TextBox 100">
            <a:extLst>
              <a:ext uri="{FF2B5EF4-FFF2-40B4-BE49-F238E27FC236}">
                <a16:creationId xmlns:a16="http://schemas.microsoft.com/office/drawing/2014/main" id="{B24E10C8-B32F-EF37-1384-4B65A95307AF}"/>
              </a:ext>
            </a:extLst>
          </p:cNvPr>
          <p:cNvSpPr txBox="1"/>
          <p:nvPr/>
        </p:nvSpPr>
        <p:spPr>
          <a:xfrm>
            <a:off x="393700" y="5486400"/>
            <a:ext cx="11404600" cy="369332"/>
          </a:xfrm>
          <a:prstGeom prst="rect">
            <a:avLst/>
          </a:prstGeom>
          <a:noFill/>
        </p:spPr>
        <p:txBody>
          <a:bodyPr vert="horz" wrap="square" lIns="0" tIns="0" rIns="0" bIns="0" rtlCol="0">
            <a:noAutofit/>
          </a:bodyPr>
          <a:lstStyle/>
          <a:p>
            <a:r>
              <a:rPr lang="en-GB" sz="950">
                <a:solidFill>
                  <a:srgbClr val="5E6170"/>
                </a:solidFill>
                <a:latin typeface="Century Gothic" panose="020B0502020202020204" pitchFamily="34" charset="0"/>
              </a:rPr>
              <a:t>Detail: high-level design, sections 5, 7 and 8, in the client pack.</a:t>
            </a:r>
          </a:p>
        </p:txBody>
      </p:sp>
    </p:spTree>
    <p:extLst>
      <p:ext uri="{BB962C8B-B14F-4D97-AF65-F5344CB8AC3E}">
        <p14:creationId xmlns:p14="http://schemas.microsoft.com/office/powerpoint/2010/main" val="887100943"/>
      </p:ext>
    </p:extLst>
  </p:cSld>
  <p:clrMapOvr>
    <a:masterClrMapping/>
  </p:clrMapOvr>
</p:sld>
</file>

<file path=ppt/theme/theme1.xml><?xml version="1.0" encoding="utf-8"?>
<a:theme xmlns:a="http://schemas.openxmlformats.org/drawingml/2006/main" name="5_Content - Light">
  <a:themeElements>
    <a:clrScheme name="25 Asc colors">
      <a:dk1>
        <a:srgbClr val="000000"/>
      </a:dk1>
      <a:lt1>
        <a:srgbClr val="FFFFFF"/>
      </a:lt1>
      <a:dk2>
        <a:srgbClr val="0E2841"/>
      </a:dk2>
      <a:lt2>
        <a:srgbClr val="B4B4B4"/>
      </a:lt2>
      <a:accent1>
        <a:srgbClr val="2EDCA9"/>
      </a:accent1>
      <a:accent2>
        <a:srgbClr val="006350"/>
      </a:accent2>
      <a:accent3>
        <a:srgbClr val="F5821E"/>
      </a:accent3>
      <a:accent4>
        <a:srgbClr val="5937AF"/>
      </a:accent4>
      <a:accent5>
        <a:srgbClr val="8C005A"/>
      </a:accent5>
      <a:accent6>
        <a:srgbClr val="828282"/>
      </a:accent6>
      <a:hlink>
        <a:srgbClr val="958BFA"/>
      </a:hlink>
      <a:folHlink>
        <a:srgbClr val="FEE04F"/>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75B8C4B9821134687BEBA129B575F37" ma:contentTypeVersion="10" ma:contentTypeDescription="Create a new document." ma:contentTypeScope="" ma:versionID="99846453795fad3aff7229e906e39b9c">
  <xsd:schema xmlns:xsd="http://www.w3.org/2001/XMLSchema" xmlns:xs="http://www.w3.org/2001/XMLSchema" xmlns:p="http://schemas.microsoft.com/office/2006/metadata/properties" xmlns:ns2="61cd1ae9-add5-418b-ba01-b098e2ec3b0d" xmlns:ns3="0967bcd1-9289-40d0-bda3-68db240c8ec0" targetNamespace="http://schemas.microsoft.com/office/2006/metadata/properties" ma:root="true" ma:fieldsID="3e73ad18ae8ece2477ea0aa99ccc7634" ns2:_="" ns3:_="">
    <xsd:import namespace="61cd1ae9-add5-418b-ba01-b098e2ec3b0d"/>
    <xsd:import namespace="0967bcd1-9289-40d0-bda3-68db240c8ec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BillingMetadata"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cd1ae9-add5-418b-ba01-b098e2ec3b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4" nillable="true" ma:displayName="MediaServiceBillingMetadata" ma:hidden="true" ma:internalName="MediaServiceBillingMetadata" ma:readOnly="true">
      <xsd:simpleType>
        <xsd:restriction base="dms:Note"/>
      </xsd:simpleType>
    </xsd:element>
    <xsd:element name="Notes" ma:index="15" nillable="true" ma:displayName="Notes"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967bcd1-9289-40d0-bda3-68db240c8ec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otes xmlns="61cd1ae9-add5-418b-ba01-b098e2ec3b0d" xsi:nil="true"/>
  </documentManagement>
</p:properties>
</file>

<file path=customXml/itemProps1.xml><?xml version="1.0" encoding="utf-8"?>
<ds:datastoreItem xmlns:ds="http://schemas.openxmlformats.org/officeDocument/2006/customXml" ds:itemID="{D902A93A-1607-4F2B-BCAF-879323C86207}">
  <ds:schemaRefs>
    <ds:schemaRef ds:uri="http://schemas.microsoft.com/sharepoint/v3/contenttype/forms"/>
  </ds:schemaRefs>
</ds:datastoreItem>
</file>

<file path=customXml/itemProps2.xml><?xml version="1.0" encoding="utf-8"?>
<ds:datastoreItem xmlns:ds="http://schemas.openxmlformats.org/officeDocument/2006/customXml" ds:itemID="{988544E8-549D-4007-8CBA-6FF169990B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cd1ae9-add5-418b-ba01-b098e2ec3b0d"/>
    <ds:schemaRef ds:uri="0967bcd1-9289-40d0-bda3-68db240c8e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BA2187-B52F-418B-A501-32D60CF873F3}">
  <ds:schemaRefs>
    <ds:schemaRef ds:uri="http://schemas.microsoft.com/office/2006/metadata/properties"/>
    <ds:schemaRef ds:uri="http://purl.org/dc/terms/"/>
    <ds:schemaRef ds:uri="0967bcd1-9289-40d0-bda3-68db240c8ec0"/>
    <ds:schemaRef ds:uri="http://www.w3.org/XML/1998/namespace"/>
    <ds:schemaRef ds:uri="http://purl.org/dc/elements/1.1/"/>
    <ds:schemaRef ds:uri="61cd1ae9-add5-418b-ba01-b098e2ec3b0d"/>
    <ds:schemaRef ds:uri="http://purl.org/dc/dcmitype/"/>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0</TotalTime>
  <Words>2339</Words>
  <Application>Microsoft Office PowerPoint</Application>
  <PresentationFormat>Widescreen</PresentationFormat>
  <Paragraphs>325</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Century Gothic</vt:lpstr>
      <vt:lpstr>Myriad Pro</vt:lpstr>
      <vt:lpstr>PP Neue Machina Plain Ultrabold</vt:lpstr>
      <vt:lpstr>Verdana</vt:lpstr>
      <vt:lpstr>5_Content - Light</vt:lpstr>
      <vt:lpstr>Moving off Salesforce in six phases</vt:lpstr>
      <vt:lpstr>Agentic workflow</vt:lpstr>
      <vt:lpstr>What stays in Salesforce, and how we cover it</vt:lpstr>
      <vt:lpstr>Every Salesforce module, the same six phases</vt:lpstr>
      <vt:lpstr>Handling large data volumes</vt:lpstr>
      <vt:lpstr>Target architecture: one platform for every module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2026-10-08T07:33:12Z</dcterms:created>
  <dcterms:modified xsi:type="dcterms:W3CDTF">2026-10-08T07:33:13Z</dcterms:modified>
</cp:coreProperties>
</file>